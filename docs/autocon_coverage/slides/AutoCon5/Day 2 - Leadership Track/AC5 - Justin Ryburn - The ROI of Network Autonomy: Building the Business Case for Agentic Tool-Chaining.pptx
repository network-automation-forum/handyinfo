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Figtree"/>
      <p:regular r:id="rId23"/>
      <p:bold r:id="rId24"/>
      <p:italic r:id="rId25"/>
      <p:boldItalic r:id="rId26"/>
    </p:embeddedFont>
    <p:embeddedFont>
      <p:font typeface="Space Mono"/>
      <p:regular r:id="rId27"/>
      <p:bold r:id="rId28"/>
      <p:italic r:id="rId29"/>
      <p:boldItalic r:id="rId30"/>
    </p:embeddedFont>
    <p:embeddedFont>
      <p:font typeface="Figtree Black"/>
      <p:bold r:id="rId31"/>
      <p:boldItalic r:id="rId32"/>
    </p:embeddedFont>
    <p:embeddedFont>
      <p:font typeface="Inter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6117D0-34DF-49EC-AA44-D9A4921A7552}">
  <a:tblStyle styleId="{F56117D0-34DF-49EC-AA44-D9A4921A75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93EDD3D1-55A7-4631-857C-63D0723CECB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Figtree-bold.fntdata"/><Relationship Id="rId23" Type="http://schemas.openxmlformats.org/officeDocument/2006/relationships/font" Target="fonts/Figtre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-boldItalic.fntdata"/><Relationship Id="rId25" Type="http://schemas.openxmlformats.org/officeDocument/2006/relationships/font" Target="fonts/Figtree-italic.fntdata"/><Relationship Id="rId28" Type="http://schemas.openxmlformats.org/officeDocument/2006/relationships/font" Target="fonts/SpaceMono-bold.fntdata"/><Relationship Id="rId27" Type="http://schemas.openxmlformats.org/officeDocument/2006/relationships/font" Target="fonts/Space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Black-bold.fntdata"/><Relationship Id="rId30" Type="http://schemas.openxmlformats.org/officeDocument/2006/relationships/font" Target="fonts/SpaceMono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-regular.fntdata"/><Relationship Id="rId10" Type="http://schemas.openxmlformats.org/officeDocument/2006/relationships/slide" Target="slides/slide5.xml"/><Relationship Id="rId32" Type="http://schemas.openxmlformats.org/officeDocument/2006/relationships/font" Target="fonts/FigtreeBlack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-italic.fntdata"/><Relationship Id="rId12" Type="http://schemas.openxmlformats.org/officeDocument/2006/relationships/slide" Target="slides/slide7.xml"/><Relationship Id="rId34" Type="http://schemas.openxmlformats.org/officeDocument/2006/relationships/font" Target="fonts/Inter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b5c9f4ae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b5c9f4ae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b5c9f4aee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b5c9f4aee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b5c9f4aee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eb5c9f4aee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b5c9f4aee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b5c9f4aee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b5c9f4aee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b5c9f4aee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b5c9f4aee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b5c9f4aee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b5c9f4aee_2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b5c9f4aee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c71f038e0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c71f038e0_0_4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b5c9f4aee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b5c9f4aee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b5c9f4aee_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b5c9f4aee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b5c9f4aee_2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b5c9f4aee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b5c9f4aee_2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b5c9f4aee_2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b5c9f4aee_2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b5c9f4aee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b5c9f4aee_2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eb5c9f4aee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b5c9f4aee_2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b5c9f4aee_2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89300"/>
            <a:ext cx="85206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44115"/>
            <a:ext cx="85206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 title="AC5 dark-bg tagline.png"/>
          <p:cNvPicPr preferRelativeResize="0"/>
          <p:nvPr/>
        </p:nvPicPr>
        <p:blipFill rotWithShape="1">
          <a:blip r:embed="rId3">
            <a:alphaModFix/>
          </a:blip>
          <a:srcRect b="34541" l="5583" r="6350" t="31029"/>
          <a:stretch/>
        </p:blipFill>
        <p:spPr>
          <a:xfrm>
            <a:off x="124100" y="3665900"/>
            <a:ext cx="8897050" cy="139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None/>
              <a:defRPr sz="4200">
                <a:solidFill>
                  <a:srgbClr val="FFFF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12939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None/>
              <a:defRPr sz="4200">
                <a:solidFill>
                  <a:srgbClr val="FFFF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29906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None/>
              <a:defRPr sz="4200">
                <a:solidFill>
                  <a:srgbClr val="FFFF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" name="Google Shape;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556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311700" y="39240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None/>
              <a:defRPr sz="4800">
                <a:solidFill>
                  <a:srgbClr val="FFFF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" name="Google Shape;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" name="Google Shape;4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6375" y="4828424"/>
            <a:ext cx="1374125" cy="22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4572000" y="-3285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>
                <a:solidFill>
                  <a:schemeClr val="dk1"/>
                </a:solidFill>
              </a:defRPr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>
                <a:solidFill>
                  <a:schemeClr val="dk1"/>
                </a:solidFill>
              </a:defRPr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>
                <a:solidFill>
                  <a:schemeClr val="dk1"/>
                </a:solidFill>
              </a:defRPr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>
                <a:solidFill>
                  <a:schemeClr val="dk1"/>
                </a:solidFill>
              </a:defRPr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>
                <a:solidFill>
                  <a:schemeClr val="dk1"/>
                </a:solidFill>
              </a:defRPr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b="0" i="0" sz="3200" u="none" cap="none" strike="noStrik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b="0" i="0" sz="3200" u="none" cap="none" strike="noStrik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b="0" i="0" sz="3200" u="none" cap="none" strike="noStrik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b="0" i="0" sz="3200" u="none" cap="none" strike="noStrik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b="0" i="0" sz="3200" u="none" cap="none" strike="noStrik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b="0" i="0" sz="3200" u="none" cap="none" strike="noStrik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b="0" i="0" sz="3200" u="none" cap="none" strike="noStrik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b="0" i="0" sz="3200" u="none" cap="none" strike="noStrik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b="0" i="0" sz="3200" u="none" cap="none" strike="noStrik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Mono"/>
              <a:buChar char="●"/>
              <a:defRPr b="0" i="0" sz="28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Char char="○"/>
              <a:defRPr b="0" i="0" sz="24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pace Mono"/>
              <a:buChar char="■"/>
              <a:defRPr b="0" i="0" sz="22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indent="-355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●"/>
              <a:defRPr b="0" i="0" sz="20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indent="-355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○"/>
              <a:defRPr b="0" i="0" sz="20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indent="-355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■"/>
              <a:defRPr b="0" i="0" sz="20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indent="-355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●"/>
              <a:defRPr b="0" i="0" sz="20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indent="-355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○"/>
              <a:defRPr b="0" i="0" sz="20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indent="-355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■"/>
              <a:defRPr b="0" i="0" sz="20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311708" y="633039"/>
            <a:ext cx="85206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5200"/>
              <a:t>The ROI of </a:t>
            </a:r>
            <a:br>
              <a:rPr lang="en" sz="5200"/>
            </a:br>
            <a:r>
              <a:rPr lang="en" sz="5200"/>
              <a:t>Network Autonomy</a:t>
            </a:r>
            <a:endParaRPr sz="5200"/>
          </a:p>
        </p:txBody>
      </p:sp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311700" y="2554175"/>
            <a:ext cx="85206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70"/>
              <a:buNone/>
            </a:pPr>
            <a:r>
              <a:rPr lang="en" sz="2370"/>
              <a:t>Building the Business Case </a:t>
            </a:r>
            <a:br>
              <a:rPr lang="en" sz="2370"/>
            </a:br>
            <a:r>
              <a:rPr lang="en" sz="2370"/>
              <a:t>for Agentic Tool-Chaining</a:t>
            </a:r>
            <a:endParaRPr sz="2370"/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29384" l="0" r="0" t="0"/>
          <a:stretch/>
        </p:blipFill>
        <p:spPr>
          <a:xfrm>
            <a:off x="7456025" y="270834"/>
            <a:ext cx="1376274" cy="40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32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The Successful Failure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069145"/>
            <a:ext cx="3798600" cy="3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550">
                <a:solidFill>
                  <a:schemeClr val="accent6"/>
                </a:solidFill>
              </a:rPr>
              <a:t>THE NARRATIVE SUMMARY</a:t>
            </a:r>
            <a:endParaRPr sz="1550">
              <a:solidFill>
                <a:schemeClr val="accent6"/>
              </a:solidFill>
            </a:endParaRPr>
          </a:p>
          <a:p>
            <a:pPr indent="-30865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61"/>
              <a:buChar char="●"/>
            </a:pPr>
            <a:r>
              <a:rPr lang="en" sz="1261"/>
              <a:t>Two years ago, Justin’s Dog Emporium</a:t>
            </a:r>
            <a:r>
              <a:rPr baseline="30000" lang="en" sz="1261"/>
              <a:t>1</a:t>
            </a:r>
            <a:r>
              <a:rPr lang="en" sz="1261"/>
              <a:t> set out to build the holy grail: a "</a:t>
            </a:r>
            <a:r>
              <a:rPr b="1" lang="en" sz="1261"/>
              <a:t>Self-Healing Network</a:t>
            </a:r>
            <a:r>
              <a:rPr lang="en" sz="1261"/>
              <a:t>."</a:t>
            </a:r>
            <a:endParaRPr sz="1261"/>
          </a:p>
          <a:p>
            <a:pPr indent="-30865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61"/>
              <a:buChar char="●"/>
            </a:pPr>
            <a:r>
              <a:rPr lang="en" sz="1261"/>
              <a:t>The technical team successfully chained a high-fidelity observability platform to an automation engine via API "middleware."</a:t>
            </a:r>
            <a:endParaRPr sz="1261"/>
          </a:p>
          <a:p>
            <a:pPr indent="-308655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61"/>
              <a:buChar char="●"/>
            </a:pPr>
            <a:r>
              <a:rPr lang="en" sz="1261">
                <a:solidFill>
                  <a:schemeClr val="accent6"/>
                </a:solidFill>
              </a:rPr>
              <a:t>Technically, it was a triumph. Mitigation happened in seconds.</a:t>
            </a:r>
            <a:endParaRPr sz="1261">
              <a:solidFill>
                <a:schemeClr val="accent6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571500" y="4467500"/>
            <a:ext cx="505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27000" lvl="0" marL="285750" rtl="0" algn="l">
              <a:spcBef>
                <a:spcPts val="0"/>
              </a:spcBef>
              <a:spcAft>
                <a:spcPts val="0"/>
              </a:spcAft>
              <a:buClr>
                <a:srgbClr val="B1B9C5"/>
              </a:buClr>
              <a:buSzPts val="1100"/>
              <a:buFont typeface="Space Mono"/>
              <a:buAutoNum type="arabicPeriod"/>
            </a:pPr>
            <a:r>
              <a:rPr lang="en" sz="11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Fiction based on a true story</a:t>
            </a:r>
            <a:endParaRPr sz="1100"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descr="image.png" id="80" name="Google Shape;80;p17"/>
          <p:cNvPicPr preferRelativeResize="0"/>
          <p:nvPr/>
        </p:nvPicPr>
        <p:blipFill rotWithShape="1">
          <a:blip r:embed="rId3">
            <a:alphaModFix/>
          </a:blip>
          <a:srcRect b="0" l="0" r="0" t="2018"/>
          <a:stretch/>
        </p:blipFill>
        <p:spPr>
          <a:xfrm>
            <a:off x="4454575" y="1116363"/>
            <a:ext cx="4216500" cy="3110400"/>
          </a:xfrm>
          <a:prstGeom prst="roundRect">
            <a:avLst>
              <a:gd fmla="val 2893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38100" endA="0" endPos="30000" fadeDir="5400012" kx="0" rotWithShape="0" algn="bl" stA="20000" stPos="0" sy="-100000" ky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Win: DDOS Mitigation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430000"/>
            <a:ext cx="40158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CLOSED-LOOP API CHAIN</a:t>
            </a:r>
            <a:endParaRPr b="1" sz="1700"/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700"/>
              <a:t>They automated BGP Flowspec route injection directly from real-time telemetry events.</a:t>
            </a:r>
            <a:endParaRPr sz="1500"/>
          </a:p>
        </p:txBody>
      </p:sp>
      <p:pic>
        <p:nvPicPr>
          <p:cNvPr id="87" name="Google Shape;87;p18" title="Kentik DDoS detection and BGP Flowspec mitigation diagram.png"/>
          <p:cNvPicPr preferRelativeResize="0"/>
          <p:nvPr/>
        </p:nvPicPr>
        <p:blipFill rotWithShape="1">
          <a:blip r:embed="rId3">
            <a:alphaModFix/>
          </a:blip>
          <a:srcRect b="0" l="22817" r="22817" t="0"/>
          <a:stretch/>
        </p:blipFill>
        <p:spPr>
          <a:xfrm>
            <a:off x="4577049" y="1173412"/>
            <a:ext cx="4073700" cy="3453900"/>
          </a:xfrm>
          <a:prstGeom prst="roundRect">
            <a:avLst>
              <a:gd fmla="val 2961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38100" endA="0" endPos="30000" fadeDir="5400012" kx="0" rotWithShape="0" algn="bl" stA="20000" stPos="0" sy="-100000" ky="0"/>
          </a:effectLst>
        </p:spPr>
      </p:pic>
      <p:sp>
        <p:nvSpPr>
          <p:cNvPr id="88" name="Google Shape;88;p18"/>
          <p:cNvSpPr txBox="1"/>
          <p:nvPr/>
        </p:nvSpPr>
        <p:spPr>
          <a:xfrm>
            <a:off x="718800" y="3189425"/>
            <a:ext cx="36087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20-second detection-to-remediation</a:t>
            </a:r>
            <a:endParaRPr sz="1200"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Automated Flowspec injection</a:t>
            </a:r>
            <a:endParaRPr sz="1200"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Zero human intervention required</a:t>
            </a:r>
            <a:endParaRPr sz="2500"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512170" y="3281144"/>
            <a:ext cx="112468" cy="196131"/>
          </a:xfrm>
          <a:custGeom>
            <a:rect b="b" l="l" r="r" t="t"/>
            <a:pathLst>
              <a:path extrusionOk="0" h="4358473" w="2499286">
                <a:moveTo>
                  <a:pt x="2484000" y="1607002"/>
                </a:moveTo>
                <a:cubicBezTo>
                  <a:pt x="2465291" y="1580085"/>
                  <a:pt x="2435512" y="1562965"/>
                  <a:pt x="2402841" y="1560330"/>
                </a:cubicBezTo>
                <a:lnTo>
                  <a:pt x="1556730" y="1560330"/>
                </a:lnTo>
                <a:lnTo>
                  <a:pt x="2388641" y="135943"/>
                </a:lnTo>
                <a:cubicBezTo>
                  <a:pt x="2407197" y="107599"/>
                  <a:pt x="2407197" y="70953"/>
                  <a:pt x="2388641" y="42610"/>
                </a:cubicBezTo>
                <a:cubicBezTo>
                  <a:pt x="2370551" y="16616"/>
                  <a:pt x="2341171" y="789"/>
                  <a:pt x="2309508" y="0"/>
                </a:cubicBezTo>
                <a:lnTo>
                  <a:pt x="1177303" y="0"/>
                </a:lnTo>
                <a:cubicBezTo>
                  <a:pt x="1142806" y="-10"/>
                  <a:pt x="1110991" y="18613"/>
                  <a:pt x="1094109" y="48697"/>
                </a:cubicBezTo>
                <a:lnTo>
                  <a:pt x="12626" y="2321221"/>
                </a:lnTo>
                <a:cubicBezTo>
                  <a:pt x="-4209" y="2348604"/>
                  <a:pt x="-4209" y="2383120"/>
                  <a:pt x="12626" y="2410502"/>
                </a:cubicBezTo>
                <a:cubicBezTo>
                  <a:pt x="27654" y="2438294"/>
                  <a:pt x="58479" y="2453711"/>
                  <a:pt x="89733" y="2449051"/>
                </a:cubicBezTo>
                <a:lnTo>
                  <a:pt x="941931" y="2449051"/>
                </a:lnTo>
                <a:lnTo>
                  <a:pt x="333218" y="4244753"/>
                </a:lnTo>
                <a:cubicBezTo>
                  <a:pt x="319294" y="4284539"/>
                  <a:pt x="336537" y="4328528"/>
                  <a:pt x="373802" y="4348235"/>
                </a:cubicBezTo>
                <a:cubicBezTo>
                  <a:pt x="388944" y="4355606"/>
                  <a:pt x="405674" y="4359096"/>
                  <a:pt x="422499" y="4358383"/>
                </a:cubicBezTo>
                <a:cubicBezTo>
                  <a:pt x="449748" y="4357498"/>
                  <a:pt x="475733" y="4346675"/>
                  <a:pt x="495544" y="4327947"/>
                </a:cubicBezTo>
                <a:lnTo>
                  <a:pt x="2484000" y="1704395"/>
                </a:lnTo>
                <a:cubicBezTo>
                  <a:pt x="2504382" y="1675130"/>
                  <a:pt x="2504382" y="1636267"/>
                  <a:pt x="2484000" y="160700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27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8"/>
          <p:cNvGrpSpPr/>
          <p:nvPr/>
        </p:nvGrpSpPr>
        <p:grpSpPr>
          <a:xfrm>
            <a:off x="486183" y="3917202"/>
            <a:ext cx="178606" cy="178521"/>
            <a:chOff x="5607050" y="4438837"/>
            <a:chExt cx="849292" cy="849292"/>
          </a:xfrm>
        </p:grpSpPr>
        <p:sp>
          <p:nvSpPr>
            <p:cNvPr id="91" name="Google Shape;91;p18"/>
            <p:cNvSpPr/>
            <p:nvPr/>
          </p:nvSpPr>
          <p:spPr>
            <a:xfrm>
              <a:off x="5607050" y="4438837"/>
              <a:ext cx="849292" cy="849292"/>
            </a:xfrm>
            <a:custGeom>
              <a:rect b="b" l="l" r="r" t="t"/>
              <a:pathLst>
                <a:path extrusionOk="0" h="849292" w="849292">
                  <a:moveTo>
                    <a:pt x="724400" y="0"/>
                  </a:moveTo>
                  <a:lnTo>
                    <a:pt x="124893" y="0"/>
                  </a:lnTo>
                  <a:cubicBezTo>
                    <a:pt x="55970" y="0"/>
                    <a:pt x="0" y="55970"/>
                    <a:pt x="0" y="124893"/>
                  </a:cubicBezTo>
                  <a:lnTo>
                    <a:pt x="0" y="574547"/>
                  </a:lnTo>
                  <a:cubicBezTo>
                    <a:pt x="0" y="643469"/>
                    <a:pt x="55970" y="699440"/>
                    <a:pt x="124893" y="699440"/>
                  </a:cubicBezTo>
                  <a:lnTo>
                    <a:pt x="290251" y="699440"/>
                  </a:lnTo>
                  <a:lnTo>
                    <a:pt x="256783" y="799373"/>
                  </a:lnTo>
                  <a:lnTo>
                    <a:pt x="224827" y="799373"/>
                  </a:lnTo>
                  <a:cubicBezTo>
                    <a:pt x="210834" y="799373"/>
                    <a:pt x="199867" y="810340"/>
                    <a:pt x="199867" y="824333"/>
                  </a:cubicBezTo>
                  <a:cubicBezTo>
                    <a:pt x="199867" y="838326"/>
                    <a:pt x="210834" y="849293"/>
                    <a:pt x="224827" y="849293"/>
                  </a:cubicBezTo>
                  <a:lnTo>
                    <a:pt x="624466" y="849293"/>
                  </a:lnTo>
                  <a:cubicBezTo>
                    <a:pt x="638459" y="849293"/>
                    <a:pt x="649426" y="838326"/>
                    <a:pt x="649426" y="824333"/>
                  </a:cubicBezTo>
                  <a:cubicBezTo>
                    <a:pt x="649426" y="810340"/>
                    <a:pt x="638459" y="799373"/>
                    <a:pt x="624466" y="799373"/>
                  </a:cubicBezTo>
                  <a:lnTo>
                    <a:pt x="592510" y="799373"/>
                  </a:lnTo>
                  <a:lnTo>
                    <a:pt x="559041" y="699440"/>
                  </a:lnTo>
                  <a:lnTo>
                    <a:pt x="724400" y="699440"/>
                  </a:lnTo>
                  <a:cubicBezTo>
                    <a:pt x="793322" y="699440"/>
                    <a:pt x="849293" y="643469"/>
                    <a:pt x="849293" y="574547"/>
                  </a:cubicBezTo>
                  <a:lnTo>
                    <a:pt x="849293" y="124893"/>
                  </a:lnTo>
                  <a:cubicBezTo>
                    <a:pt x="849293" y="55970"/>
                    <a:pt x="793322" y="0"/>
                    <a:pt x="724400" y="0"/>
                  </a:cubicBezTo>
                  <a:close/>
                  <a:moveTo>
                    <a:pt x="124893" y="224827"/>
                  </a:moveTo>
                  <a:cubicBezTo>
                    <a:pt x="124893" y="210834"/>
                    <a:pt x="135860" y="199867"/>
                    <a:pt x="149853" y="199867"/>
                  </a:cubicBezTo>
                  <a:cubicBezTo>
                    <a:pt x="163846" y="199867"/>
                    <a:pt x="174813" y="210834"/>
                    <a:pt x="174813" y="224827"/>
                  </a:cubicBezTo>
                  <a:lnTo>
                    <a:pt x="199772" y="224827"/>
                  </a:lnTo>
                  <a:lnTo>
                    <a:pt x="199772" y="199867"/>
                  </a:lnTo>
                  <a:cubicBezTo>
                    <a:pt x="199772" y="158362"/>
                    <a:pt x="233241" y="124893"/>
                    <a:pt x="274746" y="124893"/>
                  </a:cubicBezTo>
                  <a:lnTo>
                    <a:pt x="574452" y="124893"/>
                  </a:lnTo>
                  <a:cubicBezTo>
                    <a:pt x="615957" y="124893"/>
                    <a:pt x="649426" y="158362"/>
                    <a:pt x="649426" y="199867"/>
                  </a:cubicBezTo>
                  <a:lnTo>
                    <a:pt x="649426" y="224827"/>
                  </a:lnTo>
                  <a:lnTo>
                    <a:pt x="674386" y="224827"/>
                  </a:lnTo>
                  <a:cubicBezTo>
                    <a:pt x="674386" y="210834"/>
                    <a:pt x="685353" y="199867"/>
                    <a:pt x="699345" y="199867"/>
                  </a:cubicBezTo>
                  <a:cubicBezTo>
                    <a:pt x="713338" y="199867"/>
                    <a:pt x="724305" y="210834"/>
                    <a:pt x="724305" y="224827"/>
                  </a:cubicBezTo>
                  <a:lnTo>
                    <a:pt x="724305" y="274746"/>
                  </a:lnTo>
                  <a:cubicBezTo>
                    <a:pt x="724305" y="288739"/>
                    <a:pt x="713338" y="299706"/>
                    <a:pt x="699345" y="299706"/>
                  </a:cubicBezTo>
                  <a:cubicBezTo>
                    <a:pt x="685353" y="299706"/>
                    <a:pt x="674386" y="288739"/>
                    <a:pt x="674386" y="274746"/>
                  </a:cubicBezTo>
                  <a:lnTo>
                    <a:pt x="649426" y="274746"/>
                  </a:lnTo>
                  <a:lnTo>
                    <a:pt x="649426" y="399639"/>
                  </a:lnTo>
                  <a:cubicBezTo>
                    <a:pt x="649426" y="441144"/>
                    <a:pt x="615957" y="474613"/>
                    <a:pt x="574452" y="474613"/>
                  </a:cubicBezTo>
                  <a:lnTo>
                    <a:pt x="274746" y="474613"/>
                  </a:lnTo>
                  <a:cubicBezTo>
                    <a:pt x="233241" y="474613"/>
                    <a:pt x="199772" y="441144"/>
                    <a:pt x="199772" y="399639"/>
                  </a:cubicBezTo>
                  <a:lnTo>
                    <a:pt x="199772" y="274746"/>
                  </a:lnTo>
                  <a:lnTo>
                    <a:pt x="174813" y="274746"/>
                  </a:lnTo>
                  <a:cubicBezTo>
                    <a:pt x="174813" y="288739"/>
                    <a:pt x="163846" y="299706"/>
                    <a:pt x="149853" y="299706"/>
                  </a:cubicBezTo>
                  <a:cubicBezTo>
                    <a:pt x="135860" y="299706"/>
                    <a:pt x="124893" y="288739"/>
                    <a:pt x="124893" y="274746"/>
                  </a:cubicBezTo>
                  <a:lnTo>
                    <a:pt x="124893" y="224827"/>
                  </a:lnTo>
                  <a:close/>
                  <a:moveTo>
                    <a:pt x="724400" y="649426"/>
                  </a:moveTo>
                  <a:lnTo>
                    <a:pt x="124893" y="649426"/>
                  </a:lnTo>
                  <a:cubicBezTo>
                    <a:pt x="92464" y="649426"/>
                    <a:pt x="64952" y="628437"/>
                    <a:pt x="54458" y="599506"/>
                  </a:cubicBezTo>
                  <a:lnTo>
                    <a:pt x="794835" y="599506"/>
                  </a:lnTo>
                  <a:cubicBezTo>
                    <a:pt x="784341" y="628437"/>
                    <a:pt x="756828" y="649426"/>
                    <a:pt x="724400" y="64942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7850" lIns="15725" spcFirstLastPara="1" rIns="15725" wrap="square" tIns="7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0027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8"/>
            <p:cNvSpPr/>
            <p:nvPr/>
          </p:nvSpPr>
          <p:spPr>
            <a:xfrm>
              <a:off x="6106622" y="4663663"/>
              <a:ext cx="49919" cy="74879"/>
            </a:xfrm>
            <a:custGeom>
              <a:rect b="b" l="l" r="r" t="t"/>
              <a:pathLst>
                <a:path extrusionOk="0" h="74879" w="49919">
                  <a:moveTo>
                    <a:pt x="24960" y="74879"/>
                  </a:moveTo>
                  <a:cubicBezTo>
                    <a:pt x="38952" y="74879"/>
                    <a:pt x="49919" y="63912"/>
                    <a:pt x="49919" y="49919"/>
                  </a:cubicBezTo>
                  <a:lnTo>
                    <a:pt x="49919" y="24960"/>
                  </a:lnTo>
                  <a:cubicBezTo>
                    <a:pt x="49919" y="10967"/>
                    <a:pt x="38952" y="0"/>
                    <a:pt x="24960" y="0"/>
                  </a:cubicBezTo>
                  <a:cubicBezTo>
                    <a:pt x="10967" y="0"/>
                    <a:pt x="0" y="10967"/>
                    <a:pt x="0" y="24960"/>
                  </a:cubicBezTo>
                  <a:lnTo>
                    <a:pt x="0" y="49919"/>
                  </a:lnTo>
                  <a:cubicBezTo>
                    <a:pt x="0" y="63912"/>
                    <a:pt x="10967" y="74879"/>
                    <a:pt x="24960" y="7487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7850" lIns="15725" spcFirstLastPara="1" rIns="15725" wrap="square" tIns="7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0027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5957264" y="4763755"/>
              <a:ext cx="149767" cy="61555"/>
            </a:xfrm>
            <a:custGeom>
              <a:rect b="b" l="l" r="r" t="t"/>
              <a:pathLst>
                <a:path extrusionOk="0" h="61555" w="149767">
                  <a:moveTo>
                    <a:pt x="13498" y="47303"/>
                  </a:moveTo>
                  <a:cubicBezTo>
                    <a:pt x="51978" y="66306"/>
                    <a:pt x="97454" y="66306"/>
                    <a:pt x="135933" y="47303"/>
                  </a:cubicBezTo>
                  <a:cubicBezTo>
                    <a:pt x="148413" y="41346"/>
                    <a:pt x="153424" y="26314"/>
                    <a:pt x="146901" y="13834"/>
                  </a:cubicBezTo>
                  <a:cubicBezTo>
                    <a:pt x="140944" y="1354"/>
                    <a:pt x="125439" y="-3657"/>
                    <a:pt x="113432" y="2867"/>
                  </a:cubicBezTo>
                  <a:cubicBezTo>
                    <a:pt x="88945" y="14874"/>
                    <a:pt x="60014" y="14874"/>
                    <a:pt x="36000" y="2867"/>
                  </a:cubicBezTo>
                  <a:cubicBezTo>
                    <a:pt x="23520" y="-3090"/>
                    <a:pt x="8487" y="1827"/>
                    <a:pt x="2531" y="13834"/>
                  </a:cubicBezTo>
                  <a:cubicBezTo>
                    <a:pt x="-3425" y="26314"/>
                    <a:pt x="1491" y="41346"/>
                    <a:pt x="13498" y="473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7850" lIns="15725" spcFirstLastPara="1" rIns="15725" wrap="square" tIns="7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0027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8"/>
            <p:cNvSpPr/>
            <p:nvPr/>
          </p:nvSpPr>
          <p:spPr>
            <a:xfrm>
              <a:off x="5906850" y="4663663"/>
              <a:ext cx="49919" cy="74879"/>
            </a:xfrm>
            <a:custGeom>
              <a:rect b="b" l="l" r="r" t="t"/>
              <a:pathLst>
                <a:path extrusionOk="0" h="74879" w="49919">
                  <a:moveTo>
                    <a:pt x="24960" y="74879"/>
                  </a:moveTo>
                  <a:cubicBezTo>
                    <a:pt x="38952" y="74879"/>
                    <a:pt x="49919" y="63912"/>
                    <a:pt x="49919" y="49919"/>
                  </a:cubicBezTo>
                  <a:lnTo>
                    <a:pt x="49919" y="24960"/>
                  </a:lnTo>
                  <a:cubicBezTo>
                    <a:pt x="49919" y="10967"/>
                    <a:pt x="38952" y="0"/>
                    <a:pt x="24960" y="0"/>
                  </a:cubicBezTo>
                  <a:cubicBezTo>
                    <a:pt x="10967" y="0"/>
                    <a:pt x="0" y="10967"/>
                    <a:pt x="0" y="24960"/>
                  </a:cubicBezTo>
                  <a:lnTo>
                    <a:pt x="0" y="49919"/>
                  </a:lnTo>
                  <a:cubicBezTo>
                    <a:pt x="0" y="63912"/>
                    <a:pt x="10967" y="74879"/>
                    <a:pt x="24960" y="7487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7850" lIns="15725" spcFirstLastPara="1" rIns="15725" wrap="square" tIns="7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0027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8"/>
          <p:cNvSpPr txBox="1"/>
          <p:nvPr/>
        </p:nvSpPr>
        <p:spPr>
          <a:xfrm>
            <a:off x="459162" y="3606138"/>
            <a:ext cx="275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Figtree Black"/>
                <a:ea typeface="Figtree Black"/>
                <a:cs typeface="Figtree Black"/>
                <a:sym typeface="Figtree Black"/>
              </a:rPr>
              <a:t>&lt;/&gt;</a:t>
            </a:r>
            <a:endParaRPr sz="1000">
              <a:solidFill>
                <a:schemeClr val="accent6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3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1851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The Architecture</a:t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372000" y="801813"/>
            <a:ext cx="820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u="none" cap="none" strike="noStrike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THREE-LAYER </a:t>
            </a:r>
            <a:r>
              <a:rPr b="1" lang="en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SOLUTION</a:t>
            </a:r>
            <a:endParaRPr sz="1700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372000" y="1285288"/>
            <a:ext cx="2400000" cy="1500000"/>
          </a:xfrm>
          <a:prstGeom prst="rect">
            <a:avLst/>
          </a:prstGeom>
          <a:solidFill>
            <a:srgbClr val="1C2B3A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B4D8"/>
                </a:solidFill>
                <a:latin typeface="Space Mono"/>
                <a:ea typeface="Space Mono"/>
                <a:cs typeface="Space Mono"/>
                <a:sym typeface="Space Mono"/>
              </a:rPr>
              <a:t>LAYER 1: OBSERVE</a:t>
            </a:r>
            <a:endParaRPr>
              <a:solidFill>
                <a:srgbClr val="00B4D8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C</a:t>
            </a:r>
            <a:r>
              <a:rPr i="0" lang="en" sz="10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ollects flow data, </a:t>
            </a:r>
            <a:r>
              <a:rPr lang="en" sz="10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metrics</a:t>
            </a:r>
            <a:r>
              <a:rPr i="0" lang="en" sz="10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, and anomaly signals in real time via </a:t>
            </a:r>
            <a:r>
              <a:rPr lang="en" sz="10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Netflow and SNMP</a:t>
            </a:r>
            <a:endParaRPr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2872000" y="1962304"/>
            <a:ext cx="399900" cy="1692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3371950" y="1285288"/>
            <a:ext cx="2400000" cy="1500000"/>
          </a:xfrm>
          <a:prstGeom prst="rect">
            <a:avLst/>
          </a:prstGeom>
          <a:solidFill>
            <a:srgbClr val="1C2B3A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4"/>
                </a:solidFill>
                <a:latin typeface="Space Mono"/>
                <a:ea typeface="Space Mono"/>
                <a:cs typeface="Space Mono"/>
                <a:sym typeface="Space Mono"/>
              </a:rPr>
              <a:t>LAYER 2: DECIDE</a:t>
            </a:r>
            <a:endParaRPr>
              <a:solidFill>
                <a:schemeClr val="accent4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Middleware </a:t>
            </a:r>
            <a:r>
              <a:rPr lang="en" sz="10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receives alert and decides whether to send BGP Flowspec</a:t>
            </a:r>
            <a:r>
              <a:rPr i="0" lang="en" sz="10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 — the “brain” of the chain</a:t>
            </a:r>
            <a:endParaRPr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5872000" y="1962304"/>
            <a:ext cx="399900" cy="1692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2ECC71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>
              <a:solidFill>
                <a:srgbClr val="2ECC71"/>
              </a:solidFill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6372000" y="1285288"/>
            <a:ext cx="2400000" cy="1500000"/>
          </a:xfrm>
          <a:prstGeom prst="rect">
            <a:avLst/>
          </a:prstGeom>
          <a:solidFill>
            <a:srgbClr val="1C2B3A"/>
          </a:solidFill>
          <a:ln cap="flat" cmpd="sng" w="95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ECC71"/>
                </a:solidFill>
                <a:latin typeface="Space Mono"/>
                <a:ea typeface="Space Mono"/>
                <a:cs typeface="Space Mono"/>
                <a:sym typeface="Space Mono"/>
              </a:rPr>
              <a:t>LAYER 3: ACT</a:t>
            </a:r>
            <a:endParaRPr>
              <a:solidFill>
                <a:srgbClr val="2ECC7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BGP Flowspec injection</a:t>
            </a:r>
            <a:r>
              <a:rPr lang="en" sz="10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 mitigates attack traffic while leaving legitimate traffic in tact</a:t>
            </a:r>
            <a:endParaRPr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372000" y="2950459"/>
            <a:ext cx="8400000" cy="525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1" lang="en" sz="12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The “middleware” layer is what transforms a collection of tools into an intelligent chain — it is the highest-leverage engineering investment in the autonomy stack.</a:t>
            </a:r>
            <a:endParaRPr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366850" y="3638631"/>
            <a:ext cx="8400000" cy="1055700"/>
          </a:xfrm>
          <a:prstGeom prst="rect">
            <a:avLst/>
          </a:prstGeom>
          <a:solidFill>
            <a:srgbClr val="1C2B3A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598960" y="3797025"/>
            <a:ext cx="167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&lt;1min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4918900" y="3797025"/>
            <a:ext cx="167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100%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2275960" y="3923125"/>
            <a:ext cx="167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from detection to mitigation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6372000" y="3797025"/>
            <a:ext cx="179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auditable — every action is logged with full context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13" name="Google Shape;113;p19"/>
          <p:cNvCxnSpPr/>
          <p:nvPr/>
        </p:nvCxnSpPr>
        <p:spPr>
          <a:xfrm>
            <a:off x="4319925" y="3848325"/>
            <a:ext cx="0" cy="636300"/>
          </a:xfrm>
          <a:prstGeom prst="straightConnector1">
            <a:avLst/>
          </a:prstGeom>
          <a:noFill/>
          <a:ln cap="flat" cmpd="sng" w="9525">
            <a:solidFill>
              <a:srgbClr val="B1B9C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311700" y="889350"/>
            <a:ext cx="8520600" cy="34476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5312825" y="889350"/>
            <a:ext cx="3519300" cy="3447600"/>
          </a:xfrm>
          <a:prstGeom prst="rect">
            <a:avLst/>
          </a:prstGeom>
          <a:solidFill>
            <a:srgbClr val="9FFF00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17378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Compressing MTTR: Minutes to Seconds</a:t>
            </a:r>
            <a:endParaRPr/>
          </a:p>
        </p:txBody>
      </p:sp>
      <p:grpSp>
        <p:nvGrpSpPr>
          <p:cNvPr id="121" name="Google Shape;121;p20"/>
          <p:cNvGrpSpPr/>
          <p:nvPr/>
        </p:nvGrpSpPr>
        <p:grpSpPr>
          <a:xfrm>
            <a:off x="827775" y="1124329"/>
            <a:ext cx="7488450" cy="2362475"/>
            <a:chOff x="859200" y="1406725"/>
            <a:chExt cx="7488450" cy="2362475"/>
          </a:xfrm>
        </p:grpSpPr>
        <p:cxnSp>
          <p:nvCxnSpPr>
            <p:cNvPr id="122" name="Google Shape;122;p20"/>
            <p:cNvCxnSpPr/>
            <p:nvPr/>
          </p:nvCxnSpPr>
          <p:spPr>
            <a:xfrm>
              <a:off x="958325" y="1542300"/>
              <a:ext cx="1497300" cy="179700"/>
            </a:xfrm>
            <a:prstGeom prst="straightConnector1">
              <a:avLst/>
            </a:prstGeom>
            <a:noFill/>
            <a:ln cap="flat" cmpd="sng" w="38100">
              <a:solidFill>
                <a:srgbClr val="00B4D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20"/>
            <p:cNvCxnSpPr/>
            <p:nvPr/>
          </p:nvCxnSpPr>
          <p:spPr>
            <a:xfrm>
              <a:off x="2470675" y="1729475"/>
              <a:ext cx="1437600" cy="291900"/>
            </a:xfrm>
            <a:prstGeom prst="straightConnector1">
              <a:avLst/>
            </a:prstGeom>
            <a:noFill/>
            <a:ln cap="flat" cmpd="sng" w="38100">
              <a:solidFill>
                <a:srgbClr val="00B4D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20"/>
            <p:cNvCxnSpPr/>
            <p:nvPr/>
          </p:nvCxnSpPr>
          <p:spPr>
            <a:xfrm>
              <a:off x="3900675" y="2036425"/>
              <a:ext cx="1445100" cy="1347600"/>
            </a:xfrm>
            <a:prstGeom prst="straightConnector1">
              <a:avLst/>
            </a:prstGeom>
            <a:noFill/>
            <a:ln cap="flat" cmpd="sng" w="38100">
              <a:solidFill>
                <a:srgbClr val="00B4D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20"/>
            <p:cNvCxnSpPr/>
            <p:nvPr/>
          </p:nvCxnSpPr>
          <p:spPr>
            <a:xfrm>
              <a:off x="5338150" y="3346650"/>
              <a:ext cx="1474800" cy="291900"/>
            </a:xfrm>
            <a:prstGeom prst="straightConnector1">
              <a:avLst/>
            </a:prstGeom>
            <a:noFill/>
            <a:ln cap="flat" cmpd="sng" w="38100">
              <a:solidFill>
                <a:srgbClr val="9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20"/>
            <p:cNvCxnSpPr/>
            <p:nvPr/>
          </p:nvCxnSpPr>
          <p:spPr>
            <a:xfrm rot="10800000">
              <a:off x="6827975" y="3631050"/>
              <a:ext cx="1415100" cy="52500"/>
            </a:xfrm>
            <a:prstGeom prst="straightConnector1">
              <a:avLst/>
            </a:prstGeom>
            <a:noFill/>
            <a:ln cap="flat" cmpd="sng" w="38100">
              <a:solidFill>
                <a:srgbClr val="9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" name="Google Shape;127;p20"/>
            <p:cNvSpPr/>
            <p:nvPr/>
          </p:nvSpPr>
          <p:spPr>
            <a:xfrm>
              <a:off x="2379325" y="1630525"/>
              <a:ext cx="223800" cy="2238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859200" y="1406725"/>
              <a:ext cx="223800" cy="2238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29" name="Google Shape;129;p20"/>
            <p:cNvSpPr/>
            <p:nvPr/>
          </p:nvSpPr>
          <p:spPr>
            <a:xfrm>
              <a:off x="3789775" y="1930025"/>
              <a:ext cx="223800" cy="2238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30" name="Google Shape;130;p20"/>
            <p:cNvSpPr/>
            <p:nvPr/>
          </p:nvSpPr>
          <p:spPr>
            <a:xfrm>
              <a:off x="5243553" y="3244075"/>
              <a:ext cx="223800" cy="223800"/>
            </a:xfrm>
            <a:prstGeom prst="ellipse">
              <a:avLst/>
            </a:prstGeom>
            <a:solidFill>
              <a:srgbClr val="9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31" name="Google Shape;131;p20"/>
            <p:cNvSpPr/>
            <p:nvPr/>
          </p:nvSpPr>
          <p:spPr>
            <a:xfrm>
              <a:off x="6718800" y="3508425"/>
              <a:ext cx="223800" cy="223800"/>
            </a:xfrm>
            <a:prstGeom prst="ellipse">
              <a:avLst/>
            </a:prstGeom>
            <a:solidFill>
              <a:srgbClr val="9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8123850" y="3545400"/>
              <a:ext cx="223800" cy="223800"/>
            </a:xfrm>
            <a:prstGeom prst="ellipse">
              <a:avLst/>
            </a:prstGeom>
            <a:solidFill>
              <a:srgbClr val="9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sp>
        <p:nvSpPr>
          <p:cNvPr id="133" name="Google Shape;133;p20"/>
          <p:cNvSpPr txBox="1"/>
          <p:nvPr/>
        </p:nvSpPr>
        <p:spPr>
          <a:xfrm>
            <a:off x="5312825" y="2388475"/>
            <a:ext cx="35193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Automated mitigation deployed</a:t>
            </a:r>
            <a:endParaRPr sz="1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>
            <a:off x="507000" y="3835341"/>
            <a:ext cx="8130000" cy="0"/>
          </a:xfrm>
          <a:prstGeom prst="straightConnector1">
            <a:avLst/>
          </a:prstGeom>
          <a:noFill/>
          <a:ln cap="flat" cmpd="sng" w="9525">
            <a:solidFill>
              <a:srgbClr val="B1B9C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20"/>
          <p:cNvSpPr txBox="1"/>
          <p:nvPr/>
        </p:nvSpPr>
        <p:spPr>
          <a:xfrm>
            <a:off x="506995" y="3857005"/>
            <a:ext cx="3226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Manual response time (minutes)</a:t>
            </a:r>
            <a:endParaRPr sz="1000"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5410795" y="3857005"/>
            <a:ext cx="3226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Autonomous (seconds)</a:t>
            </a:r>
            <a:endParaRPr sz="1000"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571500" y="4479819"/>
            <a:ext cx="8001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By removing human latency, the organization achieves instantaneous resilience.</a:t>
            </a:r>
            <a:endParaRPr b="1" sz="13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311700" y="296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Boardroom “NO”</a:t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492900" y="1369975"/>
            <a:ext cx="3988500" cy="196740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reflection blurRad="0" dir="5400000" dist="38100" endA="0" endPos="30000" fadeDir="5400012" kx="0" rotWithShape="0" algn="bl" stA="70000" stPos="0" sy="-100000" ky="0"/>
          </a:effectLst>
        </p:spPr>
        <p:txBody>
          <a:bodyPr anchorCtr="0" anchor="t" bIns="91425" lIns="91425" spcFirstLastPara="1" rIns="91425" wrap="square" tIns="30175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6600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100%</a:t>
            </a:r>
            <a:endParaRPr sz="20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492900" y="2530119"/>
            <a:ext cx="398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Technical Success</a:t>
            </a:r>
            <a:endParaRPr b="1" sz="2000">
              <a:solidFill>
                <a:schemeClr val="accent6"/>
              </a:solidFill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493075" y="1284100"/>
            <a:ext cx="3988500" cy="8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4662412" y="1369975"/>
            <a:ext cx="3988500" cy="196740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reflection blurRad="0" dir="5400000" dist="38100" endA="0" endPos="30000" fadeDir="5400012" kx="0" rotWithShape="0" algn="bl" stA="70000" stPos="0" sy="-100000" ky="0"/>
          </a:effectLst>
        </p:spPr>
        <p:txBody>
          <a:bodyPr anchorCtr="0" anchor="t" bIns="91425" lIns="91425" spcFirstLastPara="1" rIns="91425" wrap="square" tIns="30175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6600">
                <a:solidFill>
                  <a:srgbClr val="FF4D4D"/>
                </a:solidFill>
                <a:latin typeface="Space Mono"/>
                <a:ea typeface="Space Mono"/>
                <a:cs typeface="Space Mono"/>
                <a:sym typeface="Space Mono"/>
              </a:rPr>
              <a:t>0%</a:t>
            </a:r>
            <a:endParaRPr sz="6600">
              <a:solidFill>
                <a:srgbClr val="FF4D4D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4662412" y="2530119"/>
            <a:ext cx="398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4D4D"/>
                </a:solidFill>
                <a:latin typeface="Space Mono"/>
                <a:ea typeface="Space Mono"/>
                <a:cs typeface="Space Mono"/>
                <a:sym typeface="Space Mono"/>
              </a:rPr>
              <a:t>Executive Funding</a:t>
            </a:r>
            <a:endParaRPr b="1" sz="1600">
              <a:solidFill>
                <a:srgbClr val="FF4D4D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4662581" y="1284100"/>
            <a:ext cx="3988500" cy="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542850" y="3791850"/>
            <a:ext cx="80583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Executives didn't see a breakthrough; they saw a </a:t>
            </a:r>
            <a:r>
              <a:rPr b="1" i="0" lang="en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"Black Box" risk</a:t>
            </a:r>
            <a:r>
              <a:rPr i="0" lang="en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. Who was responsible if the </a:t>
            </a:r>
            <a:r>
              <a:rPr lang="en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automation </a:t>
            </a:r>
            <a:r>
              <a:rPr i="0" lang="en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mitigated legitimate traffic? The project was nearly shelved.</a:t>
            </a:r>
            <a:endParaRPr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Learned: Data is Trust</a:t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592175" y="1354589"/>
            <a:ext cx="2541000" cy="3055200"/>
          </a:xfrm>
          <a:prstGeom prst="rect">
            <a:avLst/>
          </a:prstGeom>
          <a:solidFill>
            <a:srgbClr val="1C2B3A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38100" endA="0" endPos="30000" fadeDir="5400012" kx="0" rotWithShape="0" algn="bl" stA="30000" stPos="0" sy="-100000" ky="0"/>
          </a:effectLst>
        </p:spPr>
        <p:txBody>
          <a:bodyPr anchorCtr="0" anchor="ctr" bIns="91425" lIns="274300" spcFirstLastPara="1" rIns="274300" wrap="square" tIns="59435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OBSERVE</a:t>
            </a:r>
            <a:endParaRPr b="1" sz="18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Observability is </a:t>
            </a:r>
            <a:b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not just for troubleshooting; it is the </a:t>
            </a:r>
            <a:r>
              <a:rPr b="1" lang="en" sz="1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evidence</a:t>
            </a:r>
            <a: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 for autonomy.</a:t>
            </a:r>
            <a:endParaRPr b="1" sz="1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3322675" y="1354589"/>
            <a:ext cx="2541000" cy="3055200"/>
          </a:xfrm>
          <a:prstGeom prst="rect">
            <a:avLst/>
          </a:prstGeom>
          <a:solidFill>
            <a:srgbClr val="1C2B3A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38100" endA="0" endPos="30000" fadeDir="5400012" kx="0" rotWithShape="0" algn="bl" stA="30000" stPos="0" sy="-100000" ky="0"/>
          </a:effectLst>
        </p:spPr>
        <p:txBody>
          <a:bodyPr anchorCtr="0" anchor="ctr" bIns="91425" lIns="274300" spcFirstLastPara="1" rIns="274300" wrap="square" tIns="59435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PROTECT</a:t>
            </a:r>
            <a:endParaRPr b="1" sz="18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Moved from "Self-Healing" buzzwords to "</a:t>
            </a:r>
            <a:r>
              <a:rPr b="1" lang="en" sz="1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Observability-Led Protection</a:t>
            </a:r>
            <a: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."</a:t>
            </a:r>
            <a:endParaRPr b="1" sz="1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6010850" y="1354589"/>
            <a:ext cx="2541000" cy="3055200"/>
          </a:xfrm>
          <a:prstGeom prst="rect">
            <a:avLst/>
          </a:prstGeom>
          <a:solidFill>
            <a:srgbClr val="1C2B3A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38100" endA="0" endPos="30000" fadeDir="5400012" kx="0" rotWithShape="0" algn="bl" stA="30000" stPos="0" sy="-100000" ky="0"/>
          </a:effectLst>
        </p:spPr>
        <p:txBody>
          <a:bodyPr anchorCtr="0" anchor="ctr" bIns="91425" lIns="274300" spcFirstLastPara="1" rIns="274300" wrap="square" tIns="59435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MEASURE</a:t>
            </a:r>
            <a:endParaRPr b="1" sz="18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Stop reporting packets; </a:t>
            </a:r>
            <a:b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start reporting "</a:t>
            </a:r>
            <a:r>
              <a:rPr b="1" lang="en" sz="1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Productivity Hours Retained</a:t>
            </a:r>
            <a:r>
              <a:rPr lang="en" sz="12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."</a:t>
            </a:r>
            <a:endParaRPr b="1" sz="1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158" name="Google Shape;158;p22"/>
          <p:cNvGrpSpPr/>
          <p:nvPr/>
        </p:nvGrpSpPr>
        <p:grpSpPr>
          <a:xfrm>
            <a:off x="1716159" y="1795556"/>
            <a:ext cx="293017" cy="374629"/>
            <a:chOff x="6426200" y="524275"/>
            <a:chExt cx="715200" cy="914399"/>
          </a:xfrm>
        </p:grpSpPr>
        <p:sp>
          <p:nvSpPr>
            <p:cNvPr id="159" name="Google Shape;159;p22"/>
            <p:cNvSpPr/>
            <p:nvPr/>
          </p:nvSpPr>
          <p:spPr>
            <a:xfrm>
              <a:off x="6426200" y="863936"/>
              <a:ext cx="715182" cy="313467"/>
            </a:xfrm>
            <a:custGeom>
              <a:rect b="b" l="l" r="r" t="t"/>
              <a:pathLst>
                <a:path extrusionOk="0" h="313467" w="715182">
                  <a:moveTo>
                    <a:pt x="0" y="0"/>
                  </a:moveTo>
                  <a:lnTo>
                    <a:pt x="0" y="117539"/>
                  </a:lnTo>
                  <a:cubicBezTo>
                    <a:pt x="0" y="228600"/>
                    <a:pt x="156085" y="313468"/>
                    <a:pt x="357591" y="313468"/>
                  </a:cubicBezTo>
                  <a:cubicBezTo>
                    <a:pt x="559098" y="313468"/>
                    <a:pt x="715183" y="228600"/>
                    <a:pt x="715183" y="117539"/>
                  </a:cubicBezTo>
                  <a:lnTo>
                    <a:pt x="715183" y="0"/>
                  </a:lnTo>
                  <a:cubicBezTo>
                    <a:pt x="643683" y="71819"/>
                    <a:pt x="513581" y="117539"/>
                    <a:pt x="357591" y="117539"/>
                  </a:cubicBezTo>
                  <a:cubicBezTo>
                    <a:pt x="201602" y="117539"/>
                    <a:pt x="71499" y="71819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18725" lIns="37450" spcFirstLastPara="1" rIns="37450" wrap="square" tIns="187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5">
                <a:solidFill>
                  <a:srgbClr val="0027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2"/>
            <p:cNvSpPr/>
            <p:nvPr/>
          </p:nvSpPr>
          <p:spPr>
            <a:xfrm>
              <a:off x="6426200" y="1125207"/>
              <a:ext cx="715182" cy="313467"/>
            </a:xfrm>
            <a:custGeom>
              <a:rect b="b" l="l" r="r" t="t"/>
              <a:pathLst>
                <a:path extrusionOk="0" h="313467" w="715182">
                  <a:moveTo>
                    <a:pt x="0" y="0"/>
                  </a:moveTo>
                  <a:lnTo>
                    <a:pt x="0" y="117539"/>
                  </a:lnTo>
                  <a:cubicBezTo>
                    <a:pt x="0" y="228600"/>
                    <a:pt x="156085" y="313468"/>
                    <a:pt x="357591" y="313468"/>
                  </a:cubicBezTo>
                  <a:cubicBezTo>
                    <a:pt x="559098" y="313468"/>
                    <a:pt x="715183" y="228600"/>
                    <a:pt x="715183" y="117539"/>
                  </a:cubicBezTo>
                  <a:lnTo>
                    <a:pt x="715183" y="0"/>
                  </a:lnTo>
                  <a:cubicBezTo>
                    <a:pt x="643683" y="71818"/>
                    <a:pt x="513581" y="117539"/>
                    <a:pt x="357591" y="117539"/>
                  </a:cubicBezTo>
                  <a:cubicBezTo>
                    <a:pt x="201602" y="117539"/>
                    <a:pt x="71499" y="71818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18725" lIns="37450" spcFirstLastPara="1" rIns="37450" wrap="square" tIns="187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5">
                <a:solidFill>
                  <a:srgbClr val="0027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2"/>
            <p:cNvSpPr/>
            <p:nvPr/>
          </p:nvSpPr>
          <p:spPr>
            <a:xfrm>
              <a:off x="6426200" y="524275"/>
              <a:ext cx="715200" cy="3918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18725" lIns="37450" spcFirstLastPara="1" rIns="37450" wrap="square" tIns="187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5">
                <a:solidFill>
                  <a:srgbClr val="0027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22"/>
          <p:cNvSpPr/>
          <p:nvPr/>
        </p:nvSpPr>
        <p:spPr>
          <a:xfrm>
            <a:off x="4424797" y="1799347"/>
            <a:ext cx="336758" cy="367074"/>
          </a:xfrm>
          <a:custGeom>
            <a:rect b="b" l="l" r="r" t="t"/>
            <a:pathLst>
              <a:path extrusionOk="0" h="1578812" w="1433012">
                <a:moveTo>
                  <a:pt x="1264696" y="116779"/>
                </a:moveTo>
                <a:lnTo>
                  <a:pt x="763128" y="4848"/>
                </a:lnTo>
                <a:cubicBezTo>
                  <a:pt x="732443" y="-1616"/>
                  <a:pt x="700704" y="-1616"/>
                  <a:pt x="669952" y="4848"/>
                </a:cubicBezTo>
                <a:lnTo>
                  <a:pt x="168385" y="116779"/>
                </a:lnTo>
                <a:cubicBezTo>
                  <a:pt x="70007" y="138677"/>
                  <a:pt x="10" y="226072"/>
                  <a:pt x="10" y="327055"/>
                </a:cubicBezTo>
                <a:lnTo>
                  <a:pt x="10" y="619184"/>
                </a:lnTo>
                <a:cubicBezTo>
                  <a:pt x="-1834" y="1036173"/>
                  <a:pt x="252341" y="1411410"/>
                  <a:pt x="639860" y="1563708"/>
                </a:cubicBezTo>
                <a:cubicBezTo>
                  <a:pt x="664158" y="1573734"/>
                  <a:pt x="690234" y="1578813"/>
                  <a:pt x="716507" y="1578813"/>
                </a:cubicBezTo>
                <a:cubicBezTo>
                  <a:pt x="742715" y="1578813"/>
                  <a:pt x="768725" y="1573866"/>
                  <a:pt x="793155" y="1564434"/>
                </a:cubicBezTo>
                <a:cubicBezTo>
                  <a:pt x="1180542" y="1411542"/>
                  <a:pt x="1434585" y="1036239"/>
                  <a:pt x="1433005" y="619184"/>
                </a:cubicBezTo>
                <a:lnTo>
                  <a:pt x="1433005" y="327055"/>
                </a:lnTo>
                <a:cubicBezTo>
                  <a:pt x="1433005" y="226072"/>
                  <a:pt x="1363008" y="138612"/>
                  <a:pt x="1264630" y="116779"/>
                </a:cubicBezTo>
                <a:lnTo>
                  <a:pt x="1264630" y="116779"/>
                </a:lnTo>
                <a:close/>
                <a:moveTo>
                  <a:pt x="1056944" y="628550"/>
                </a:moveTo>
                <a:lnTo>
                  <a:pt x="712293" y="968038"/>
                </a:lnTo>
                <a:cubicBezTo>
                  <a:pt x="684373" y="995872"/>
                  <a:pt x="639201" y="995872"/>
                  <a:pt x="611282" y="968038"/>
                </a:cubicBezTo>
                <a:lnTo>
                  <a:pt x="447911" y="807297"/>
                </a:lnTo>
                <a:cubicBezTo>
                  <a:pt x="419794" y="779397"/>
                  <a:pt x="419597" y="733952"/>
                  <a:pt x="447516" y="705788"/>
                </a:cubicBezTo>
                <a:cubicBezTo>
                  <a:pt x="447648" y="705656"/>
                  <a:pt x="447780" y="705524"/>
                  <a:pt x="447911" y="705392"/>
                </a:cubicBezTo>
                <a:cubicBezTo>
                  <a:pt x="475831" y="677557"/>
                  <a:pt x="521003" y="677557"/>
                  <a:pt x="548923" y="705392"/>
                </a:cubicBezTo>
                <a:lnTo>
                  <a:pt x="662117" y="816664"/>
                </a:lnTo>
                <a:lnTo>
                  <a:pt x="956591" y="529547"/>
                </a:lnTo>
                <a:cubicBezTo>
                  <a:pt x="984906" y="501580"/>
                  <a:pt x="1030473" y="501910"/>
                  <a:pt x="1058327" y="530272"/>
                </a:cubicBezTo>
                <a:cubicBezTo>
                  <a:pt x="1086247" y="558634"/>
                  <a:pt x="1085917" y="604278"/>
                  <a:pt x="1057603" y="632178"/>
                </a:cubicBezTo>
                <a:lnTo>
                  <a:pt x="1056878" y="62861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27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22"/>
          <p:cNvGrpSpPr/>
          <p:nvPr/>
        </p:nvGrpSpPr>
        <p:grpSpPr>
          <a:xfrm>
            <a:off x="7097792" y="1800415"/>
            <a:ext cx="367123" cy="364919"/>
            <a:chOff x="337499" y="2012950"/>
            <a:chExt cx="1001974" cy="1001974"/>
          </a:xfrm>
        </p:grpSpPr>
        <p:sp>
          <p:nvSpPr>
            <p:cNvPr id="164" name="Google Shape;164;p22"/>
            <p:cNvSpPr/>
            <p:nvPr/>
          </p:nvSpPr>
          <p:spPr>
            <a:xfrm>
              <a:off x="337499" y="2346878"/>
              <a:ext cx="1001974" cy="668046"/>
            </a:xfrm>
            <a:custGeom>
              <a:rect b="b" l="l" r="r" t="t"/>
              <a:pathLst>
                <a:path extrusionOk="0" h="668046" w="1001974">
                  <a:moveTo>
                    <a:pt x="981152" y="626211"/>
                  </a:moveTo>
                  <a:lnTo>
                    <a:pt x="960234" y="626211"/>
                  </a:lnTo>
                  <a:lnTo>
                    <a:pt x="960234" y="20918"/>
                  </a:lnTo>
                  <a:cubicBezTo>
                    <a:pt x="960234" y="9370"/>
                    <a:pt x="950863" y="0"/>
                    <a:pt x="939316" y="0"/>
                  </a:cubicBezTo>
                  <a:lnTo>
                    <a:pt x="814093" y="0"/>
                  </a:lnTo>
                  <a:cubicBezTo>
                    <a:pt x="802545" y="0"/>
                    <a:pt x="793175" y="9370"/>
                    <a:pt x="793175" y="20918"/>
                  </a:cubicBezTo>
                  <a:lnTo>
                    <a:pt x="793175" y="626211"/>
                  </a:lnTo>
                  <a:lnTo>
                    <a:pt x="709693" y="626211"/>
                  </a:lnTo>
                  <a:lnTo>
                    <a:pt x="709693" y="271364"/>
                  </a:lnTo>
                  <a:cubicBezTo>
                    <a:pt x="709693" y="259817"/>
                    <a:pt x="700322" y="250446"/>
                    <a:pt x="688775" y="250446"/>
                  </a:cubicBezTo>
                  <a:lnTo>
                    <a:pt x="563552" y="250446"/>
                  </a:lnTo>
                  <a:cubicBezTo>
                    <a:pt x="552004" y="250446"/>
                    <a:pt x="542634" y="259817"/>
                    <a:pt x="542634" y="271364"/>
                  </a:cubicBezTo>
                  <a:lnTo>
                    <a:pt x="542634" y="626211"/>
                  </a:lnTo>
                  <a:lnTo>
                    <a:pt x="459152" y="626211"/>
                  </a:lnTo>
                  <a:lnTo>
                    <a:pt x="459152" y="187882"/>
                  </a:lnTo>
                  <a:cubicBezTo>
                    <a:pt x="459152" y="176335"/>
                    <a:pt x="449781" y="166964"/>
                    <a:pt x="438234" y="166964"/>
                  </a:cubicBezTo>
                  <a:lnTo>
                    <a:pt x="313011" y="166964"/>
                  </a:lnTo>
                  <a:cubicBezTo>
                    <a:pt x="301463" y="166964"/>
                    <a:pt x="292093" y="176335"/>
                    <a:pt x="292093" y="187882"/>
                  </a:cubicBezTo>
                  <a:lnTo>
                    <a:pt x="292093" y="626211"/>
                  </a:lnTo>
                  <a:lnTo>
                    <a:pt x="208611" y="626211"/>
                  </a:lnTo>
                  <a:lnTo>
                    <a:pt x="208611" y="396587"/>
                  </a:lnTo>
                  <a:cubicBezTo>
                    <a:pt x="208611" y="385040"/>
                    <a:pt x="199240" y="375670"/>
                    <a:pt x="187693" y="375670"/>
                  </a:cubicBezTo>
                  <a:lnTo>
                    <a:pt x="62754" y="375670"/>
                  </a:lnTo>
                  <a:cubicBezTo>
                    <a:pt x="51206" y="375670"/>
                    <a:pt x="41836" y="385040"/>
                    <a:pt x="41836" y="396587"/>
                  </a:cubicBezTo>
                  <a:lnTo>
                    <a:pt x="41836" y="626211"/>
                  </a:lnTo>
                  <a:lnTo>
                    <a:pt x="20918" y="626211"/>
                  </a:lnTo>
                  <a:cubicBezTo>
                    <a:pt x="9370" y="626211"/>
                    <a:pt x="0" y="635581"/>
                    <a:pt x="0" y="647129"/>
                  </a:cubicBezTo>
                  <a:cubicBezTo>
                    <a:pt x="0" y="658676"/>
                    <a:pt x="9370" y="668046"/>
                    <a:pt x="20918" y="668046"/>
                  </a:cubicBezTo>
                  <a:lnTo>
                    <a:pt x="981057" y="668046"/>
                  </a:lnTo>
                  <a:cubicBezTo>
                    <a:pt x="992604" y="668046"/>
                    <a:pt x="1001975" y="658676"/>
                    <a:pt x="1001975" y="647129"/>
                  </a:cubicBezTo>
                  <a:cubicBezTo>
                    <a:pt x="1001975" y="635581"/>
                    <a:pt x="992604" y="626211"/>
                    <a:pt x="981057" y="62621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27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2"/>
            <p:cNvSpPr/>
            <p:nvPr/>
          </p:nvSpPr>
          <p:spPr>
            <a:xfrm>
              <a:off x="379335" y="2012950"/>
              <a:ext cx="918398" cy="542728"/>
            </a:xfrm>
            <a:custGeom>
              <a:rect b="b" l="l" r="r" t="t"/>
              <a:pathLst>
                <a:path extrusionOk="0" h="542728" w="918398">
                  <a:moveTo>
                    <a:pt x="834916" y="0"/>
                  </a:moveTo>
                  <a:cubicBezTo>
                    <a:pt x="788916" y="0"/>
                    <a:pt x="751434" y="37482"/>
                    <a:pt x="751434" y="83482"/>
                  </a:cubicBezTo>
                  <a:cubicBezTo>
                    <a:pt x="751434" y="98910"/>
                    <a:pt x="755977" y="113203"/>
                    <a:pt x="763265" y="125602"/>
                  </a:cubicBezTo>
                  <a:lnTo>
                    <a:pt x="626589" y="262278"/>
                  </a:lnTo>
                  <a:cubicBezTo>
                    <a:pt x="614190" y="254990"/>
                    <a:pt x="599898" y="250446"/>
                    <a:pt x="584470" y="250446"/>
                  </a:cubicBezTo>
                  <a:cubicBezTo>
                    <a:pt x="558251" y="250446"/>
                    <a:pt x="535156" y="262846"/>
                    <a:pt x="519823" y="281681"/>
                  </a:cubicBezTo>
                  <a:lnTo>
                    <a:pt x="417221" y="252434"/>
                  </a:lnTo>
                  <a:cubicBezTo>
                    <a:pt x="417221" y="251772"/>
                    <a:pt x="417411" y="251109"/>
                    <a:pt x="417411" y="250446"/>
                  </a:cubicBezTo>
                  <a:cubicBezTo>
                    <a:pt x="417411" y="204446"/>
                    <a:pt x="379929" y="166964"/>
                    <a:pt x="333929" y="166964"/>
                  </a:cubicBezTo>
                  <a:cubicBezTo>
                    <a:pt x="287928" y="166964"/>
                    <a:pt x="250446" y="204446"/>
                    <a:pt x="250446" y="250446"/>
                  </a:cubicBezTo>
                  <a:cubicBezTo>
                    <a:pt x="250446" y="262562"/>
                    <a:pt x="253191" y="274015"/>
                    <a:pt x="257829" y="284426"/>
                  </a:cubicBezTo>
                  <a:lnTo>
                    <a:pt x="127400" y="388542"/>
                  </a:lnTo>
                  <a:cubicBezTo>
                    <a:pt x="114622" y="380497"/>
                    <a:pt x="99667" y="375764"/>
                    <a:pt x="83482" y="375764"/>
                  </a:cubicBezTo>
                  <a:cubicBezTo>
                    <a:pt x="37482" y="375764"/>
                    <a:pt x="0" y="413246"/>
                    <a:pt x="0" y="459246"/>
                  </a:cubicBezTo>
                  <a:cubicBezTo>
                    <a:pt x="0" y="505247"/>
                    <a:pt x="37482" y="542729"/>
                    <a:pt x="83482" y="542729"/>
                  </a:cubicBezTo>
                  <a:cubicBezTo>
                    <a:pt x="129482" y="542729"/>
                    <a:pt x="166964" y="505247"/>
                    <a:pt x="166964" y="459246"/>
                  </a:cubicBezTo>
                  <a:cubicBezTo>
                    <a:pt x="166964" y="444576"/>
                    <a:pt x="162800" y="430946"/>
                    <a:pt x="156174" y="419020"/>
                  </a:cubicBezTo>
                  <a:lnTo>
                    <a:pt x="284047" y="317081"/>
                  </a:lnTo>
                  <a:cubicBezTo>
                    <a:pt x="298056" y="327587"/>
                    <a:pt x="315188" y="334118"/>
                    <a:pt x="334023" y="334118"/>
                  </a:cubicBezTo>
                  <a:cubicBezTo>
                    <a:pt x="364595" y="334118"/>
                    <a:pt x="391192" y="317365"/>
                    <a:pt x="405674" y="292755"/>
                  </a:cubicBezTo>
                  <a:lnTo>
                    <a:pt x="502407" y="320393"/>
                  </a:lnTo>
                  <a:cubicBezTo>
                    <a:pt x="501650" y="324937"/>
                    <a:pt x="500987" y="329480"/>
                    <a:pt x="500987" y="334213"/>
                  </a:cubicBezTo>
                  <a:cubicBezTo>
                    <a:pt x="500987" y="380213"/>
                    <a:pt x="538469" y="417695"/>
                    <a:pt x="584470" y="417695"/>
                  </a:cubicBezTo>
                  <a:cubicBezTo>
                    <a:pt x="630470" y="417695"/>
                    <a:pt x="667952" y="380213"/>
                    <a:pt x="667952" y="334213"/>
                  </a:cubicBezTo>
                  <a:cubicBezTo>
                    <a:pt x="667952" y="318784"/>
                    <a:pt x="663408" y="304492"/>
                    <a:pt x="656120" y="292093"/>
                  </a:cubicBezTo>
                  <a:lnTo>
                    <a:pt x="792796" y="155417"/>
                  </a:lnTo>
                  <a:cubicBezTo>
                    <a:pt x="805196" y="162800"/>
                    <a:pt x="819488" y="167248"/>
                    <a:pt x="834916" y="167248"/>
                  </a:cubicBezTo>
                  <a:cubicBezTo>
                    <a:pt x="880916" y="167248"/>
                    <a:pt x="918398" y="129766"/>
                    <a:pt x="918398" y="83766"/>
                  </a:cubicBezTo>
                  <a:cubicBezTo>
                    <a:pt x="918398" y="37671"/>
                    <a:pt x="880916" y="284"/>
                    <a:pt x="834916" y="28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27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311700" y="2267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the Business Case</a:t>
            </a:r>
            <a:endParaRPr/>
          </a:p>
        </p:txBody>
      </p:sp>
      <p:sp>
        <p:nvSpPr>
          <p:cNvPr id="171" name="Google Shape;171;p23"/>
          <p:cNvSpPr txBox="1"/>
          <p:nvPr/>
        </p:nvSpPr>
        <p:spPr>
          <a:xfrm>
            <a:off x="416275" y="862962"/>
            <a:ext cx="8001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FROM TECHNICAL PROOF-OF-CONCEPT TO FUNDED PROGRAM</a:t>
            </a:r>
            <a:endParaRPr sz="1600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425325" y="1288413"/>
            <a:ext cx="4098600" cy="13347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500" u="none" cap="none" strike="noStrike">
                <a:solidFill>
                  <a:srgbClr val="00B4D8"/>
                </a:solidFill>
                <a:latin typeface="Space Mono"/>
                <a:ea typeface="Space Mono"/>
                <a:cs typeface="Space Mono"/>
                <a:sym typeface="Space Mono"/>
              </a:rPr>
              <a:t>01</a:t>
            </a:r>
            <a:r>
              <a:rPr b="1" lang="en" sz="1500">
                <a:solidFill>
                  <a:srgbClr val="00B4D8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b="1" i="0" lang="en" sz="1500" u="none" cap="none" strike="noStrike">
                <a:solidFill>
                  <a:srgbClr val="00B4D8"/>
                </a:solidFill>
                <a:latin typeface="Space Mono"/>
                <a:ea typeface="Space Mono"/>
                <a:cs typeface="Space Mono"/>
                <a:sym typeface="Space Mono"/>
              </a:rPr>
              <a:t>Map</a:t>
            </a:r>
            <a:r>
              <a:rPr b="1" lang="en" sz="1500">
                <a:solidFill>
                  <a:srgbClr val="00B4D8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b="1" i="0" lang="en" sz="1500" u="none" cap="none" strike="noStrike">
                <a:solidFill>
                  <a:srgbClr val="00B4D8"/>
                </a:solidFill>
                <a:latin typeface="Space Mono"/>
                <a:ea typeface="Space Mono"/>
                <a:cs typeface="Space Mono"/>
                <a:sym typeface="Space Mono"/>
              </a:rPr>
              <a:t>the Pain</a:t>
            </a:r>
            <a:endParaRPr sz="15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Document every manual incident response step. Capture engineer hours, escalation paths, and customer-impact windows. This is your baseline cost.</a:t>
            </a:r>
            <a:endParaRPr sz="1500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4620080" y="1288413"/>
            <a:ext cx="4098600" cy="13347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500" u="none" cap="none" strike="noStrike">
                <a:solidFill>
                  <a:srgbClr val="9900FF"/>
                </a:solidFill>
                <a:latin typeface="Space Mono"/>
                <a:ea typeface="Space Mono"/>
                <a:cs typeface="Space Mono"/>
                <a:sym typeface="Space Mono"/>
              </a:rPr>
              <a:t>02</a:t>
            </a:r>
            <a:r>
              <a:rPr b="1" lang="en" sz="1500">
                <a:solidFill>
                  <a:srgbClr val="9900F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b="1" i="0" lang="en" sz="1500" u="none" cap="none" strike="noStrike">
                <a:solidFill>
                  <a:srgbClr val="9900FF"/>
                </a:solidFill>
                <a:latin typeface="Space Mono"/>
                <a:ea typeface="Space Mono"/>
                <a:cs typeface="Space Mono"/>
                <a:sym typeface="Space Mono"/>
              </a:rPr>
              <a:t>Translate to Money</a:t>
            </a:r>
            <a:endParaRPr sz="1500">
              <a:solidFill>
                <a:srgbClr val="9900FF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Convert time to dollars. Use fully-loaded engineer cost, SLA penalties, and revenue-per-minute uptime figures. Finance needs a number, not a percentage.</a:t>
            </a:r>
            <a:endParaRPr sz="1500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425325" y="2755830"/>
            <a:ext cx="4098600" cy="13347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500" u="none" cap="none" strike="noStrike">
                <a:solidFill>
                  <a:srgbClr val="2EC4B6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r>
              <a:rPr b="1" lang="en" sz="1500">
                <a:solidFill>
                  <a:srgbClr val="2EC4B6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b="1" i="0" lang="en" sz="1500" u="none" cap="none" strike="noStrike">
                <a:solidFill>
                  <a:srgbClr val="2EC4B6"/>
                </a:solidFill>
                <a:latin typeface="Space Mono"/>
                <a:ea typeface="Space Mono"/>
                <a:cs typeface="Space Mono"/>
                <a:sym typeface="Space Mono"/>
              </a:rPr>
              <a:t>Run a Controlled Pilot</a:t>
            </a:r>
            <a:endParaRPr sz="15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Automate one narrow use case in a non-production environment first. Generate data. The pilot is your evidence, not your product.</a:t>
            </a:r>
            <a:endParaRPr sz="1500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4620080" y="2755830"/>
            <a:ext cx="4098600" cy="13347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500" u="none" cap="none" strike="noStrike">
                <a:solidFill>
                  <a:srgbClr val="F4A261"/>
                </a:solidFill>
                <a:latin typeface="Space Mono"/>
                <a:ea typeface="Space Mono"/>
                <a:cs typeface="Space Mono"/>
                <a:sym typeface="Space Mono"/>
              </a:rPr>
              <a:t>04</a:t>
            </a:r>
            <a:r>
              <a:rPr b="1" lang="en" sz="1500">
                <a:solidFill>
                  <a:srgbClr val="F4A261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b="1" i="0" lang="en" sz="1500" u="none" cap="none" strike="noStrike">
                <a:solidFill>
                  <a:srgbClr val="F4A261"/>
                </a:solidFill>
                <a:latin typeface="Space Mono"/>
                <a:ea typeface="Space Mono"/>
                <a:cs typeface="Space Mono"/>
                <a:sym typeface="Space Mono"/>
              </a:rPr>
              <a:t>Present the Narrative</a:t>
            </a:r>
            <a:endParaRPr sz="15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Tell a story with before/after metrics.</a:t>
            </a:r>
            <a:r>
              <a:rPr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Lead with </a:t>
            </a:r>
            <a:r>
              <a:rPr lang="en" sz="11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business drivers</a:t>
            </a:r>
            <a:r>
              <a:rPr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, not cool technology. Give executives a clear owner and an audit trail for every automated action.</a:t>
            </a:r>
            <a:endParaRPr sz="1500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416275" y="4231188"/>
            <a:ext cx="8293500" cy="572700"/>
          </a:xfrm>
          <a:prstGeom prst="rect">
            <a:avLst/>
          </a:prstGeom>
          <a:noFill/>
          <a:ln>
            <a:noFill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Key insight: </a:t>
            </a:r>
            <a:r>
              <a:rPr i="1" lang="en" sz="12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Executives fund outcomes, not architectures. Frame every slide around productivity hours retained and revenue protected.</a:t>
            </a:r>
            <a:endParaRPr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3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 txBox="1"/>
          <p:nvPr/>
        </p:nvSpPr>
        <p:spPr>
          <a:xfrm>
            <a:off x="566400" y="1198000"/>
            <a:ext cx="80112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"Trust is built through </a:t>
            </a:r>
            <a:r>
              <a:rPr b="1" lang="en" sz="26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</a:t>
            </a:r>
            <a:r>
              <a:rPr b="1" i="0" lang="en" sz="26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ransparency. If the </a:t>
            </a:r>
            <a:r>
              <a:rPr b="1" lang="en" sz="26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execs </a:t>
            </a:r>
            <a:r>
              <a:rPr b="1" i="0" lang="en" sz="26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cannot see the evidence behind an autonomous decision, they will never fund the solution."</a:t>
            </a:r>
            <a:endParaRPr sz="1300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83" name="Google Shape;183;p24"/>
          <p:cNvSpPr txBox="1"/>
          <p:nvPr/>
        </p:nvSpPr>
        <p:spPr>
          <a:xfrm>
            <a:off x="2375700" y="3530050"/>
            <a:ext cx="4392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— The 2026 Leadership Mandate</a:t>
            </a:r>
            <a:endParaRPr sz="1300">
              <a:solidFill>
                <a:schemeClr val="accent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311700" y="32508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Quantifying the ROI</a:t>
            </a:r>
            <a:endParaRPr/>
          </a:p>
        </p:txBody>
      </p:sp>
      <p:graphicFrame>
        <p:nvGraphicFramePr>
          <p:cNvPr id="189" name="Google Shape;189;p25"/>
          <p:cNvGraphicFramePr/>
          <p:nvPr/>
        </p:nvGraphicFramePr>
        <p:xfrm>
          <a:off x="440963" y="1138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{F56117D0-34DF-49EC-AA44-D9A4921A7552}</a:tableStyleId>
              </a:tblPr>
              <a:tblGrid>
                <a:gridCol w="2308125"/>
                <a:gridCol w="2006275"/>
                <a:gridCol w="2201875"/>
                <a:gridCol w="1745800"/>
              </a:tblGrid>
              <a:tr h="56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100" u="none" cap="none" strike="noStrike">
                          <a:solidFill>
                            <a:schemeClr val="accent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Impact Metric</a:t>
                      </a:r>
                      <a:endParaRPr sz="1300">
                        <a:solidFill>
                          <a:schemeClr val="accent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18287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100" u="none" cap="none" strike="noStrike">
                          <a:solidFill>
                            <a:schemeClr val="accent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Manual </a:t>
                      </a:r>
                      <a:r>
                        <a:rPr lang="en" sz="1100">
                          <a:solidFill>
                            <a:schemeClr val="accent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Mitigation</a:t>
                      </a:r>
                      <a:endParaRPr sz="1300">
                        <a:solidFill>
                          <a:schemeClr val="accent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Automatic Mitigation</a:t>
                      </a:r>
                      <a:endParaRPr sz="1300">
                        <a:solidFill>
                          <a:schemeClr val="accent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100" u="none" cap="none" strike="noStrike">
                          <a:solidFill>
                            <a:schemeClr val="accent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Benefit</a:t>
                      </a:r>
                      <a:endParaRPr sz="1300">
                        <a:solidFill>
                          <a:schemeClr val="accent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</a:tr>
              <a:tr h="56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Avg. Response Time</a:t>
                      </a:r>
                      <a:endParaRPr b="1" sz="13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18287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100" u="none" cap="none" strike="noStrike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42 Minutes</a:t>
                      </a:r>
                      <a:endParaRPr sz="13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38 Seconds</a:t>
                      </a:r>
                      <a:endParaRPr sz="11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-98.5%</a:t>
                      </a:r>
                      <a:endParaRPr b="1" sz="13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</a:tr>
              <a:tr h="56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Downtime Cost / Event</a:t>
                      </a:r>
                      <a:endParaRPr b="1" sz="13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18287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100" u="none" cap="none" strike="noStrike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$65,000</a:t>
                      </a:r>
                      <a:endParaRPr sz="13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$800</a:t>
                      </a:r>
                      <a:endParaRPr sz="11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$64k saved</a:t>
                      </a:r>
                      <a:endParaRPr b="1" sz="11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</a:tr>
              <a:tr h="56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Engineer Involvement</a:t>
                      </a:r>
                      <a:endParaRPr b="1" sz="13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18287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100" u="none" cap="none" strike="noStrike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3 Senior Staff</a:t>
                      </a:r>
                      <a:endParaRPr sz="13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1 Junior Staff</a:t>
                      </a:r>
                      <a:endParaRPr sz="11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95% reallocation</a:t>
                      </a:r>
                      <a:endParaRPr b="1" sz="11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B1B9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B3A"/>
                    </a:solidFill>
                  </a:tcPr>
                </a:tc>
              </a:tr>
            </a:tbl>
          </a:graphicData>
        </a:graphic>
      </p:graphicFrame>
      <p:grpSp>
        <p:nvGrpSpPr>
          <p:cNvPr id="190" name="Google Shape;190;p25"/>
          <p:cNvGrpSpPr/>
          <p:nvPr/>
        </p:nvGrpSpPr>
        <p:grpSpPr>
          <a:xfrm>
            <a:off x="1734417" y="3739643"/>
            <a:ext cx="5675163" cy="856336"/>
            <a:chOff x="1679250" y="3895651"/>
            <a:chExt cx="5037425" cy="760039"/>
          </a:xfrm>
        </p:grpSpPr>
        <p:sp>
          <p:nvSpPr>
            <p:cNvPr id="191" name="Google Shape;191;p25"/>
            <p:cNvSpPr txBox="1"/>
            <p:nvPr/>
          </p:nvSpPr>
          <p:spPr>
            <a:xfrm>
              <a:off x="1679250" y="4044825"/>
              <a:ext cx="97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3000" lIns="103000" spcFirstLastPara="1" rIns="103000" wrap="square" tIns="1030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28">
                  <a:solidFill>
                    <a:schemeClr val="lt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ROI=</a:t>
              </a:r>
              <a:endParaRPr sz="2028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grpSp>
          <p:nvGrpSpPr>
            <p:cNvPr id="192" name="Google Shape;192;p25"/>
            <p:cNvGrpSpPr/>
            <p:nvPr/>
          </p:nvGrpSpPr>
          <p:grpSpPr>
            <a:xfrm>
              <a:off x="2462375" y="3895651"/>
              <a:ext cx="4254300" cy="760039"/>
              <a:chOff x="2462375" y="3832089"/>
              <a:chExt cx="4254300" cy="760039"/>
            </a:xfrm>
          </p:grpSpPr>
          <p:sp>
            <p:nvSpPr>
              <p:cNvPr id="193" name="Google Shape;193;p25"/>
              <p:cNvSpPr txBox="1"/>
              <p:nvPr/>
            </p:nvSpPr>
            <p:spPr>
              <a:xfrm>
                <a:off x="2462375" y="3832089"/>
                <a:ext cx="4254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3000" lIns="103000" spcFirstLastPara="1" rIns="103000" wrap="square" tIns="10300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77">
                    <a:solidFill>
                      <a:schemeClr val="lt1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(Saved Productivity + Risk Avoidance)</a:t>
                </a:r>
                <a:endParaRPr sz="1577">
                  <a:solidFill>
                    <a:schemeClr val="lt1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194" name="Google Shape;194;p25"/>
              <p:cNvSpPr txBox="1"/>
              <p:nvPr/>
            </p:nvSpPr>
            <p:spPr>
              <a:xfrm>
                <a:off x="2462375" y="4191928"/>
                <a:ext cx="4254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3000" lIns="103000" spcFirstLastPara="1" rIns="103000" wrap="square" tIns="10300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77">
                    <a:solidFill>
                      <a:schemeClr val="lt1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Tool chaining Cost</a:t>
                </a:r>
                <a:endParaRPr sz="1577">
                  <a:solidFill>
                    <a:schemeClr val="lt1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cxnSp>
            <p:nvCxnSpPr>
              <p:cNvPr id="195" name="Google Shape;195;p25"/>
              <p:cNvCxnSpPr/>
              <p:nvPr/>
            </p:nvCxnSpPr>
            <p:spPr>
              <a:xfrm>
                <a:off x="2501075" y="4225244"/>
                <a:ext cx="4176900" cy="0"/>
              </a:xfrm>
              <a:prstGeom prst="straightConnector1">
                <a:avLst/>
              </a:prstGeom>
              <a:noFill/>
              <a:ln cap="flat" cmpd="sng" w="107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311700" y="26863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Addressing the “Black Box”</a:t>
            </a:r>
            <a:endParaRPr/>
          </a:p>
        </p:txBody>
      </p:sp>
      <p:sp>
        <p:nvSpPr>
          <p:cNvPr id="201" name="Google Shape;201;p26"/>
          <p:cNvSpPr txBox="1"/>
          <p:nvPr/>
        </p:nvSpPr>
        <p:spPr>
          <a:xfrm>
            <a:off x="416275" y="862962"/>
            <a:ext cx="8001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FROM TECHNICAL PROOF-OF-CONCEPT TO FUNDED PROGRAM</a:t>
            </a:r>
            <a:endParaRPr sz="1600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244150" y="1253613"/>
            <a:ext cx="2764200" cy="4227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EXECUTIVE CONCERN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3079501" y="1253613"/>
            <a:ext cx="2764200" cy="4227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WITHOUT GUARDRAILS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5914852" y="1253613"/>
            <a:ext cx="2985000" cy="4227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OUR SAFEGUARD</a:t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244150" y="1766225"/>
            <a:ext cx="2764200" cy="6861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“What if it blocks </a:t>
            </a:r>
            <a:br>
              <a:rPr b="1"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b="1"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legitimate traffic?”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3079501" y="1766225"/>
            <a:ext cx="2764200" cy="686100"/>
          </a:xfrm>
          <a:prstGeom prst="rect">
            <a:avLst/>
          </a:prstGeom>
          <a:solidFill>
            <a:srgbClr val="1A0A0A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08080"/>
                </a:solidFill>
                <a:latin typeface="Space Mono"/>
                <a:ea typeface="Space Mono"/>
                <a:cs typeface="Space Mono"/>
                <a:sym typeface="Space Mono"/>
              </a:rPr>
              <a:t>Unconstrained automation </a:t>
            </a:r>
            <a:br>
              <a:rPr b="1" i="0" lang="en" sz="1100" u="none" cap="none" strike="noStrike">
                <a:solidFill>
                  <a:srgbClr val="F08080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b="1" i="0" lang="en" sz="1100" u="none" cap="none" strike="noStrike">
                <a:solidFill>
                  <a:srgbClr val="F08080"/>
                </a:solidFill>
                <a:latin typeface="Space Mono"/>
                <a:ea typeface="Space Mono"/>
                <a:cs typeface="Space Mono"/>
                <a:sym typeface="Space Mono"/>
              </a:rPr>
              <a:t>with no audit trail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5914852" y="1766225"/>
            <a:ext cx="2985000" cy="686100"/>
          </a:xfrm>
          <a:prstGeom prst="rect">
            <a:avLst/>
          </a:prstGeom>
          <a:solidFill>
            <a:srgbClr val="0A1A0F"/>
          </a:solidFill>
          <a:ln cap="flat" cmpd="sng" w="95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ECC71"/>
                </a:solidFill>
                <a:latin typeface="Space Mono"/>
                <a:ea typeface="Space Mono"/>
                <a:cs typeface="Space Mono"/>
                <a:sym typeface="Space Mono"/>
              </a:rPr>
              <a:t>Confidence threshold +</a:t>
            </a:r>
            <a:br>
              <a:rPr b="1" lang="en" sz="1100">
                <a:solidFill>
                  <a:srgbClr val="2ECC71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b="1" i="0" lang="en" sz="1100" u="none" cap="none" strike="noStrike">
                <a:solidFill>
                  <a:srgbClr val="2ECC71"/>
                </a:solidFill>
                <a:latin typeface="Space Mono"/>
                <a:ea typeface="Space Mono"/>
                <a:cs typeface="Space Mono"/>
                <a:sym typeface="Space Mono"/>
              </a:rPr>
              <a:t>human approval gate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244150" y="2560381"/>
            <a:ext cx="2764200" cy="6861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“Who is accountable </a:t>
            </a:r>
            <a:br>
              <a:rPr b="1"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b="1"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when it fails?”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3079501" y="2560381"/>
            <a:ext cx="2764200" cy="686100"/>
          </a:xfrm>
          <a:prstGeom prst="rect">
            <a:avLst/>
          </a:prstGeom>
          <a:solidFill>
            <a:srgbClr val="1A0A0A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08080"/>
                </a:solidFill>
                <a:latin typeface="Space Mono"/>
                <a:ea typeface="Space Mono"/>
                <a:cs typeface="Space Mono"/>
                <a:sym typeface="Space Mono"/>
              </a:rPr>
              <a:t>Unclear ownership, </a:t>
            </a:r>
            <a:br>
              <a:rPr b="1" i="0" lang="en" sz="1100" u="none" cap="none" strike="noStrike">
                <a:solidFill>
                  <a:srgbClr val="F08080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b="1" i="0" lang="en" sz="1100" u="none" cap="none" strike="noStrike">
                <a:solidFill>
                  <a:srgbClr val="F08080"/>
                </a:solidFill>
                <a:latin typeface="Space Mono"/>
                <a:ea typeface="Space Mono"/>
                <a:cs typeface="Space Mono"/>
                <a:sym typeface="Space Mono"/>
              </a:rPr>
              <a:t>no rollback procedure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5914852" y="2560381"/>
            <a:ext cx="2985000" cy="686100"/>
          </a:xfrm>
          <a:prstGeom prst="rect">
            <a:avLst/>
          </a:prstGeom>
          <a:solidFill>
            <a:srgbClr val="0A1A0F"/>
          </a:solidFill>
          <a:ln cap="flat" cmpd="sng" w="95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ECC71"/>
                </a:solidFill>
                <a:latin typeface="Space Mono"/>
                <a:ea typeface="Space Mono"/>
                <a:cs typeface="Space Mono"/>
                <a:sym typeface="Space Mono"/>
              </a:rPr>
              <a:t>Named runbook owner + automated rollback within 60 seconds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244150" y="3354537"/>
            <a:ext cx="2764200" cy="6861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“Can we trust the observability data?”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3079501" y="3354537"/>
            <a:ext cx="2764200" cy="686100"/>
          </a:xfrm>
          <a:prstGeom prst="rect">
            <a:avLst/>
          </a:prstGeom>
          <a:solidFill>
            <a:srgbClr val="1A0A0A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08080"/>
                </a:solidFill>
                <a:latin typeface="Space Mono"/>
                <a:ea typeface="Space Mono"/>
                <a:cs typeface="Space Mono"/>
                <a:sym typeface="Space Mono"/>
              </a:rPr>
              <a:t>Single data source, </a:t>
            </a:r>
            <a:br>
              <a:rPr b="1" i="0" lang="en" sz="1100" u="none" cap="none" strike="noStrike">
                <a:solidFill>
                  <a:srgbClr val="F08080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b="1" i="0" lang="en" sz="1100" u="none" cap="none" strike="noStrike">
                <a:solidFill>
                  <a:srgbClr val="F08080"/>
                </a:solidFill>
                <a:latin typeface="Space Mono"/>
                <a:ea typeface="Space Mono"/>
                <a:cs typeface="Space Mono"/>
                <a:sym typeface="Space Mono"/>
              </a:rPr>
              <a:t>no cross-validation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5914852" y="3354537"/>
            <a:ext cx="2985000" cy="686100"/>
          </a:xfrm>
          <a:prstGeom prst="rect">
            <a:avLst/>
          </a:prstGeom>
          <a:solidFill>
            <a:srgbClr val="0A1A0F"/>
          </a:solidFill>
          <a:ln cap="flat" cmpd="sng" w="95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ECC71"/>
                </a:solidFill>
                <a:latin typeface="Space Mono"/>
                <a:ea typeface="Space Mono"/>
                <a:cs typeface="Space Mono"/>
                <a:sym typeface="Space Mono"/>
              </a:rPr>
              <a:t>Dual-source telemetry validation before any automated action fires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416275" y="4231188"/>
            <a:ext cx="8293500" cy="572700"/>
          </a:xfrm>
          <a:prstGeom prst="rect">
            <a:avLst/>
          </a:prstGeom>
          <a:noFill/>
          <a:ln>
            <a:noFill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Every concern the board raises is an opportunity to demonstrate engineering rigor — not a reason to abandon the project.</a:t>
            </a:r>
            <a:endParaRPr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359850" y="442250"/>
            <a:ext cx="470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/>
              <a:t>The "Digital Intern"</a:t>
            </a:r>
            <a:br>
              <a:rPr lang="en" sz="2380"/>
            </a:br>
            <a:r>
              <a:rPr lang="en" sz="2380"/>
              <a:t>Concept</a:t>
            </a:r>
            <a:endParaRPr sz="2380"/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423350" y="1563550"/>
            <a:ext cx="3294900" cy="31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21"/>
              <a:t>BUILDING CULTURAL TRUST</a:t>
            </a:r>
            <a:endParaRPr b="1" sz="322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They pivoted their messaging. Instead of an all-powerful "Self-Healing Network," they presented the tool-chain as a </a:t>
            </a:r>
            <a:r>
              <a:rPr b="1" lang="en"/>
              <a:t>Digital Intern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intern performs the manual toil (collecting data, injecting routes) but requires human-in-the-loop sign-off for high-risk production changes.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6"/>
                </a:solidFill>
              </a:rPr>
              <a:t>This transparency secured </a:t>
            </a:r>
            <a:br>
              <a:rPr lang="en">
                <a:solidFill>
                  <a:schemeClr val="accent6"/>
                </a:solidFill>
              </a:rPr>
            </a:br>
            <a:r>
              <a:rPr lang="en">
                <a:solidFill>
                  <a:schemeClr val="accent6"/>
                </a:solidFill>
              </a:rPr>
              <a:t>the funding.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5367000" y="835363"/>
            <a:ext cx="2147400" cy="345600"/>
          </a:xfrm>
          <a:prstGeom prst="roundRect">
            <a:avLst>
              <a:gd fmla="val 16667" name="adj"/>
            </a:avLst>
          </a:prstGeom>
          <a:solidFill>
            <a:srgbClr val="EEFF41">
              <a:alpha val="30000"/>
            </a:srgbClr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Attack signal detected</a:t>
            </a:r>
            <a:endParaRPr b="1" sz="9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4155138" y="1502813"/>
            <a:ext cx="1470600" cy="461400"/>
          </a:xfrm>
          <a:prstGeom prst="roundRect">
            <a:avLst>
              <a:gd fmla="val 16667" name="adj"/>
            </a:avLst>
          </a:prstGeom>
          <a:solidFill>
            <a:srgbClr val="2ECC71">
              <a:alpha val="30000"/>
            </a:srgbClr>
          </a:solidFill>
          <a:ln cap="flat" cmpd="sng" w="95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Data collection</a:t>
            </a:r>
            <a:endParaRPr b="1" sz="9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Traffic, logs, BGP state</a:t>
            </a:r>
            <a:endParaRPr sz="7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5705398" y="1502813"/>
            <a:ext cx="1470600" cy="461400"/>
          </a:xfrm>
          <a:prstGeom prst="roundRect">
            <a:avLst>
              <a:gd fmla="val 16667" name="adj"/>
            </a:avLst>
          </a:prstGeom>
          <a:solidFill>
            <a:srgbClr val="2ECC71">
              <a:alpha val="30000"/>
            </a:srgbClr>
          </a:solidFill>
          <a:ln cap="flat" cmpd="sng" w="95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Route injection prep</a:t>
            </a:r>
            <a:endParaRPr b="1" sz="9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Build blackhole/divert routes</a:t>
            </a:r>
            <a:endParaRPr sz="7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7255658" y="1502813"/>
            <a:ext cx="1470600" cy="461400"/>
          </a:xfrm>
          <a:prstGeom prst="roundRect">
            <a:avLst>
              <a:gd fmla="val 16667" name="adj"/>
            </a:avLst>
          </a:prstGeom>
          <a:solidFill>
            <a:srgbClr val="2ECC71">
              <a:alpha val="30000"/>
            </a:srgbClr>
          </a:solidFill>
          <a:ln cap="flat" cmpd="sng" w="95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Threat analysis</a:t>
            </a:r>
            <a:endParaRPr b="1" sz="9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Scope, impact, recommendation</a:t>
            </a:r>
            <a:endParaRPr sz="7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5367000" y="2286063"/>
            <a:ext cx="2147400" cy="430200"/>
          </a:xfrm>
          <a:prstGeom prst="roundRect">
            <a:avLst>
              <a:gd fmla="val 16667" name="adj"/>
            </a:avLst>
          </a:prstGeom>
          <a:solidFill>
            <a:srgbClr val="FFAB40">
              <a:alpha val="30000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Proposed change package</a:t>
            </a:r>
            <a:endParaRPr b="1" sz="9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Routes, rationale, impact summary</a:t>
            </a:r>
            <a:endParaRPr sz="7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5367000" y="3050150"/>
            <a:ext cx="2147400" cy="430200"/>
          </a:xfrm>
          <a:prstGeom prst="roundRect">
            <a:avLst>
              <a:gd fmla="val 16667" name="adj"/>
            </a:avLst>
          </a:prstGeom>
          <a:solidFill>
            <a:srgbClr val="EEFF41">
              <a:alpha val="30000"/>
            </a:srgbClr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Human sign-off (all changes)</a:t>
            </a:r>
            <a:endParaRPr b="1" sz="9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Engineer reviews and approves</a:t>
            </a:r>
            <a:endParaRPr sz="7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5367000" y="3814238"/>
            <a:ext cx="2147400" cy="430200"/>
          </a:xfrm>
          <a:prstGeom prst="roundRect">
            <a:avLst>
              <a:gd fmla="val 16667" name="adj"/>
            </a:avLst>
          </a:prstGeom>
          <a:solidFill>
            <a:srgbClr val="7B2D8B">
              <a:alpha val="300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Mitigation</a:t>
            </a:r>
            <a:r>
              <a:rPr b="1" lang="en" sz="9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 deployed to production </a:t>
            </a:r>
            <a:endParaRPr sz="7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4750950" y="306213"/>
            <a:ext cx="3379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Digital</a:t>
            </a:r>
            <a:r>
              <a:rPr b="1" lang="en" sz="11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 lntern – Network Automation</a:t>
            </a:r>
            <a:endParaRPr b="1" sz="11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cxnSp>
        <p:nvCxnSpPr>
          <p:cNvPr id="229" name="Google Shape;229;p27"/>
          <p:cNvCxnSpPr>
            <a:stCxn id="221" idx="2"/>
            <a:endCxn id="223" idx="0"/>
          </p:cNvCxnSpPr>
          <p:nvPr/>
        </p:nvCxnSpPr>
        <p:spPr>
          <a:xfrm flipH="1" rot="-5400000">
            <a:off x="6280050" y="1341613"/>
            <a:ext cx="321900" cy="6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7"/>
          <p:cNvCxnSpPr>
            <a:stCxn id="221" idx="2"/>
            <a:endCxn id="222" idx="0"/>
          </p:cNvCxnSpPr>
          <p:nvPr/>
        </p:nvCxnSpPr>
        <p:spPr>
          <a:xfrm rot="5400000">
            <a:off x="5504550" y="566713"/>
            <a:ext cx="321900" cy="1550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7"/>
          <p:cNvCxnSpPr>
            <a:stCxn id="221" idx="2"/>
            <a:endCxn id="224" idx="0"/>
          </p:cNvCxnSpPr>
          <p:nvPr/>
        </p:nvCxnSpPr>
        <p:spPr>
          <a:xfrm flipH="1" rot="-5400000">
            <a:off x="7054950" y="566713"/>
            <a:ext cx="321900" cy="1550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7"/>
          <p:cNvCxnSpPr>
            <a:stCxn id="222" idx="2"/>
            <a:endCxn id="225" idx="0"/>
          </p:cNvCxnSpPr>
          <p:nvPr/>
        </p:nvCxnSpPr>
        <p:spPr>
          <a:xfrm flipH="1" rot="-5400000">
            <a:off x="5504688" y="1349963"/>
            <a:ext cx="321900" cy="1550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7"/>
          <p:cNvCxnSpPr>
            <a:stCxn id="223" idx="2"/>
            <a:endCxn id="225" idx="0"/>
          </p:cNvCxnSpPr>
          <p:nvPr/>
        </p:nvCxnSpPr>
        <p:spPr>
          <a:xfrm flipH="1" rot="-5400000">
            <a:off x="6280048" y="2124863"/>
            <a:ext cx="321900" cy="6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7"/>
          <p:cNvCxnSpPr>
            <a:stCxn id="224" idx="2"/>
            <a:endCxn id="225" idx="0"/>
          </p:cNvCxnSpPr>
          <p:nvPr/>
        </p:nvCxnSpPr>
        <p:spPr>
          <a:xfrm rot="5400000">
            <a:off x="7054808" y="1349963"/>
            <a:ext cx="321900" cy="1550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7"/>
          <p:cNvCxnSpPr>
            <a:stCxn id="225" idx="2"/>
            <a:endCxn id="226" idx="0"/>
          </p:cNvCxnSpPr>
          <p:nvPr/>
        </p:nvCxnSpPr>
        <p:spPr>
          <a:xfrm flipH="1" rot="-5400000">
            <a:off x="6274050" y="2882913"/>
            <a:ext cx="333900" cy="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27"/>
          <p:cNvCxnSpPr>
            <a:stCxn id="226" idx="2"/>
            <a:endCxn id="227" idx="0"/>
          </p:cNvCxnSpPr>
          <p:nvPr/>
        </p:nvCxnSpPr>
        <p:spPr>
          <a:xfrm flipH="1" rot="-5400000">
            <a:off x="6274050" y="3647000"/>
            <a:ext cx="333900" cy="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37" name="Google Shape;237;p27"/>
          <p:cNvGrpSpPr/>
          <p:nvPr/>
        </p:nvGrpSpPr>
        <p:grpSpPr>
          <a:xfrm>
            <a:off x="4027938" y="4503549"/>
            <a:ext cx="4826124" cy="197700"/>
            <a:chOff x="4154938" y="4655936"/>
            <a:chExt cx="4826124" cy="197700"/>
          </a:xfrm>
        </p:grpSpPr>
        <p:grpSp>
          <p:nvGrpSpPr>
            <p:cNvPr id="238" name="Google Shape;238;p27"/>
            <p:cNvGrpSpPr/>
            <p:nvPr/>
          </p:nvGrpSpPr>
          <p:grpSpPr>
            <a:xfrm>
              <a:off x="4154938" y="4655936"/>
              <a:ext cx="1279678" cy="197700"/>
              <a:chOff x="4346150" y="4691950"/>
              <a:chExt cx="1279678" cy="197700"/>
            </a:xfrm>
          </p:grpSpPr>
          <p:sp>
            <p:nvSpPr>
              <p:cNvPr id="239" name="Google Shape;239;p27"/>
              <p:cNvSpPr/>
              <p:nvPr/>
            </p:nvSpPr>
            <p:spPr>
              <a:xfrm>
                <a:off x="4346150" y="4691950"/>
                <a:ext cx="197700" cy="197700"/>
              </a:xfrm>
              <a:prstGeom prst="roundRect">
                <a:avLst>
                  <a:gd fmla="val 16667" name="adj"/>
                </a:avLst>
              </a:prstGeom>
              <a:solidFill>
                <a:srgbClr val="EEFF41">
                  <a:alpha val="30000"/>
                </a:srgbClr>
              </a:solidFill>
              <a:ln cap="flat" cmpd="sng" w="952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240" name="Google Shape;240;p27"/>
              <p:cNvSpPr txBox="1"/>
              <p:nvPr/>
            </p:nvSpPr>
            <p:spPr>
              <a:xfrm>
                <a:off x="4639728" y="4730700"/>
                <a:ext cx="9861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Figtree"/>
                    <a:ea typeface="Figtree"/>
                    <a:cs typeface="Figtree"/>
                    <a:sym typeface="Figtree"/>
                  </a:rPr>
                  <a:t>Human touchpoints</a:t>
                </a:r>
                <a:endParaRPr sz="800"/>
              </a:p>
            </p:txBody>
          </p:sp>
        </p:grpSp>
        <p:grpSp>
          <p:nvGrpSpPr>
            <p:cNvPr id="241" name="Google Shape;241;p27"/>
            <p:cNvGrpSpPr/>
            <p:nvPr/>
          </p:nvGrpSpPr>
          <p:grpSpPr>
            <a:xfrm>
              <a:off x="5561538" y="4655936"/>
              <a:ext cx="1279678" cy="197700"/>
              <a:chOff x="4346150" y="4691950"/>
              <a:chExt cx="1279678" cy="197700"/>
            </a:xfrm>
          </p:grpSpPr>
          <p:sp>
            <p:nvSpPr>
              <p:cNvPr id="242" name="Google Shape;242;p27"/>
              <p:cNvSpPr/>
              <p:nvPr/>
            </p:nvSpPr>
            <p:spPr>
              <a:xfrm>
                <a:off x="4346150" y="4691950"/>
                <a:ext cx="197700" cy="197700"/>
              </a:xfrm>
              <a:prstGeom prst="roundRect">
                <a:avLst>
                  <a:gd fmla="val 16667" name="adj"/>
                </a:avLst>
              </a:prstGeom>
              <a:solidFill>
                <a:srgbClr val="2ECC71">
                  <a:alpha val="30000"/>
                </a:srgbClr>
              </a:solidFill>
              <a:ln cap="flat" cmpd="sng" w="9525">
                <a:solidFill>
                  <a:srgbClr val="2ECC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243" name="Google Shape;243;p27"/>
              <p:cNvSpPr txBox="1"/>
              <p:nvPr/>
            </p:nvSpPr>
            <p:spPr>
              <a:xfrm>
                <a:off x="4639728" y="4730700"/>
                <a:ext cx="9861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Figtree"/>
                    <a:ea typeface="Figtree"/>
                    <a:cs typeface="Figtree"/>
                    <a:sym typeface="Figtree"/>
                  </a:rPr>
                  <a:t>Intern (manual toll)</a:t>
                </a:r>
                <a:endParaRPr sz="800"/>
              </a:p>
            </p:txBody>
          </p:sp>
        </p:grpSp>
        <p:grpSp>
          <p:nvGrpSpPr>
            <p:cNvPr id="244" name="Google Shape;244;p27"/>
            <p:cNvGrpSpPr/>
            <p:nvPr/>
          </p:nvGrpSpPr>
          <p:grpSpPr>
            <a:xfrm>
              <a:off x="8113582" y="4655936"/>
              <a:ext cx="867479" cy="197700"/>
              <a:chOff x="4346150" y="4691950"/>
              <a:chExt cx="867479" cy="197700"/>
            </a:xfrm>
          </p:grpSpPr>
          <p:sp>
            <p:nvSpPr>
              <p:cNvPr id="245" name="Google Shape;245;p27"/>
              <p:cNvSpPr/>
              <p:nvPr/>
            </p:nvSpPr>
            <p:spPr>
              <a:xfrm>
                <a:off x="4346150" y="4691950"/>
                <a:ext cx="197700" cy="197700"/>
              </a:xfrm>
              <a:prstGeom prst="roundRect">
                <a:avLst>
                  <a:gd fmla="val 16667" name="adj"/>
                </a:avLst>
              </a:prstGeom>
              <a:solidFill>
                <a:srgbClr val="7B2D8B">
                  <a:alpha val="30000"/>
                </a:srgbClr>
              </a:solidFill>
              <a:ln cap="flat" cmpd="sng" w="9525">
                <a:solidFill>
                  <a:srgbClr val="99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246" name="Google Shape;246;p27"/>
              <p:cNvSpPr txBox="1"/>
              <p:nvPr/>
            </p:nvSpPr>
            <p:spPr>
              <a:xfrm>
                <a:off x="4639729" y="4730700"/>
                <a:ext cx="5739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Figtree"/>
                    <a:ea typeface="Figtree"/>
                    <a:cs typeface="Figtree"/>
                    <a:sym typeface="Figtree"/>
                  </a:rPr>
                  <a:t>Production</a:t>
                </a:r>
                <a:endParaRPr sz="800"/>
              </a:p>
            </p:txBody>
          </p:sp>
        </p:grpSp>
        <p:grpSp>
          <p:nvGrpSpPr>
            <p:cNvPr id="247" name="Google Shape;247;p27"/>
            <p:cNvGrpSpPr/>
            <p:nvPr/>
          </p:nvGrpSpPr>
          <p:grpSpPr>
            <a:xfrm>
              <a:off x="6878379" y="4655936"/>
              <a:ext cx="1279678" cy="197700"/>
              <a:chOff x="4346150" y="4691950"/>
              <a:chExt cx="1279678" cy="197700"/>
            </a:xfrm>
          </p:grpSpPr>
          <p:sp>
            <p:nvSpPr>
              <p:cNvPr id="248" name="Google Shape;248;p27"/>
              <p:cNvSpPr/>
              <p:nvPr/>
            </p:nvSpPr>
            <p:spPr>
              <a:xfrm>
                <a:off x="4346150" y="4691950"/>
                <a:ext cx="197700" cy="197700"/>
              </a:xfrm>
              <a:prstGeom prst="roundRect">
                <a:avLst>
                  <a:gd fmla="val 16667" name="adj"/>
                </a:avLst>
              </a:prstGeom>
              <a:solidFill>
                <a:srgbClr val="FFAB40">
                  <a:alpha val="30000"/>
                </a:srgbClr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249" name="Google Shape;249;p27"/>
              <p:cNvSpPr txBox="1"/>
              <p:nvPr/>
            </p:nvSpPr>
            <p:spPr>
              <a:xfrm>
                <a:off x="4639728" y="4730700"/>
                <a:ext cx="9861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Figtree"/>
                    <a:ea typeface="Figtree"/>
                    <a:cs typeface="Figtree"/>
                    <a:sym typeface="Figtree"/>
                  </a:rPr>
                  <a:t>Change package</a:t>
                </a:r>
                <a:endParaRPr sz="800"/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/>
          <p:nvPr/>
        </p:nvSpPr>
        <p:spPr>
          <a:xfrm flipH="1" rot="10800000">
            <a:off x="0" y="3661800"/>
            <a:ext cx="9144000" cy="14958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255" name="Google Shape;255;p28"/>
          <p:cNvGrpSpPr/>
          <p:nvPr/>
        </p:nvGrpSpPr>
        <p:grpSpPr>
          <a:xfrm>
            <a:off x="-57" y="1908850"/>
            <a:ext cx="9143612" cy="236350"/>
            <a:chOff x="649050" y="1887679"/>
            <a:chExt cx="7845900" cy="236350"/>
          </a:xfrm>
        </p:grpSpPr>
        <p:cxnSp>
          <p:nvCxnSpPr>
            <p:cNvPr id="256" name="Google Shape;256;p28"/>
            <p:cNvCxnSpPr/>
            <p:nvPr/>
          </p:nvCxnSpPr>
          <p:spPr>
            <a:xfrm>
              <a:off x="649050" y="1887679"/>
              <a:ext cx="7845900" cy="0"/>
            </a:xfrm>
            <a:prstGeom prst="straightConnector1">
              <a:avLst/>
            </a:prstGeom>
            <a:noFill/>
            <a:ln cap="flat" cmpd="sng" w="38100">
              <a:solidFill>
                <a:srgbClr val="1C2B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28"/>
            <p:cNvCxnSpPr/>
            <p:nvPr/>
          </p:nvCxnSpPr>
          <p:spPr>
            <a:xfrm>
              <a:off x="649050" y="2124029"/>
              <a:ext cx="7845900" cy="0"/>
            </a:xfrm>
            <a:prstGeom prst="straightConnector1">
              <a:avLst/>
            </a:prstGeom>
            <a:noFill/>
            <a:ln cap="flat" cmpd="sng" w="38100">
              <a:solidFill>
                <a:srgbClr val="1C2B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28"/>
            <p:cNvCxnSpPr/>
            <p:nvPr/>
          </p:nvCxnSpPr>
          <p:spPr>
            <a:xfrm>
              <a:off x="649050" y="2005854"/>
              <a:ext cx="7845900" cy="0"/>
            </a:xfrm>
            <a:prstGeom prst="straightConnector1">
              <a:avLst/>
            </a:prstGeom>
            <a:noFill/>
            <a:ln cap="flat" cmpd="sng" w="38100">
              <a:solidFill>
                <a:srgbClr val="1C2B3A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59" name="Google Shape;2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 To Autonomy</a:t>
            </a:r>
            <a:endParaRPr/>
          </a:p>
        </p:txBody>
      </p:sp>
      <p:sp>
        <p:nvSpPr>
          <p:cNvPr id="260" name="Google Shape;260;p28"/>
          <p:cNvSpPr txBox="1"/>
          <p:nvPr/>
        </p:nvSpPr>
        <p:spPr>
          <a:xfrm>
            <a:off x="1536300" y="4014408"/>
            <a:ext cx="60714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6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"Move at the speed of software, but with </a:t>
            </a:r>
            <a:br>
              <a:rPr i="0" lang="en" sz="16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i="0" lang="en" sz="1600" u="none" cap="none" strike="noStrike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the safety of a network engineer."</a:t>
            </a:r>
            <a:endParaRPr sz="1600"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1270000" y="1485529"/>
            <a:ext cx="599700" cy="599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3311400" y="1485529"/>
            <a:ext cx="599700" cy="599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5352800" y="1485529"/>
            <a:ext cx="599700" cy="599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7394200" y="1485529"/>
            <a:ext cx="599700" cy="599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5" name="Google Shape;265;p28"/>
          <p:cNvSpPr txBox="1"/>
          <p:nvPr/>
        </p:nvSpPr>
        <p:spPr>
          <a:xfrm>
            <a:off x="791950" y="2318088"/>
            <a:ext cx="15558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rPr>
              <a:t>PHASE 1</a:t>
            </a:r>
            <a:endParaRPr b="1" sz="1100">
              <a:solidFill>
                <a:schemeClr val="accen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OBSERVE</a:t>
            </a:r>
            <a:endParaRPr b="1" sz="16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BGP Flowspec </a:t>
            </a:r>
            <a:br>
              <a:rPr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to Device</a:t>
            </a:r>
            <a:endParaRPr b="1" sz="1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2833350" y="2318088"/>
            <a:ext cx="15558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accent4"/>
                </a:solidFill>
                <a:latin typeface="Space Mono"/>
                <a:ea typeface="Space Mono"/>
                <a:cs typeface="Space Mono"/>
                <a:sym typeface="Space Mono"/>
              </a:rPr>
              <a:t>PHASE 2</a:t>
            </a:r>
            <a:endParaRPr b="1" sz="1100">
              <a:solidFill>
                <a:schemeClr val="accent4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CHAIN</a:t>
            </a:r>
            <a:endParaRPr b="1" sz="11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API Alert + BGP Flowspec</a:t>
            </a:r>
            <a:endParaRPr sz="1000"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7" name="Google Shape;267;p28"/>
          <p:cNvSpPr txBox="1"/>
          <p:nvPr/>
        </p:nvSpPr>
        <p:spPr>
          <a:xfrm>
            <a:off x="4874750" y="2318088"/>
            <a:ext cx="15558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accent5"/>
                </a:solidFill>
                <a:latin typeface="Space Mono"/>
                <a:ea typeface="Space Mono"/>
                <a:cs typeface="Space Mono"/>
                <a:sym typeface="Space Mono"/>
              </a:rPr>
              <a:t>PHASE 3</a:t>
            </a:r>
            <a:endParaRPr b="1" sz="1100">
              <a:solidFill>
                <a:schemeClr val="accent5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AGENTIZE</a:t>
            </a:r>
            <a:endParaRPr b="1" sz="11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AI Guided </a:t>
            </a:r>
            <a:br>
              <a:rPr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Human Decision</a:t>
            </a:r>
            <a:endParaRPr sz="1000"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6916150" y="2318088"/>
            <a:ext cx="15558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9900FF"/>
                </a:solidFill>
                <a:latin typeface="Space Mono"/>
                <a:ea typeface="Space Mono"/>
                <a:cs typeface="Space Mono"/>
                <a:sym typeface="Space Mono"/>
              </a:rPr>
              <a:t>PHASE 4</a:t>
            </a:r>
            <a:endParaRPr b="1" sz="1100">
              <a:solidFill>
                <a:srgbClr val="9900FF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AUTONOMY</a:t>
            </a:r>
            <a:endParaRPr b="1" sz="11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Agentic</a:t>
            </a:r>
            <a:br>
              <a:rPr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Action</a:t>
            </a:r>
            <a:endParaRPr sz="1000"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1439124" y="1610353"/>
            <a:ext cx="261461" cy="350068"/>
          </a:xfrm>
          <a:custGeom>
            <a:rect b="b" l="l" r="r" t="t"/>
            <a:pathLst>
              <a:path extrusionOk="0" h="2295525" w="1714500">
                <a:moveTo>
                  <a:pt x="742979" y="2238318"/>
                </a:moveTo>
                <a:cubicBezTo>
                  <a:pt x="769906" y="2274313"/>
                  <a:pt x="812321" y="2295525"/>
                  <a:pt x="857250" y="2295525"/>
                </a:cubicBezTo>
                <a:cubicBezTo>
                  <a:pt x="902179" y="2295525"/>
                  <a:pt x="944594" y="2274313"/>
                  <a:pt x="971521" y="2238318"/>
                </a:cubicBezTo>
                <a:lnTo>
                  <a:pt x="1543441" y="1371124"/>
                </a:lnTo>
                <a:cubicBezTo>
                  <a:pt x="1655340" y="1221972"/>
                  <a:pt x="1714500" y="1044359"/>
                  <a:pt x="1714500" y="857250"/>
                </a:cubicBezTo>
                <a:cubicBezTo>
                  <a:pt x="1714500" y="384534"/>
                  <a:pt x="1329966" y="0"/>
                  <a:pt x="857250" y="0"/>
                </a:cubicBezTo>
                <a:cubicBezTo>
                  <a:pt x="384534" y="0"/>
                  <a:pt x="0" y="384534"/>
                  <a:pt x="0" y="857250"/>
                </a:cubicBezTo>
                <a:cubicBezTo>
                  <a:pt x="0" y="1044216"/>
                  <a:pt x="59160" y="1221972"/>
                  <a:pt x="171059" y="1371124"/>
                </a:cubicBezTo>
                <a:lnTo>
                  <a:pt x="742979" y="2238318"/>
                </a:lnTo>
                <a:close/>
                <a:moveTo>
                  <a:pt x="857250" y="428625"/>
                </a:moveTo>
                <a:cubicBezTo>
                  <a:pt x="1093603" y="428625"/>
                  <a:pt x="1285875" y="620897"/>
                  <a:pt x="1285875" y="857250"/>
                </a:cubicBezTo>
                <a:cubicBezTo>
                  <a:pt x="1285875" y="1093603"/>
                  <a:pt x="1093603" y="1285875"/>
                  <a:pt x="857250" y="1285875"/>
                </a:cubicBezTo>
                <a:cubicBezTo>
                  <a:pt x="620897" y="1285875"/>
                  <a:pt x="428625" y="1093603"/>
                  <a:pt x="428625" y="857250"/>
                </a:cubicBezTo>
                <a:cubicBezTo>
                  <a:pt x="428625" y="620897"/>
                  <a:pt x="620897" y="428625"/>
                  <a:pt x="857250" y="4286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225" lIns="8475" spcFirstLastPara="1" rIns="8475" wrap="square" tIns="4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">
              <a:solidFill>
                <a:srgbClr val="189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3480524" y="1610366"/>
            <a:ext cx="261461" cy="350068"/>
          </a:xfrm>
          <a:custGeom>
            <a:rect b="b" l="l" r="r" t="t"/>
            <a:pathLst>
              <a:path extrusionOk="0" h="2295525" w="1714500">
                <a:moveTo>
                  <a:pt x="742979" y="2238318"/>
                </a:moveTo>
                <a:cubicBezTo>
                  <a:pt x="769906" y="2274313"/>
                  <a:pt x="812321" y="2295525"/>
                  <a:pt x="857250" y="2295525"/>
                </a:cubicBezTo>
                <a:cubicBezTo>
                  <a:pt x="902179" y="2295525"/>
                  <a:pt x="944594" y="2274313"/>
                  <a:pt x="971521" y="2238318"/>
                </a:cubicBezTo>
                <a:lnTo>
                  <a:pt x="1543441" y="1371124"/>
                </a:lnTo>
                <a:cubicBezTo>
                  <a:pt x="1655340" y="1221972"/>
                  <a:pt x="1714500" y="1044359"/>
                  <a:pt x="1714500" y="857250"/>
                </a:cubicBezTo>
                <a:cubicBezTo>
                  <a:pt x="1714500" y="384534"/>
                  <a:pt x="1329966" y="0"/>
                  <a:pt x="857250" y="0"/>
                </a:cubicBezTo>
                <a:cubicBezTo>
                  <a:pt x="384534" y="0"/>
                  <a:pt x="0" y="384534"/>
                  <a:pt x="0" y="857250"/>
                </a:cubicBezTo>
                <a:cubicBezTo>
                  <a:pt x="0" y="1044216"/>
                  <a:pt x="59160" y="1221972"/>
                  <a:pt x="171059" y="1371124"/>
                </a:cubicBezTo>
                <a:lnTo>
                  <a:pt x="742979" y="2238318"/>
                </a:lnTo>
                <a:close/>
                <a:moveTo>
                  <a:pt x="857250" y="428625"/>
                </a:moveTo>
                <a:cubicBezTo>
                  <a:pt x="1093603" y="428625"/>
                  <a:pt x="1285875" y="620897"/>
                  <a:pt x="1285875" y="857250"/>
                </a:cubicBezTo>
                <a:cubicBezTo>
                  <a:pt x="1285875" y="1093603"/>
                  <a:pt x="1093603" y="1285875"/>
                  <a:pt x="857250" y="1285875"/>
                </a:cubicBezTo>
                <a:cubicBezTo>
                  <a:pt x="620897" y="1285875"/>
                  <a:pt x="428625" y="1093603"/>
                  <a:pt x="428625" y="857250"/>
                </a:cubicBezTo>
                <a:cubicBezTo>
                  <a:pt x="428625" y="620897"/>
                  <a:pt x="620897" y="428625"/>
                  <a:pt x="857250" y="42862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225" lIns="8475" spcFirstLastPara="1" rIns="8475" wrap="square" tIns="4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">
              <a:solidFill>
                <a:srgbClr val="189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5521924" y="1610366"/>
            <a:ext cx="261461" cy="350068"/>
          </a:xfrm>
          <a:custGeom>
            <a:rect b="b" l="l" r="r" t="t"/>
            <a:pathLst>
              <a:path extrusionOk="0" h="2295525" w="1714500">
                <a:moveTo>
                  <a:pt x="742979" y="2238318"/>
                </a:moveTo>
                <a:cubicBezTo>
                  <a:pt x="769906" y="2274313"/>
                  <a:pt x="812321" y="2295525"/>
                  <a:pt x="857250" y="2295525"/>
                </a:cubicBezTo>
                <a:cubicBezTo>
                  <a:pt x="902179" y="2295525"/>
                  <a:pt x="944594" y="2274313"/>
                  <a:pt x="971521" y="2238318"/>
                </a:cubicBezTo>
                <a:lnTo>
                  <a:pt x="1543441" y="1371124"/>
                </a:lnTo>
                <a:cubicBezTo>
                  <a:pt x="1655340" y="1221972"/>
                  <a:pt x="1714500" y="1044359"/>
                  <a:pt x="1714500" y="857250"/>
                </a:cubicBezTo>
                <a:cubicBezTo>
                  <a:pt x="1714500" y="384534"/>
                  <a:pt x="1329966" y="0"/>
                  <a:pt x="857250" y="0"/>
                </a:cubicBezTo>
                <a:cubicBezTo>
                  <a:pt x="384534" y="0"/>
                  <a:pt x="0" y="384534"/>
                  <a:pt x="0" y="857250"/>
                </a:cubicBezTo>
                <a:cubicBezTo>
                  <a:pt x="0" y="1044216"/>
                  <a:pt x="59160" y="1221972"/>
                  <a:pt x="171059" y="1371124"/>
                </a:cubicBezTo>
                <a:lnTo>
                  <a:pt x="742979" y="2238318"/>
                </a:lnTo>
                <a:close/>
                <a:moveTo>
                  <a:pt x="857250" y="428625"/>
                </a:moveTo>
                <a:cubicBezTo>
                  <a:pt x="1093603" y="428625"/>
                  <a:pt x="1285875" y="620897"/>
                  <a:pt x="1285875" y="857250"/>
                </a:cubicBezTo>
                <a:cubicBezTo>
                  <a:pt x="1285875" y="1093603"/>
                  <a:pt x="1093603" y="1285875"/>
                  <a:pt x="857250" y="1285875"/>
                </a:cubicBezTo>
                <a:cubicBezTo>
                  <a:pt x="620897" y="1285875"/>
                  <a:pt x="428625" y="1093603"/>
                  <a:pt x="428625" y="857250"/>
                </a:cubicBezTo>
                <a:cubicBezTo>
                  <a:pt x="428625" y="620897"/>
                  <a:pt x="620897" y="428625"/>
                  <a:pt x="857250" y="42862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225" lIns="8475" spcFirstLastPara="1" rIns="8475" wrap="square" tIns="4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">
              <a:solidFill>
                <a:srgbClr val="189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7563324" y="1610366"/>
            <a:ext cx="261461" cy="350068"/>
          </a:xfrm>
          <a:custGeom>
            <a:rect b="b" l="l" r="r" t="t"/>
            <a:pathLst>
              <a:path extrusionOk="0" h="2295525" w="1714500">
                <a:moveTo>
                  <a:pt x="742979" y="2238318"/>
                </a:moveTo>
                <a:cubicBezTo>
                  <a:pt x="769906" y="2274313"/>
                  <a:pt x="812321" y="2295525"/>
                  <a:pt x="857250" y="2295525"/>
                </a:cubicBezTo>
                <a:cubicBezTo>
                  <a:pt x="902179" y="2295525"/>
                  <a:pt x="944594" y="2274313"/>
                  <a:pt x="971521" y="2238318"/>
                </a:cubicBezTo>
                <a:lnTo>
                  <a:pt x="1543441" y="1371124"/>
                </a:lnTo>
                <a:cubicBezTo>
                  <a:pt x="1655340" y="1221972"/>
                  <a:pt x="1714500" y="1044359"/>
                  <a:pt x="1714500" y="857250"/>
                </a:cubicBezTo>
                <a:cubicBezTo>
                  <a:pt x="1714500" y="384534"/>
                  <a:pt x="1329966" y="0"/>
                  <a:pt x="857250" y="0"/>
                </a:cubicBezTo>
                <a:cubicBezTo>
                  <a:pt x="384534" y="0"/>
                  <a:pt x="0" y="384534"/>
                  <a:pt x="0" y="857250"/>
                </a:cubicBezTo>
                <a:cubicBezTo>
                  <a:pt x="0" y="1044216"/>
                  <a:pt x="59160" y="1221972"/>
                  <a:pt x="171059" y="1371124"/>
                </a:cubicBezTo>
                <a:lnTo>
                  <a:pt x="742979" y="2238318"/>
                </a:lnTo>
                <a:close/>
                <a:moveTo>
                  <a:pt x="857250" y="428625"/>
                </a:moveTo>
                <a:cubicBezTo>
                  <a:pt x="1093603" y="428625"/>
                  <a:pt x="1285875" y="620897"/>
                  <a:pt x="1285875" y="857250"/>
                </a:cubicBezTo>
                <a:cubicBezTo>
                  <a:pt x="1285875" y="1093603"/>
                  <a:pt x="1093603" y="1285875"/>
                  <a:pt x="857250" y="1285875"/>
                </a:cubicBezTo>
                <a:cubicBezTo>
                  <a:pt x="620897" y="1285875"/>
                  <a:pt x="428625" y="1093603"/>
                  <a:pt x="428625" y="857250"/>
                </a:cubicBezTo>
                <a:cubicBezTo>
                  <a:pt x="428625" y="620897"/>
                  <a:pt x="620897" y="428625"/>
                  <a:pt x="857250" y="428625"/>
                </a:cubicBezTo>
                <a:close/>
              </a:path>
            </a:pathLst>
          </a:custGeom>
          <a:solidFill>
            <a:srgbClr val="9900FF"/>
          </a:solidFill>
          <a:ln>
            <a:noFill/>
          </a:ln>
        </p:spPr>
        <p:txBody>
          <a:bodyPr anchorCtr="0" anchor="ctr" bIns="4225" lIns="8475" spcFirstLastPara="1" rIns="8475" wrap="square" tIns="4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28"/>
          <p:cNvCxnSpPr>
            <a:stCxn id="261" idx="4"/>
            <a:endCxn id="265" idx="0"/>
          </p:cNvCxnSpPr>
          <p:nvPr/>
        </p:nvCxnSpPr>
        <p:spPr>
          <a:xfrm>
            <a:off x="1569850" y="2085229"/>
            <a:ext cx="0" cy="232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8"/>
          <p:cNvCxnSpPr>
            <a:stCxn id="262" idx="4"/>
            <a:endCxn id="266" idx="0"/>
          </p:cNvCxnSpPr>
          <p:nvPr/>
        </p:nvCxnSpPr>
        <p:spPr>
          <a:xfrm>
            <a:off x="3611250" y="2085229"/>
            <a:ext cx="0" cy="232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8"/>
          <p:cNvCxnSpPr>
            <a:stCxn id="263" idx="4"/>
            <a:endCxn id="267" idx="0"/>
          </p:cNvCxnSpPr>
          <p:nvPr/>
        </p:nvCxnSpPr>
        <p:spPr>
          <a:xfrm>
            <a:off x="5652650" y="2085229"/>
            <a:ext cx="0" cy="232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8"/>
          <p:cNvCxnSpPr/>
          <p:nvPr/>
        </p:nvCxnSpPr>
        <p:spPr>
          <a:xfrm>
            <a:off x="7694050" y="2085229"/>
            <a:ext cx="0" cy="30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/>
          <p:nvPr>
            <p:ph type="title"/>
          </p:nvPr>
        </p:nvSpPr>
        <p:spPr>
          <a:xfrm>
            <a:off x="311700" y="19102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Your Team Ready for Autonomy?</a:t>
            </a:r>
            <a:endParaRPr/>
          </a:p>
        </p:txBody>
      </p:sp>
      <p:sp>
        <p:nvSpPr>
          <p:cNvPr id="282" name="Google Shape;282;p29"/>
          <p:cNvSpPr txBox="1"/>
          <p:nvPr/>
        </p:nvSpPr>
        <p:spPr>
          <a:xfrm>
            <a:off x="571500" y="811942"/>
            <a:ext cx="8001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THE SOCIOTECHNICAL READINESS CHECKLIST</a:t>
            </a:r>
            <a:endParaRPr sz="1600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442025" y="1231275"/>
            <a:ext cx="3699900" cy="29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u="none" cap="none" strike="noStrike">
                <a:solidFill>
                  <a:srgbClr val="060B13"/>
                </a:solidFill>
                <a:latin typeface="Space Mono"/>
                <a:ea typeface="Space Mono"/>
                <a:cs typeface="Space Mono"/>
                <a:sym typeface="Space Mono"/>
              </a:rPr>
              <a:t>TECHNICAL READINESS</a:t>
            </a:r>
            <a:endParaRPr sz="1600"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442025" y="1524075"/>
            <a:ext cx="3699900" cy="27939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 anchorCtr="0" anchor="t" bIns="182875" lIns="228600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aphicFrame>
        <p:nvGraphicFramePr>
          <p:cNvPr id="285" name="Google Shape;285;p29"/>
          <p:cNvGraphicFramePr/>
          <p:nvPr/>
        </p:nvGraphicFramePr>
        <p:xfrm>
          <a:off x="588050" y="169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{93EDD3D1-55A7-4631-857C-63D0723CECB6}</a:tableStyleId>
              </a:tblPr>
              <a:tblGrid>
                <a:gridCol w="772600"/>
                <a:gridCol w="2635250"/>
              </a:tblGrid>
              <a:tr h="39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✓</a:t>
                      </a:r>
                      <a:endParaRPr b="1" sz="2000">
                        <a:solidFill>
                          <a:schemeClr val="accen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 anchor="ctr">
                    <a:solidFill>
                      <a:srgbClr val="4285F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High-fidelity telemetry in place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/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accen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✓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 anchor="ctr">
                    <a:solidFill>
                      <a:srgbClr val="4285F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Documented API calls for each tool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/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accen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✓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 anchor="ctr">
                    <a:solidFill>
                      <a:srgbClr val="4285F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Event-driven middleware or orchestration layer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/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accen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✓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 anchor="ctr">
                    <a:solidFill>
                      <a:srgbClr val="4285F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Rollback mechanism tested in staging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/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accen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✓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 anchor="ctr">
                    <a:solidFill>
                      <a:srgbClr val="4285F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Immutable audit log for every action taken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6" name="Google Shape;286;p29"/>
          <p:cNvSpPr/>
          <p:nvPr/>
        </p:nvSpPr>
        <p:spPr>
          <a:xfrm>
            <a:off x="4456675" y="1231275"/>
            <a:ext cx="4245300" cy="29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1" anchor="ctr" bIns="91425" lIns="18287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>
                <a:solidFill>
                  <a:srgbClr val="060B13"/>
                </a:solidFill>
                <a:latin typeface="Space Mono"/>
                <a:ea typeface="Space Mono"/>
                <a:cs typeface="Space Mono"/>
                <a:sym typeface="Space Mono"/>
              </a:rPr>
              <a:t>ORGANIZATIONAL READINESS</a:t>
            </a:r>
            <a:endParaRPr b="1">
              <a:solidFill>
                <a:srgbClr val="060B13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4456675" y="1524075"/>
            <a:ext cx="4245300" cy="27939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 anchorCtr="0" anchor="t" bIns="182875" lIns="228600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aphicFrame>
        <p:nvGraphicFramePr>
          <p:cNvPr id="288" name="Google Shape;288;p29"/>
          <p:cNvGraphicFramePr/>
          <p:nvPr/>
        </p:nvGraphicFramePr>
        <p:xfrm>
          <a:off x="4609375" y="169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{93EDD3D1-55A7-4631-857C-63D0723CECB6}</a:tableStyleId>
              </a:tblPr>
              <a:tblGrid>
                <a:gridCol w="895550"/>
                <a:gridCol w="3054675"/>
              </a:tblGrid>
              <a:tr h="39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✓</a:t>
                      </a:r>
                      <a:endParaRPr b="1" sz="2000">
                        <a:solidFill>
                          <a:schemeClr val="accent4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 anchor="ctr">
                    <a:solidFill>
                      <a:srgbClr val="FFAB4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Executive sponsor identified and briefed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/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✓</a:t>
                      </a:r>
                      <a:endParaRPr sz="1000">
                        <a:solidFill>
                          <a:schemeClr val="accent4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 anchor="ctr">
                    <a:solidFill>
                      <a:srgbClr val="FFAB4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Team trained on “human-in-the-loop” escalation policy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/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✓</a:t>
                      </a:r>
                      <a:endParaRPr sz="1000">
                        <a:solidFill>
                          <a:schemeClr val="accent4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 anchor="ctr">
                    <a:solidFill>
                      <a:srgbClr val="FFAB4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Change management runbook approved by ops and security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/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✓</a:t>
                      </a:r>
                      <a:endParaRPr sz="1000">
                        <a:solidFill>
                          <a:schemeClr val="accent4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 anchor="ctr">
                    <a:solidFill>
                      <a:srgbClr val="FFAB4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Success metrics agreed upon before go-live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/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✓</a:t>
                      </a:r>
                      <a:endParaRPr sz="1000">
                        <a:solidFill>
                          <a:schemeClr val="accent4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 anchor="ctr">
                    <a:solidFill>
                      <a:srgbClr val="FFAB4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Quarterly review cadence with leadership established</a:t>
                      </a:r>
                      <a:endParaRPr sz="1000">
                        <a:solidFill>
                          <a:schemeClr val="lt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9" name="Google Shape;289;p29"/>
          <p:cNvSpPr txBox="1"/>
          <p:nvPr/>
        </p:nvSpPr>
        <p:spPr>
          <a:xfrm>
            <a:off x="913650" y="4452050"/>
            <a:ext cx="731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Rule of thumb: </a:t>
            </a:r>
            <a:r>
              <a:rPr i="1" lang="en" sz="1000">
                <a:solidFill>
                  <a:srgbClr val="B1B9C5"/>
                </a:solidFill>
                <a:latin typeface="Space Mono"/>
                <a:ea typeface="Space Mono"/>
                <a:cs typeface="Space Mono"/>
                <a:sym typeface="Space Mono"/>
              </a:rPr>
              <a:t>If you cannot answer “what happens when it goes wrong?” in under 30 seconds, your org is not yet ready for production autonomy.</a:t>
            </a:r>
            <a:endParaRPr sz="1200">
              <a:solidFill>
                <a:srgbClr val="B1B9C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"/>
          <p:cNvSpPr txBox="1"/>
          <p:nvPr>
            <p:ph type="title"/>
          </p:nvPr>
        </p:nvSpPr>
        <p:spPr>
          <a:xfrm>
            <a:off x="403431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Path Forward</a:t>
            </a:r>
            <a:endParaRPr/>
          </a:p>
        </p:txBody>
      </p:sp>
      <p:sp>
        <p:nvSpPr>
          <p:cNvPr id="295" name="Google Shape;295;p30"/>
          <p:cNvSpPr txBox="1"/>
          <p:nvPr/>
        </p:nvSpPr>
        <p:spPr>
          <a:xfrm>
            <a:off x="522106" y="1080075"/>
            <a:ext cx="330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STRATEGIC VALUE REALIZATION</a:t>
            </a:r>
            <a:endParaRPr b="1">
              <a:solidFill>
                <a:schemeClr val="accent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96" name="Google Shape;296;p30"/>
          <p:cNvSpPr txBox="1"/>
          <p:nvPr>
            <p:ph idx="1" type="body"/>
          </p:nvPr>
        </p:nvSpPr>
        <p:spPr>
          <a:xfrm>
            <a:off x="403431" y="1756822"/>
            <a:ext cx="3646500" cy="27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40"/>
              <a:t>This journey proves that Network Autonomy is a Sociotechnical challenge. Success requires aligning deep technical requirements with high-level business goals.</a:t>
            </a:r>
            <a:endParaRPr sz="144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  <a:buSzPts val="605"/>
              <a:buNone/>
            </a:pPr>
            <a:r>
              <a:rPr lang="en" sz="1440"/>
              <a:t>The question is not </a:t>
            </a:r>
            <a:br>
              <a:rPr lang="en" sz="1440"/>
            </a:br>
            <a:r>
              <a:rPr lang="en" sz="1440"/>
              <a:t>"Can we automate?" but "Can we communicate the value of the automation?"</a:t>
            </a:r>
            <a:endParaRPr sz="1440"/>
          </a:p>
        </p:txBody>
      </p:sp>
      <p:sp>
        <p:nvSpPr>
          <p:cNvPr id="297" name="Google Shape;297;p30"/>
          <p:cNvSpPr/>
          <p:nvPr/>
        </p:nvSpPr>
        <p:spPr>
          <a:xfrm>
            <a:off x="4480275" y="0"/>
            <a:ext cx="4663800" cy="5143500"/>
          </a:xfrm>
          <a:prstGeom prst="rect">
            <a:avLst/>
          </a:prstGeom>
          <a:solidFill>
            <a:srgbClr val="272725"/>
          </a:solidFill>
          <a:ln>
            <a:noFill/>
          </a:ln>
        </p:spPr>
        <p:txBody>
          <a:bodyPr anchorCtr="0" anchor="ctr" bIns="87800" lIns="87800" spcFirstLastPara="1" rIns="87800" wrap="square" tIns="87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4"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298" name="Google Shape;2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8435" y="474961"/>
            <a:ext cx="3727500" cy="4193700"/>
          </a:xfrm>
          <a:prstGeom prst="roundRect">
            <a:avLst>
              <a:gd fmla="val 254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/>
          <p:nvPr>
            <p:ph type="title"/>
          </p:nvPr>
        </p:nvSpPr>
        <p:spPr>
          <a:xfrm>
            <a:off x="311700" y="27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304" name="Google Shape;304;p31"/>
          <p:cNvSpPr txBox="1"/>
          <p:nvPr/>
        </p:nvSpPr>
        <p:spPr>
          <a:xfrm>
            <a:off x="571500" y="882492"/>
            <a:ext cx="8001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accent6"/>
                </a:solidFill>
                <a:latin typeface="Space Mono"/>
                <a:ea typeface="Space Mono"/>
                <a:cs typeface="Space Mono"/>
                <a:sym typeface="Space Mono"/>
              </a:rPr>
              <a:t>WHAT TO REMEMBER WHEN YOU LEAVE THIS ROOM</a:t>
            </a:r>
            <a:endParaRPr b="1" sz="1300">
              <a:solidFill>
                <a:schemeClr val="accent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336625" y="1377050"/>
            <a:ext cx="4172400" cy="1035300"/>
          </a:xfrm>
          <a:prstGeom prst="rect">
            <a:avLst/>
          </a:prstGeom>
          <a:solidFill>
            <a:srgbClr val="1C2B3A"/>
          </a:solidFill>
          <a:ln cap="flat" cmpd="sng" w="987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825" lIns="189675" spcFirstLastPara="1" rIns="94825" wrap="square" tIns="94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i="0" lang="en" sz="1245" u="none" cap="none" strike="noStrike">
                <a:solidFill>
                  <a:srgbClr val="00B4D8"/>
                </a:solidFill>
                <a:latin typeface="Space Mono"/>
                <a:ea typeface="Space Mono"/>
                <a:cs typeface="Space Mono"/>
                <a:sym typeface="Space Mono"/>
              </a:rPr>
              <a:t>Autonomy is a Sociotechnical Problem</a:t>
            </a:r>
            <a:endParaRPr sz="1452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rPr i="0" lang="en" sz="1037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Technical excellence alone will not get your project funded. You must align engineering capability with executive </a:t>
            </a:r>
            <a:r>
              <a:rPr lang="en" sz="1037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metrics</a:t>
            </a:r>
            <a:r>
              <a:rPr i="0" lang="en" sz="1037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.</a:t>
            </a:r>
            <a:endParaRPr sz="1452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4634963" y="1377050"/>
            <a:ext cx="4172400" cy="1035300"/>
          </a:xfrm>
          <a:prstGeom prst="rect">
            <a:avLst/>
          </a:prstGeom>
          <a:solidFill>
            <a:srgbClr val="1C2B3A"/>
          </a:solidFill>
          <a:ln cap="flat" cmpd="sng" w="9875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825" lIns="189675" spcFirstLastPara="1" rIns="94825" wrap="square" tIns="94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i="0" lang="en" sz="1245" u="none" cap="none" strike="noStrike">
                <a:solidFill>
                  <a:srgbClr val="E9C46A"/>
                </a:solidFill>
                <a:latin typeface="Space Mono"/>
                <a:ea typeface="Space Mono"/>
                <a:cs typeface="Space Mono"/>
                <a:sym typeface="Space Mono"/>
              </a:rPr>
              <a:t>Observability is the Foundation</a:t>
            </a:r>
            <a:endParaRPr sz="1452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rPr i="0" lang="en" sz="1037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Without high-fidelity telemetry, autonomous decisions lack the evidence needed to justify action — or earn board approval.</a:t>
            </a:r>
            <a:endParaRPr sz="1452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07" name="Google Shape;307;p31"/>
          <p:cNvSpPr/>
          <p:nvPr/>
        </p:nvSpPr>
        <p:spPr>
          <a:xfrm>
            <a:off x="336625" y="2548613"/>
            <a:ext cx="4172400" cy="1035300"/>
          </a:xfrm>
          <a:prstGeom prst="rect">
            <a:avLst/>
          </a:prstGeom>
          <a:solidFill>
            <a:srgbClr val="1C2B3A"/>
          </a:solidFill>
          <a:ln cap="flat" cmpd="sng" w="9875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825" lIns="189675" spcFirstLastPara="1" rIns="94825" wrap="square" tIns="94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i="0" lang="en" sz="1245" u="none" cap="none" strike="noStrike">
                <a:solidFill>
                  <a:srgbClr val="2EC4B6"/>
                </a:solidFill>
                <a:latin typeface="Space Mono"/>
                <a:ea typeface="Space Mono"/>
                <a:cs typeface="Space Mono"/>
                <a:sym typeface="Space Mono"/>
              </a:rPr>
              <a:t>Measure in Business Outcomes</a:t>
            </a:r>
            <a:endParaRPr sz="1452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rPr i="0" lang="en" sz="1037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42 min → 38 sec MTTR. $64k saved per event.</a:t>
            </a:r>
            <a:br>
              <a:rPr lang="en" sz="1037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i="0" lang="en" sz="1037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95% engineer reallocation. Report these numbers, not packets per second.</a:t>
            </a:r>
            <a:endParaRPr sz="1452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4634963" y="2548613"/>
            <a:ext cx="4172400" cy="1035300"/>
          </a:xfrm>
          <a:prstGeom prst="rect">
            <a:avLst/>
          </a:prstGeom>
          <a:solidFill>
            <a:srgbClr val="1C2B3A"/>
          </a:solidFill>
          <a:ln cap="flat" cmpd="sng" w="987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825" lIns="189675" spcFirstLastPara="1" rIns="94825" wrap="square" tIns="94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i="0" lang="en" sz="1245" u="none" cap="none" strike="noStrike">
                <a:solidFill>
                  <a:srgbClr val="F4A261"/>
                </a:solidFill>
                <a:latin typeface="Space Mono"/>
                <a:ea typeface="Space Mono"/>
                <a:cs typeface="Space Mono"/>
                <a:sym typeface="Space Mono"/>
              </a:rPr>
              <a:t>The “Digital Intern” Wins Funding</a:t>
            </a:r>
            <a:endParaRPr sz="1452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rPr i="0" lang="en" sz="1037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Frame automation as a transparent, supervised assistant — not an all-powerful black box. Transparency secures the budget.</a:t>
            </a:r>
            <a:endParaRPr sz="1452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336625" y="3720176"/>
            <a:ext cx="4172400" cy="1035300"/>
          </a:xfrm>
          <a:prstGeom prst="rect">
            <a:avLst/>
          </a:prstGeom>
          <a:solidFill>
            <a:srgbClr val="1C2B3A"/>
          </a:solidFill>
          <a:ln cap="flat" cmpd="sng" w="98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825" lIns="189675" spcFirstLastPara="1" rIns="94825" wrap="square" tIns="94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i="0" lang="en" sz="1245" u="none" cap="none" strike="noStrike">
                <a:solidFill>
                  <a:srgbClr val="9900FF"/>
                </a:solidFill>
                <a:latin typeface="Space Mono"/>
                <a:ea typeface="Space Mono"/>
                <a:cs typeface="Space Mono"/>
                <a:sym typeface="Space Mono"/>
              </a:rPr>
              <a:t>Phase Your Roadmap</a:t>
            </a:r>
            <a:endParaRPr sz="1452">
              <a:solidFill>
                <a:srgbClr val="9900FF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rPr i="0" lang="en" sz="1037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Observe → Chain → Agentize → Autonomy. Each phase must prove ROI before the next begins.</a:t>
            </a:r>
            <a:endParaRPr sz="1452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4634963" y="3720176"/>
            <a:ext cx="4172400" cy="1035300"/>
          </a:xfrm>
          <a:prstGeom prst="rect">
            <a:avLst/>
          </a:prstGeom>
          <a:solidFill>
            <a:srgbClr val="1C2B3A"/>
          </a:solidFill>
          <a:ln cap="flat" cmpd="sng" w="987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825" lIns="189675" spcFirstLastPara="1" rIns="94825" wrap="square" tIns="94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i="0" lang="en" sz="1245" u="none" cap="none" strike="noStrike">
                <a:solidFill>
                  <a:srgbClr val="2ECC71"/>
                </a:solidFill>
                <a:latin typeface="Space Mono"/>
                <a:ea typeface="Space Mono"/>
                <a:cs typeface="Space Mono"/>
                <a:sym typeface="Space Mono"/>
              </a:rPr>
              <a:t>Readiness Before Production</a:t>
            </a:r>
            <a:endParaRPr sz="1452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rPr i="0" lang="en" sz="1037" u="none" cap="none" strike="noStrik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Technical and organizational readiness are equally important. If you cannot explain the failure mode, you are not ready.</a:t>
            </a:r>
            <a:endParaRPr sz="1452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 txBox="1"/>
          <p:nvPr>
            <p:ph type="title"/>
          </p:nvPr>
        </p:nvSpPr>
        <p:spPr>
          <a:xfrm>
            <a:off x="311700" y="39240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AF AC0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