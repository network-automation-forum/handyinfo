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278" r:id="rId23"/>
    <p:sldId id="279" r:id="rId24"/>
    <p:sldId id="280" r:id="rId2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p:restoredTop sz="71505"/>
  </p:normalViewPr>
  <p:slideViewPr>
    <p:cSldViewPr snapToGrid="0" snapToObjects="1">
      <p:cViewPr varScale="1">
        <p:scale>
          <a:sx n="60" d="100"/>
          <a:sy n="60" d="100"/>
        </p:scale>
        <p:origin x="106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767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No single right answer, on a spectrum </a:t>
            </a:r>
          </a:p>
          <a:p>
            <a:pPr marL="171450" indent="-171450">
              <a:buFontTx/>
              <a:buChar char="-"/>
            </a:pPr>
            <a:r>
              <a:rPr lang="en-US" dirty="0"/>
              <a:t>Pick the one that fits your situation and needs </a:t>
            </a:r>
          </a:p>
          <a:p>
            <a:pPr marL="171450" indent="-171450">
              <a:buFontTx/>
              <a:buChar char="-"/>
            </a:pPr>
            <a:r>
              <a:rPr lang="en-US" dirty="0"/>
              <a:t>In short, what can we do in this AI age so we can sleep at night </a:t>
            </a:r>
            <a:r>
              <a:rPr lang="en-US" dirty="0">
                <a:sym typeface="Wingdings" pitchFamily="2" charset="2"/>
              </a:rPr>
              <a:t> </a:t>
            </a: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Network Automation Advocate at Network to Code. </a:t>
            </a:r>
          </a:p>
          <a:p>
            <a:pPr marL="171450" indent="-171450">
              <a:buFontTx/>
              <a:buChar char="-"/>
            </a:pPr>
            <a:r>
              <a:rPr lang="en-US" dirty="0"/>
              <a:t>I've been doing this network automation thing for a while, which is a polite way of saying I've broken a lot of networks </a:t>
            </a:r>
          </a:p>
          <a:p>
            <a:pPr marL="171450" indent="-171450">
              <a:buFontTx/>
              <a:buChar char="-"/>
            </a:pPr>
            <a:r>
              <a:rPr lang="en-US" dirty="0"/>
              <a:t>Author, blogger, podcaster</a:t>
            </a:r>
          </a:p>
          <a:p>
            <a:pPr marL="171450" indent="-171450">
              <a:buFontTx/>
              <a:buChar char="-"/>
            </a:pPr>
            <a:r>
              <a:rPr lang="en-US" dirty="0"/>
              <a:t>Today is not a sales pitch.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What we will talk about today: Overview, Landscape, The Path, Summarized in closing</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a:t>
            </a:r>
            <a:br>
              <a:rPr lang="en-US" dirty="0"/>
            </a:br>
            <a:r>
              <a:rPr lang="en-US" dirty="0"/>
              <a:t>- network engineers are one of the most, if not the most, risk adverse bunch. </a:t>
            </a:r>
          </a:p>
          <a:p>
            <a:pPr marL="171450" indent="-171450">
              <a:buFontTx/>
              <a:buChar char="-"/>
            </a:pPr>
            <a:r>
              <a:rPr lang="en-US" dirty="0"/>
              <a:t>We might choose a 2am maintenance window over continuous integration to minimize the risk</a:t>
            </a:r>
          </a:p>
          <a:p>
            <a:pPr marL="171450" indent="-171450">
              <a:buFontTx/>
              <a:buChar char="-"/>
            </a:pPr>
            <a:r>
              <a:rPr lang="en-US" dirty="0"/>
              <a:t>Network engineers just don’t want to ring to go off (confession: that ‘phone’ actually  read ‘pager’ in first draft)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Why ‘Just fix my BGP’ does not work? – This is the demo, art of the possible.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Trust. We can’t use anything we don’t understand, we haven’t used enough, and catch us when all failed.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CFCFCF"/>
                </a:solidFill>
                <a:latin typeface="Courier New" pitchFamily="34" charset="0"/>
                <a:ea typeface="Courier New" pitchFamily="34" charset="-122"/>
                <a:cs typeface="Courier New" pitchFamily="34" charset="-120"/>
              </a:rPr>
              <a:t>We have to design around if any of this is going to help us.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ea typeface="Courier New" pitchFamily="34" charset="-122"/>
                <a:cs typeface="Courier New" pitchFamily="34" charset="-120"/>
              </a:rPr>
              <a:t>Opportunities </a:t>
            </a:r>
            <a:r>
              <a:rPr lang="en-US" sz="1200" b="1" dirty="0">
                <a:solidFill>
                  <a:srgbClr val="FFFF00"/>
                </a:solidFill>
                <a:latin typeface="Courier New" pitchFamily="34" charset="0"/>
                <a:ea typeface="Courier New" pitchFamily="34" charset="-122"/>
                <a:cs typeface="Courier New" pitchFamily="34" charset="-120"/>
              </a:rPr>
              <a:t>and </a:t>
            </a:r>
            <a:r>
              <a:rPr lang="en-US" sz="1200" dirty="0">
                <a:solidFill>
                  <a:srgbClr val="6B6B6B"/>
                </a:solidFill>
                <a:latin typeface="Courier New" pitchFamily="34" charset="0"/>
                <a:ea typeface="Courier New" pitchFamily="34" charset="-122"/>
                <a:cs typeface="Courier New" pitchFamily="34" charset="-120"/>
              </a:rPr>
              <a:t>Landmines. Same table. Same tool. Pick it up wrong and you lose a finger.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ea typeface="Courier New" pitchFamily="34" charset="-122"/>
                <a:cs typeface="Courier New" pitchFamily="34" charset="-120"/>
              </a:rPr>
              <a:t>We have done it before: Python, Ansible, vendor tools.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dirty="0">
              <a:solidFill>
                <a:srgbClr val="6B6B6B"/>
              </a:solidFill>
              <a:latin typeface="Courier New" pitchFamily="34" charset="0"/>
              <a:cs typeface="Courier New" pitchFamily="34" charset="-120"/>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Fragile: breaks under stress of volatility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Resilient: withstand stress and stays the same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Antifragile: Actually improves, grows, and thrives because of volatility.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This is our Antifragile moment. </a:t>
            </a:r>
            <a:endParaRPr lang="en-US" sz="120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We will never get to our destination if we don’t know where we are going</a:t>
            </a:r>
          </a:p>
          <a:p>
            <a:pPr marL="171450" indent="-171450">
              <a:buFontTx/>
              <a:buChar char="-"/>
            </a:pPr>
            <a:r>
              <a:rPr lang="en-US" dirty="0"/>
              <a:t>We need a map, and the starting point on that map is to understand the landscape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start with the models. </a:t>
            </a:r>
          </a:p>
          <a:p>
            <a:endParaRPr lang="en-US" dirty="0"/>
          </a:p>
          <a:p>
            <a:r>
              <a:rPr lang="en-US" dirty="0"/>
              <a:t>Generally speaking, we can categorize the LLMs into three buckets: </a:t>
            </a:r>
          </a:p>
          <a:p>
            <a:endParaRPr lang="en-US" dirty="0"/>
          </a:p>
          <a:p>
            <a:pPr marL="171450" indent="-171450">
              <a:buFontTx/>
              <a:buChar char="-"/>
            </a:pPr>
            <a:r>
              <a:rPr lang="en-US" dirty="0"/>
              <a:t>Hosted</a:t>
            </a:r>
          </a:p>
          <a:p>
            <a:pPr marL="171450" indent="-171450">
              <a:buFontTx/>
              <a:buChar char="-"/>
            </a:pPr>
            <a:r>
              <a:rPr lang="en-US" dirty="0"/>
              <a:t>Local </a:t>
            </a:r>
          </a:p>
          <a:p>
            <a:pPr marL="171450" indent="-171450">
              <a:buFontTx/>
              <a:buChar char="-"/>
            </a:pPr>
            <a:r>
              <a:rPr lang="en-US" dirty="0"/>
              <a:t>Hybrid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Hosted models are what most of us started</a:t>
            </a:r>
          </a:p>
          <a:p>
            <a:pPr marL="171450" indent="-171450">
              <a:buFontTx/>
              <a:buChar char="-"/>
            </a:pPr>
            <a:r>
              <a:rPr lang="en-US" dirty="0"/>
              <a:t>Least friction, but restricted by providers</a:t>
            </a:r>
          </a:p>
          <a:p>
            <a:pPr marL="171450" indent="-171450">
              <a:buFontTx/>
              <a:buChar char="-"/>
            </a:pPr>
            <a:r>
              <a:rPr lang="en-US" dirty="0"/>
              <a:t>Our trust and guardrails are limited to what is available to us (prompt, restrictions, collaborations)</a:t>
            </a:r>
          </a:p>
          <a:p>
            <a:pPr marL="171450" indent="-171450">
              <a:buFontTx/>
              <a:buChar char="-"/>
            </a:pPr>
            <a:r>
              <a:rPr lang="en-US" dirty="0"/>
              <a:t>We don’t control it, the model can be gone tomorrow.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Local models: you own it, but you break it you fix it too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Hybrid: AWS / Azure, use other’s model but a rented hardware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Decision </a:t>
            </a:r>
            <a:r>
              <a:rPr lang="en-US" dirty="0" err="1"/>
              <a:t>criterias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picked our starting point, the next step is to start the process. </a:t>
            </a:r>
          </a:p>
          <a:p>
            <a:endParaRPr lang="en-US" dirty="0"/>
          </a:p>
          <a:p>
            <a:pPr marL="171450" indent="-171450">
              <a:buFontTx/>
              <a:buChar char="-"/>
            </a:pPr>
            <a:r>
              <a:rPr lang="en-US" dirty="0"/>
              <a:t>Restricted by last step, of course</a:t>
            </a:r>
          </a:p>
          <a:p>
            <a:pPr marL="171450" indent="-171450">
              <a:buFontTx/>
              <a:buChar char="-"/>
            </a:pPr>
            <a:r>
              <a:rPr lang="en-US" dirty="0"/>
              <a:t>But also some evergreen process: Establish trust, Engineer for the better, Integrate into tools and processes, then feedback.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Going one step further </a:t>
            </a:r>
          </a:p>
          <a:p>
            <a:pPr marL="171450" indent="-171450">
              <a:buFontTx/>
              <a:buChar char="-"/>
            </a:pPr>
            <a:r>
              <a:rPr lang="en-US" dirty="0"/>
              <a:t>Trust &amp; guardrails</a:t>
            </a:r>
          </a:p>
          <a:p>
            <a:pPr marL="171450" indent="-171450">
              <a:buFontTx/>
              <a:buChar char="-"/>
            </a:pPr>
            <a:r>
              <a:rPr lang="en-US" dirty="0"/>
              <a:t>Engineering</a:t>
            </a:r>
          </a:p>
          <a:p>
            <a:pPr marL="171450" indent="-171450">
              <a:buFontTx/>
              <a:buChar char="-"/>
            </a:pPr>
            <a:r>
              <a:rPr lang="en-US" dirty="0"/>
              <a:t>Integration</a:t>
            </a:r>
          </a:p>
          <a:p>
            <a:pPr marL="171450" indent="-171450">
              <a:buFontTx/>
              <a:buChar char="-"/>
            </a:pPr>
            <a:r>
              <a:rPr lang="en-US" dirty="0"/>
              <a:t>Feedback and Evolve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Your trust and guardrails depend on where your models are</a:t>
            </a:r>
          </a:p>
          <a:p>
            <a:pPr marL="171450" indent="-171450">
              <a:buFontTx/>
              <a:buChar char="-"/>
            </a:pPr>
            <a:r>
              <a:rPr lang="en-US" dirty="0"/>
              <a:t>Prompt engineering</a:t>
            </a:r>
          </a:p>
          <a:p>
            <a:pPr marL="171450" indent="-171450">
              <a:buFontTx/>
              <a:buChar char="-"/>
            </a:pPr>
            <a:r>
              <a:rPr lang="en-US" dirty="0"/>
              <a:t>Establish logs and traces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Engineer the inputs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Validate the outputs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Integration with other tools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Integrate with process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Establish feedback loop (AI Eval)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Summary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01 - </a:t>
            </a:r>
            <a:r>
              <a:rPr lang="en-US" sz="1200" dirty="0">
                <a:solidFill>
                  <a:srgbClr val="CFCFCF"/>
                </a:solidFill>
                <a:latin typeface="Courier New" pitchFamily="34" charset="0"/>
                <a:ea typeface="Courier New" pitchFamily="34" charset="-122"/>
                <a:cs typeface="Courier New" pitchFamily="34" charset="-120"/>
              </a:rPr>
              <a:t>Picks </a:t>
            </a:r>
            <a:r>
              <a:rPr lang="en-US" sz="1200" b="1" dirty="0">
                <a:solidFill>
                  <a:srgbClr val="FFFF00"/>
                </a:solidFill>
                <a:latin typeface="Courier New" pitchFamily="34" charset="0"/>
                <a:ea typeface="Courier New" pitchFamily="34" charset="-122"/>
                <a:cs typeface="Courier New" pitchFamily="34" charset="-120"/>
              </a:rPr>
              <a:t>hosted</a:t>
            </a:r>
            <a:r>
              <a:rPr lang="en-US" sz="1200" dirty="0">
                <a:solidFill>
                  <a:srgbClr val="CFCFCF"/>
                </a:solidFill>
                <a:latin typeface="Courier New" pitchFamily="34" charset="0"/>
                <a:ea typeface="Courier New" pitchFamily="34" charset="-122"/>
                <a:cs typeface="Courier New" pitchFamily="34" charset="-120"/>
              </a:rPr>
              <a:t>, </a:t>
            </a:r>
            <a:r>
              <a:rPr lang="en-US" sz="1200" b="1" dirty="0">
                <a:solidFill>
                  <a:srgbClr val="FFFF00"/>
                </a:solidFill>
                <a:latin typeface="Courier New" pitchFamily="34" charset="0"/>
                <a:ea typeface="Courier New" pitchFamily="34" charset="-122"/>
                <a:cs typeface="Courier New" pitchFamily="34" charset="-120"/>
              </a:rPr>
              <a:t>local</a:t>
            </a:r>
            <a:r>
              <a:rPr lang="en-US" sz="1200" dirty="0">
                <a:solidFill>
                  <a:srgbClr val="CFCFCF"/>
                </a:solidFill>
                <a:latin typeface="Courier New" pitchFamily="34" charset="0"/>
                <a:ea typeface="Courier New" pitchFamily="34" charset="-122"/>
                <a:cs typeface="Courier New" pitchFamily="34" charset="-120"/>
              </a:rPr>
              <a:t>, or </a:t>
            </a:r>
            <a:r>
              <a:rPr lang="en-US" sz="1200" b="1" dirty="0">
                <a:solidFill>
                  <a:srgbClr val="FFFF00"/>
                </a:solidFill>
                <a:latin typeface="Courier New" pitchFamily="34" charset="0"/>
                <a:ea typeface="Courier New" pitchFamily="34" charset="-122"/>
                <a:cs typeface="Courier New" pitchFamily="34" charset="-120"/>
              </a:rPr>
              <a:t>hybrid </a:t>
            </a:r>
            <a:r>
              <a:rPr lang="en-US" sz="1200" dirty="0">
                <a:solidFill>
                  <a:srgbClr val="CFCFCF"/>
                </a:solidFill>
                <a:latin typeface="Courier New" pitchFamily="34" charset="0"/>
                <a:ea typeface="Courier New" pitchFamily="34" charset="-122"/>
                <a:cs typeface="Courier New" pitchFamily="34" charset="-120"/>
              </a:rPr>
              <a:t>. If your security team has an opinion, this is already answered. Be honest about regulation and sovereignty before you negotiate with yourself about cost.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02 - </a:t>
            </a:r>
            <a:r>
              <a:rPr lang="en-US" sz="1200" dirty="0">
                <a:solidFill>
                  <a:srgbClr val="CFCFCF"/>
                </a:solidFill>
                <a:latin typeface="Courier New" pitchFamily="34" charset="0"/>
                <a:ea typeface="Courier New" pitchFamily="34" charset="-122"/>
                <a:cs typeface="Courier New" pitchFamily="34" charset="-120"/>
              </a:rPr>
              <a:t>Picks </a:t>
            </a:r>
            <a:r>
              <a:rPr lang="en-US" sz="1200" b="1" dirty="0">
                <a:solidFill>
                  <a:srgbClr val="FFFF00"/>
                </a:solidFill>
                <a:latin typeface="Courier New" pitchFamily="34" charset="0"/>
                <a:ea typeface="Courier New" pitchFamily="34" charset="-122"/>
                <a:cs typeface="Courier New" pitchFamily="34" charset="-120"/>
              </a:rPr>
              <a:t>zero-shot</a:t>
            </a:r>
            <a:r>
              <a:rPr lang="en-US" sz="1200" dirty="0">
                <a:solidFill>
                  <a:srgbClr val="CFCFCF"/>
                </a:solidFill>
                <a:latin typeface="Courier New" pitchFamily="34" charset="0"/>
                <a:ea typeface="Courier New" pitchFamily="34" charset="-122"/>
                <a:cs typeface="Courier New" pitchFamily="34" charset="-120"/>
              </a:rPr>
              <a:t>, </a:t>
            </a:r>
            <a:r>
              <a:rPr lang="en-US" sz="1200" b="1" dirty="0">
                <a:solidFill>
                  <a:srgbClr val="FFFF00"/>
                </a:solidFill>
                <a:latin typeface="Courier New" pitchFamily="34" charset="0"/>
                <a:ea typeface="Courier New" pitchFamily="34" charset="-122"/>
                <a:cs typeface="Courier New" pitchFamily="34" charset="-120"/>
              </a:rPr>
              <a:t>few-shot</a:t>
            </a:r>
            <a:r>
              <a:rPr lang="en-US" sz="1200" dirty="0">
                <a:solidFill>
                  <a:srgbClr val="CFCFCF"/>
                </a:solidFill>
                <a:latin typeface="Courier New" pitchFamily="34" charset="0"/>
                <a:ea typeface="Courier New" pitchFamily="34" charset="-122"/>
                <a:cs typeface="Courier New" pitchFamily="34" charset="-120"/>
              </a:rPr>
              <a:t>, or </a:t>
            </a:r>
            <a:r>
              <a:rPr lang="en-US" sz="1200" b="1" dirty="0">
                <a:solidFill>
                  <a:srgbClr val="FFFF00"/>
                </a:solidFill>
                <a:latin typeface="Courier New" pitchFamily="34" charset="0"/>
                <a:ea typeface="Courier New" pitchFamily="34" charset="-122"/>
                <a:cs typeface="Courier New" pitchFamily="34" charset="-120"/>
              </a:rPr>
              <a:t>RAG </a:t>
            </a:r>
            <a:r>
              <a:rPr lang="en-US" sz="1200" dirty="0">
                <a:solidFill>
                  <a:srgbClr val="CFCFCF"/>
                </a:solidFill>
                <a:latin typeface="Courier New" pitchFamily="34" charset="0"/>
                <a:ea typeface="Courier New" pitchFamily="34" charset="-122"/>
                <a:cs typeface="Courier New" pitchFamily="34" charset="-120"/>
              </a:rPr>
              <a:t>. Default to the simplest one that works. Every layer past that costs you tokens, latency, and a debugging surface area you will eventually regret.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03 - </a:t>
            </a:r>
            <a:r>
              <a:rPr lang="en-US" sz="1200" dirty="0">
                <a:solidFill>
                  <a:srgbClr val="CFCFCF"/>
                </a:solidFill>
                <a:latin typeface="Courier New" pitchFamily="34" charset="0"/>
                <a:ea typeface="Courier New" pitchFamily="34" charset="-122"/>
                <a:cs typeface="Courier New" pitchFamily="34" charset="-120"/>
              </a:rPr>
              <a:t>Picks how many </a:t>
            </a:r>
            <a:r>
              <a:rPr lang="en-US" sz="1200" b="1" dirty="0">
                <a:solidFill>
                  <a:srgbClr val="FFFF00"/>
                </a:solidFill>
                <a:latin typeface="Courier New" pitchFamily="34" charset="0"/>
                <a:ea typeface="Courier New" pitchFamily="34" charset="-122"/>
                <a:cs typeface="Courier New" pitchFamily="34" charset="-120"/>
              </a:rPr>
              <a:t>humans </a:t>
            </a:r>
            <a:r>
              <a:rPr lang="en-US" sz="1200" dirty="0">
                <a:solidFill>
                  <a:srgbClr val="CFCFCF"/>
                </a:solidFill>
                <a:latin typeface="Courier New" pitchFamily="34" charset="0"/>
                <a:ea typeface="Courier New" pitchFamily="34" charset="-122"/>
                <a:cs typeface="Courier New" pitchFamily="34" charset="-120"/>
              </a:rPr>
              <a:t>and how much </a:t>
            </a:r>
            <a:r>
              <a:rPr lang="en-US" sz="1200" b="1" dirty="0">
                <a:solidFill>
                  <a:srgbClr val="FFFF00"/>
                </a:solidFill>
                <a:latin typeface="Courier New" pitchFamily="34" charset="0"/>
                <a:ea typeface="Courier New" pitchFamily="34" charset="-122"/>
                <a:cs typeface="Courier New" pitchFamily="34" charset="-120"/>
              </a:rPr>
              <a:t>system validation and evaluation. </a:t>
            </a:r>
            <a:r>
              <a:rPr lang="en-US" sz="1200" dirty="0">
                <a:solidFill>
                  <a:srgbClr val="CFCFCF"/>
                </a:solidFill>
                <a:latin typeface="Courier New" pitchFamily="34" charset="0"/>
                <a:ea typeface="Courier New" pitchFamily="34" charset="-122"/>
                <a:cs typeface="Courier New" pitchFamily="34" charset="-120"/>
              </a:rPr>
              <a:t>sit between the model and the change. Read-only chatbot — light touch. Production config push — every gate on this deck. The rest is engineering.</a:t>
            </a:r>
            <a:endParaRPr lang="en-US" sz="1200" dirty="0"/>
          </a:p>
          <a:p>
            <a:endParaRPr lang="en-US" dirty="0"/>
          </a:p>
          <a:p>
            <a:endParaRPr lang="en-US" dirty="0"/>
          </a:p>
          <a:p>
            <a:r>
              <a:rPr lang="en-US" dirty="0"/>
              <a:t>AI evaluating AI deserves its own moment. The proposer model is optimizing for plausible. The critic model can be prompted to optimize for paranoid. Different system prompts, different temperatures, sometimes different models entirely. You'll catch a category of mistakes the proposer was never going to catch on itself. It is not a replacement for the human in the loop. It is another layer of cheese in the swiss cheese model.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CFCFCF"/>
                </a:solidFill>
                <a:latin typeface="Courier New" pitchFamily="34" charset="0"/>
                <a:ea typeface="Courier New" pitchFamily="34" charset="-122"/>
                <a:cs typeface="Courier New" pitchFamily="34" charset="-120"/>
              </a:rPr>
              <a:t>- 01. Not "usually." Not "for low-risk changes." Not "after-hours when you're tired." </a:t>
            </a:r>
            <a:r>
              <a:rPr lang="en-US" sz="1200" b="1" dirty="0">
                <a:solidFill>
                  <a:srgbClr val="FFFF00"/>
                </a:solidFill>
                <a:latin typeface="Courier New" pitchFamily="34" charset="0"/>
                <a:ea typeface="Courier New" pitchFamily="34" charset="-122"/>
                <a:cs typeface="Courier New" pitchFamily="34" charset="-120"/>
              </a:rPr>
              <a:t>None. </a:t>
            </a:r>
            <a:r>
              <a:rPr lang="en-US" sz="1200" dirty="0">
                <a:solidFill>
                  <a:srgbClr val="CFCFCF"/>
                </a:solidFill>
                <a:latin typeface="Courier New" pitchFamily="34" charset="0"/>
                <a:ea typeface="Courier New" pitchFamily="34" charset="-122"/>
                <a:cs typeface="Courier New" pitchFamily="34" charset="-120"/>
              </a:rPr>
              <a:t>A named human, a click, a ticket. Every time. This rule survives every architecture change.</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- 02. </a:t>
            </a:r>
            <a:r>
              <a:rPr lang="en-US" sz="1200" dirty="0">
                <a:solidFill>
                  <a:srgbClr val="CFCFCF"/>
                </a:solidFill>
                <a:latin typeface="Courier New" pitchFamily="34" charset="0"/>
                <a:ea typeface="Courier New" pitchFamily="34" charset="-122"/>
                <a:cs typeface="Courier New" pitchFamily="34" charset="-120"/>
              </a:rPr>
              <a:t>Pick </a:t>
            </a:r>
            <a:r>
              <a:rPr lang="en-US" sz="1200" b="1" dirty="0">
                <a:solidFill>
                  <a:srgbClr val="CFCFCF"/>
                </a:solidFill>
                <a:latin typeface="Courier New" pitchFamily="34" charset="0"/>
                <a:ea typeface="Courier New" pitchFamily="34" charset="-122"/>
                <a:cs typeface="Courier New" pitchFamily="34" charset="-120"/>
              </a:rPr>
              <a:t>one </a:t>
            </a:r>
            <a:r>
              <a:rPr lang="en-US" sz="1200" dirty="0">
                <a:solidFill>
                  <a:srgbClr val="CFCFCF"/>
                </a:solidFill>
                <a:latin typeface="Courier New" pitchFamily="34" charset="0"/>
                <a:ea typeface="Courier New" pitchFamily="34" charset="-122"/>
                <a:cs typeface="Courier New" pitchFamily="34" charset="-120"/>
              </a:rPr>
              <a:t>workflow. Make it boring and reliable. </a:t>
            </a:r>
            <a:r>
              <a:rPr lang="en-US" sz="1200" b="1" dirty="0">
                <a:solidFill>
                  <a:srgbClr val="CFCFCF"/>
                </a:solidFill>
                <a:latin typeface="Courier New" pitchFamily="34" charset="0"/>
                <a:ea typeface="Courier New" pitchFamily="34" charset="-122"/>
                <a:cs typeface="Courier New" pitchFamily="34" charset="-120"/>
              </a:rPr>
              <a:t>Then </a:t>
            </a:r>
            <a:r>
              <a:rPr lang="en-US" sz="1200" dirty="0">
                <a:solidFill>
                  <a:srgbClr val="CFCFCF"/>
                </a:solidFill>
                <a:latin typeface="Courier New" pitchFamily="34" charset="0"/>
                <a:ea typeface="Courier New" pitchFamily="34" charset="-122"/>
                <a:cs typeface="Courier New" pitchFamily="34" charset="-120"/>
              </a:rPr>
              <a:t>pick the next one. The teams getting eaten alive by this technology are the teams who tried to do everything at once. Boring wins.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Fragile: breaks under stress of volatility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Resilient: withstand stress and stays the same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Antifragile: Actually improves, grows, and thrives because of volatility.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dirty="0">
              <a:solidFill>
                <a:srgbClr val="6B6B6B"/>
              </a:solidFill>
              <a:latin typeface="Courier New" pitchFamily="34" charset="0"/>
              <a:cs typeface="Courier New" pitchFamily="34" charset="-120"/>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This is our antifragile moment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6B6B6B"/>
                </a:solidFill>
                <a:latin typeface="Courier New" pitchFamily="34" charset="0"/>
                <a:cs typeface="Courier New" pitchFamily="34" charset="-120"/>
              </a:rPr>
              <a:t>Treat AI like a tool - solve complicated problems and </a:t>
            </a:r>
            <a:r>
              <a:rPr lang="en-US" sz="1200">
                <a:solidFill>
                  <a:srgbClr val="6B6B6B"/>
                </a:solidFill>
                <a:latin typeface="Courier New" pitchFamily="34" charset="0"/>
                <a:cs typeface="Courier New" pitchFamily="34" charset="-120"/>
              </a:rPr>
              <a:t>not complex problems  </a:t>
            </a:r>
            <a:endParaRPr lang="en-US" sz="1200"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57250" y="571500"/>
            <a:ext cx="5143500" cy="1025054"/>
          </a:xfrm>
          <a:prstGeom prst="rect">
            <a:avLst/>
          </a:prstGeom>
        </p:spPr>
      </p:pic>
      <p:sp>
        <p:nvSpPr>
          <p:cNvPr id="3" name="Text 0"/>
          <p:cNvSpPr/>
          <p:nvPr/>
        </p:nvSpPr>
        <p:spPr>
          <a:xfrm>
            <a:off x="16279564" y="628650"/>
            <a:ext cx="1151186" cy="657225"/>
          </a:xfrm>
          <a:prstGeom prst="rect">
            <a:avLst/>
          </a:prstGeom>
          <a:noFill/>
          <a:ln/>
        </p:spPr>
        <p:txBody>
          <a:bodyPr wrap="square" lIns="25400" tIns="25400" rIns="25400" bIns="25400" rtlCol="0" anchor="t">
            <a:normAutofit fontScale="92500" lnSpcReduction="20000"/>
          </a:bodyPr>
          <a:lstStyle/>
          <a:p>
            <a:pPr marL="0" indent="0" algn="r">
              <a:lnSpc>
                <a:spcPct val="125000"/>
              </a:lnSpc>
              <a:buNone/>
            </a:pPr>
            <a:r>
              <a:rPr lang="en-US" sz="1950" kern="0" spc="39" dirty="0">
                <a:solidFill>
                  <a:srgbClr val="6B6B6B"/>
                </a:solidFill>
                <a:latin typeface="Courier New" pitchFamily="34" charset="0"/>
                <a:ea typeface="Courier New" pitchFamily="34" charset="-122"/>
                <a:cs typeface="Courier New" pitchFamily="34" charset="-120"/>
              </a:rPr>
              <a:t>Network to Code</a:t>
            </a:r>
            <a:endParaRPr lang="en-US" sz="1950" dirty="0"/>
          </a:p>
        </p:txBody>
      </p:sp>
      <p:sp>
        <p:nvSpPr>
          <p:cNvPr id="4" name="Shape 1"/>
          <p:cNvSpPr/>
          <p:nvPr/>
        </p:nvSpPr>
        <p:spPr>
          <a:xfrm>
            <a:off x="857250" y="1977554"/>
            <a:ext cx="16573500" cy="3268861"/>
          </a:xfrm>
          <a:prstGeom prst="rect">
            <a:avLst/>
          </a:prstGeom>
          <a:ln w="9525">
            <a:solidFill>
              <a:srgbClr val="FFFF00"/>
            </a:solidFill>
            <a:prstDash val="solid"/>
          </a:ln>
        </p:spPr>
        <p:txBody>
          <a:bodyPr/>
          <a:lstStyle/>
          <a:p>
            <a:endParaRPr lang="en-US"/>
          </a:p>
        </p:txBody>
      </p:sp>
      <p:sp>
        <p:nvSpPr>
          <p:cNvPr id="5" name="Text 2"/>
          <p:cNvSpPr/>
          <p:nvPr/>
        </p:nvSpPr>
        <p:spPr>
          <a:xfrm>
            <a:off x="1285875" y="2201391"/>
            <a:ext cx="8405743" cy="1247775"/>
          </a:xfrm>
          <a:prstGeom prst="rect">
            <a:avLst/>
          </a:prstGeom>
          <a:noFill/>
          <a:ln/>
        </p:spPr>
        <p:txBody>
          <a:bodyPr wrap="square" lIns="0" tIns="0" rIns="0" bIns="0" rtlCol="0" anchor="t">
            <a:normAutofit/>
          </a:bodyPr>
          <a:lstStyle/>
          <a:p>
            <a:pPr marL="0" indent="0" algn="l">
              <a:lnSpc>
                <a:spcPct val="105000"/>
              </a:lnSpc>
              <a:buNone/>
            </a:pPr>
            <a:r>
              <a:rPr lang="en-US" sz="7200" kern="0" spc="-36" dirty="0">
                <a:solidFill>
                  <a:srgbClr val="FFFF00"/>
                </a:solidFill>
                <a:latin typeface="Courier New" pitchFamily="34" charset="0"/>
                <a:ea typeface="Courier New" pitchFamily="34" charset="-122"/>
                <a:cs typeface="Courier New" pitchFamily="34" charset="-120"/>
              </a:rPr>
              <a:t>Choose Your Own</a:t>
            </a:r>
            <a:endParaRPr lang="en-US" sz="7200" dirty="0"/>
          </a:p>
        </p:txBody>
      </p:sp>
      <p:sp>
        <p:nvSpPr>
          <p:cNvPr id="6" name="Text 3"/>
          <p:cNvSpPr/>
          <p:nvPr/>
        </p:nvSpPr>
        <p:spPr>
          <a:xfrm>
            <a:off x="1285875" y="3161481"/>
            <a:ext cx="6724579" cy="1247775"/>
          </a:xfrm>
          <a:prstGeom prst="rect">
            <a:avLst/>
          </a:prstGeom>
          <a:noFill/>
          <a:ln/>
        </p:spPr>
        <p:txBody>
          <a:bodyPr wrap="square" lIns="0" tIns="0" rIns="0" bIns="0" rtlCol="0" anchor="t">
            <a:normAutofit/>
          </a:bodyPr>
          <a:lstStyle/>
          <a:p>
            <a:pPr marL="0" indent="0" algn="l">
              <a:lnSpc>
                <a:spcPct val="105000"/>
              </a:lnSpc>
              <a:buNone/>
            </a:pPr>
            <a:r>
              <a:rPr lang="en-US" sz="7200" kern="0" spc="-36" dirty="0">
                <a:solidFill>
                  <a:srgbClr val="FFFF00"/>
                </a:solidFill>
                <a:latin typeface="Courier New" pitchFamily="34" charset="0"/>
                <a:ea typeface="Courier New" pitchFamily="34" charset="-122"/>
                <a:cs typeface="Courier New" pitchFamily="34" charset="-120"/>
              </a:rPr>
              <a:t>AI Adventure</a:t>
            </a:r>
            <a:endParaRPr lang="en-US" sz="7200" dirty="0"/>
          </a:p>
        </p:txBody>
      </p:sp>
      <p:sp>
        <p:nvSpPr>
          <p:cNvPr id="7" name="Text 4"/>
          <p:cNvSpPr/>
          <p:nvPr/>
        </p:nvSpPr>
        <p:spPr>
          <a:xfrm>
            <a:off x="1285875" y="4307309"/>
            <a:ext cx="16187738" cy="62478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200" kern="0" spc="-36" dirty="0">
                <a:solidFill>
                  <a:srgbClr val="FFFF00"/>
                </a:solidFill>
                <a:latin typeface="Courier New" pitchFamily="34" charset="0"/>
                <a:ea typeface="Courier New" pitchFamily="34" charset="-122"/>
                <a:cs typeface="Courier New" pitchFamily="34" charset="-120"/>
              </a:rPr>
              <a:t>A guide to the LLM landscape for networking.</a:t>
            </a:r>
            <a:endParaRPr lang="en-US" sz="4200" dirty="0"/>
          </a:p>
        </p:txBody>
      </p:sp>
      <p:sp>
        <p:nvSpPr>
          <p:cNvPr id="8" name="Shape 5"/>
          <p:cNvSpPr/>
          <p:nvPr/>
        </p:nvSpPr>
        <p:spPr>
          <a:xfrm>
            <a:off x="857250" y="5379765"/>
            <a:ext cx="16573500" cy="1056308"/>
          </a:xfrm>
          <a:prstGeom prst="rect">
            <a:avLst/>
          </a:prstGeom>
          <a:ln w="9525">
            <a:solidFill>
              <a:srgbClr val="2A2A2A"/>
            </a:solidFill>
            <a:prstDash val="solid"/>
          </a:ln>
        </p:spPr>
        <p:txBody>
          <a:bodyPr/>
          <a:lstStyle/>
          <a:p>
            <a:endParaRPr lang="en-US"/>
          </a:p>
        </p:txBody>
      </p:sp>
      <p:sp>
        <p:nvSpPr>
          <p:cNvPr id="9" name="Text 6"/>
          <p:cNvSpPr/>
          <p:nvPr/>
        </p:nvSpPr>
        <p:spPr>
          <a:xfrm>
            <a:off x="1209675" y="5655990"/>
            <a:ext cx="16365855" cy="541958"/>
          </a:xfrm>
          <a:prstGeom prst="rect">
            <a:avLst/>
          </a:prstGeom>
          <a:noFill/>
          <a:ln/>
        </p:spPr>
        <p:txBody>
          <a:bodyPr wrap="square" lIns="25400" tIns="25400" rIns="25400" bIns="25400" rtlCol="0" anchor="t">
            <a:normAutofit fontScale="92500"/>
          </a:bodyPr>
          <a:lstStyle/>
          <a:p>
            <a:pPr marL="0" indent="0" algn="l">
              <a:lnSpc>
                <a:spcPct val="130000"/>
              </a:lnSpc>
              <a:buNone/>
            </a:pPr>
            <a:r>
              <a:rPr lang="en-US" sz="2850" dirty="0">
                <a:solidFill>
                  <a:srgbClr val="FFFF00"/>
                </a:solidFill>
                <a:latin typeface="Courier New" pitchFamily="34" charset="0"/>
                <a:ea typeface="Courier New" pitchFamily="34" charset="-122"/>
                <a:cs typeface="Courier New" pitchFamily="34" charset="-120"/>
              </a:rPr>
              <a:t>Eric Chou </a:t>
            </a:r>
            <a:r>
              <a:rPr lang="en-US" sz="2850" dirty="0">
                <a:solidFill>
                  <a:srgbClr val="FFFFFF"/>
                </a:solidFill>
                <a:latin typeface="Courier New" pitchFamily="34" charset="0"/>
                <a:ea typeface="Courier New" pitchFamily="34" charset="-122"/>
                <a:cs typeface="Courier New" pitchFamily="34" charset="-120"/>
              </a:rPr>
              <a:t>· Network Automation Advocate · Network to Code </a:t>
            </a:r>
            <a:endParaRPr lang="en-US" sz="2850" dirty="0"/>
          </a:p>
        </p:txBody>
      </p:sp>
      <p:pic>
        <p:nvPicPr>
          <p:cNvPr id="10" name="Image 1" descr="preencoded.png"/>
          <p:cNvPicPr>
            <a:picLocks noChangeAspect="1"/>
          </p:cNvPicPr>
          <p:nvPr/>
        </p:nvPicPr>
        <p:blipFill>
          <a:blip r:embed="rId4"/>
          <a:stretch>
            <a:fillRect/>
          </a:stretch>
        </p:blipFill>
        <p:spPr>
          <a:xfrm>
            <a:off x="712470" y="5143500"/>
            <a:ext cx="16573500" cy="6627763"/>
          </a:xfrm>
          <a:prstGeom prst="rect">
            <a:avLst/>
          </a:prstGeom>
        </p:spPr>
      </p:pic>
      <p:pic>
        <p:nvPicPr>
          <p:cNvPr id="13" name="Picture 12">
            <a:extLst>
              <a:ext uri="{FF2B5EF4-FFF2-40B4-BE49-F238E27FC236}">
                <a16:creationId xmlns:a16="http://schemas.microsoft.com/office/drawing/2014/main" id="{41751953-925C-F3BC-84F3-0E43A5E64DE4}"/>
              </a:ext>
            </a:extLst>
          </p:cNvPr>
          <p:cNvPicPr>
            <a:picLocks noChangeAspect="1"/>
          </p:cNvPicPr>
          <p:nvPr/>
        </p:nvPicPr>
        <p:blipFill>
          <a:blip r:embed="rId5"/>
          <a:stretch>
            <a:fillRect/>
          </a:stretch>
        </p:blipFill>
        <p:spPr>
          <a:xfrm>
            <a:off x="12947903" y="597572"/>
            <a:ext cx="4853299" cy="11622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whoami</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7799546"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SPEAKER</a:t>
            </a:r>
            <a:endParaRPr lang="en-US" sz="1800" dirty="0"/>
          </a:p>
        </p:txBody>
      </p:sp>
      <p:sp>
        <p:nvSpPr>
          <p:cNvPr id="7" name="Text 5"/>
          <p:cNvSpPr/>
          <p:nvPr/>
        </p:nvSpPr>
        <p:spPr>
          <a:xfrm>
            <a:off x="1438274" y="3282255"/>
            <a:ext cx="10094569" cy="1043880"/>
          </a:xfrm>
          <a:prstGeom prst="rect">
            <a:avLst/>
          </a:prstGeom>
          <a:noFill/>
          <a:ln/>
        </p:spPr>
        <p:txBody>
          <a:bodyPr wrap="square" lIns="25400" tIns="25400" rIns="25400" bIns="25400" rtlCol="0" anchor="t">
            <a:noAutofit/>
          </a:bodyPr>
          <a:lstStyle/>
          <a:p>
            <a:pPr marL="0" indent="0" algn="l">
              <a:lnSpc>
                <a:spcPct val="110000"/>
              </a:lnSpc>
              <a:buNone/>
            </a:pPr>
            <a:r>
              <a:rPr lang="en-US" sz="3200" b="1" dirty="0">
                <a:solidFill>
                  <a:srgbClr val="FFFFFF"/>
                </a:solidFill>
                <a:latin typeface="Courier New" pitchFamily="34" charset="0"/>
                <a:ea typeface="Courier New" pitchFamily="34" charset="-122"/>
                <a:cs typeface="Courier New" pitchFamily="34" charset="-120"/>
              </a:rPr>
              <a:t>Eric Chou </a:t>
            </a:r>
            <a:r>
              <a:rPr lang="en-US" sz="3200" dirty="0">
                <a:solidFill>
                  <a:srgbClr val="FFFF00"/>
                </a:solidFill>
                <a:latin typeface="Courier New" pitchFamily="34" charset="0"/>
                <a:ea typeface="Courier New" pitchFamily="34" charset="-122"/>
                <a:cs typeface="Courier New" pitchFamily="34" charset="-120"/>
              </a:rPr>
              <a:t>Network Automation Advocate · Network to Code</a:t>
            </a:r>
            <a:endParaRPr lang="en-US" sz="3200" dirty="0"/>
          </a:p>
        </p:txBody>
      </p:sp>
      <p:sp>
        <p:nvSpPr>
          <p:cNvPr id="8" name="Text 6"/>
          <p:cNvSpPr/>
          <p:nvPr/>
        </p:nvSpPr>
        <p:spPr>
          <a:xfrm>
            <a:off x="1781175" y="4986337"/>
            <a:ext cx="7723346" cy="781050"/>
          </a:xfrm>
          <a:prstGeom prst="rect">
            <a:avLst/>
          </a:prstGeom>
          <a:noFill/>
          <a:ln/>
        </p:spPr>
        <p:txBody>
          <a:bodyPr wrap="square" lIns="25400" tIns="25400" rIns="25400" bIns="25400" rtlCol="0" anchor="t">
            <a:noAutofit/>
          </a:bodyPr>
          <a:lstStyle/>
          <a:p>
            <a:pPr marL="0" indent="0" algn="l">
              <a:lnSpc>
                <a:spcPct val="150000"/>
              </a:lnSpc>
              <a:buNone/>
            </a:pPr>
            <a:r>
              <a:rPr lang="en-US" sz="2400" dirty="0">
                <a:solidFill>
                  <a:srgbClr val="FFFFFF"/>
                </a:solidFill>
                <a:latin typeface="Courier New" pitchFamily="34" charset="0"/>
                <a:ea typeface="Courier New" pitchFamily="34" charset="-122"/>
                <a:cs typeface="Courier New" pitchFamily="34" charset="-120"/>
              </a:rPr>
              <a:t>Network engineer turned automation person, now AI Enthusiast</a:t>
            </a:r>
            <a:endParaRPr lang="en-US" sz="2400" dirty="0"/>
          </a:p>
        </p:txBody>
      </p:sp>
      <p:sp>
        <p:nvSpPr>
          <p:cNvPr id="9" name="Text 7"/>
          <p:cNvSpPr/>
          <p:nvPr/>
        </p:nvSpPr>
        <p:spPr>
          <a:xfrm>
            <a:off x="1781175" y="6485036"/>
            <a:ext cx="7456646" cy="781050"/>
          </a:xfrm>
          <a:prstGeom prst="rect">
            <a:avLst/>
          </a:prstGeom>
          <a:noFill/>
          <a:ln/>
        </p:spPr>
        <p:txBody>
          <a:bodyPr wrap="square" lIns="25400" tIns="25400" rIns="25400" bIns="25400" rtlCol="0" anchor="t">
            <a:noAutofit/>
          </a:bodyPr>
          <a:lstStyle/>
          <a:p>
            <a:pPr marL="0" indent="0" algn="l">
              <a:lnSpc>
                <a:spcPct val="150000"/>
              </a:lnSpc>
              <a:buNone/>
            </a:pPr>
            <a:r>
              <a:rPr lang="en-US" sz="2400" dirty="0">
                <a:solidFill>
                  <a:srgbClr val="FFFFFF"/>
                </a:solidFill>
                <a:latin typeface="Courier New" pitchFamily="34" charset="0"/>
                <a:ea typeface="Courier New" pitchFamily="34" charset="-122"/>
                <a:cs typeface="Courier New" pitchFamily="34" charset="-120"/>
              </a:rPr>
              <a:t>Author, blogger, Podcaster</a:t>
            </a:r>
            <a:endParaRPr lang="en-US" sz="2400" dirty="0"/>
          </a:p>
        </p:txBody>
      </p:sp>
      <p:sp>
        <p:nvSpPr>
          <p:cNvPr id="10" name="Text 8"/>
          <p:cNvSpPr/>
          <p:nvPr/>
        </p:nvSpPr>
        <p:spPr>
          <a:xfrm>
            <a:off x="1781175" y="7380387"/>
            <a:ext cx="7456646" cy="804862"/>
          </a:xfrm>
          <a:prstGeom prst="rect">
            <a:avLst/>
          </a:prstGeom>
          <a:noFill/>
          <a:ln/>
        </p:spPr>
        <p:txBody>
          <a:bodyPr wrap="square" lIns="25400" tIns="25400" rIns="25400" bIns="25400" rtlCol="0" anchor="t">
            <a:normAutofit/>
          </a:bodyPr>
          <a:lstStyle/>
          <a:p>
            <a:pPr marL="0" indent="0" algn="l">
              <a:lnSpc>
                <a:spcPct val="150000"/>
              </a:lnSpc>
              <a:buNone/>
            </a:pPr>
            <a:r>
              <a:rPr lang="en-US" sz="2400" dirty="0">
                <a:solidFill>
                  <a:srgbClr val="FFFFFF"/>
                </a:solidFill>
                <a:latin typeface="Courier New" pitchFamily="34" charset="0"/>
                <a:ea typeface="Courier New" pitchFamily="34" charset="-122"/>
                <a:cs typeface="Courier New" pitchFamily="34" charset="-120"/>
              </a:rPr>
              <a:t>This talk is </a:t>
            </a:r>
            <a:r>
              <a:rPr lang="en-US" sz="2400" b="1" dirty="0">
                <a:solidFill>
                  <a:srgbClr val="FFFF00"/>
                </a:solidFill>
                <a:latin typeface="Courier New" pitchFamily="34" charset="0"/>
                <a:ea typeface="Courier New" pitchFamily="34" charset="-122"/>
                <a:cs typeface="Courier New" pitchFamily="34" charset="-120"/>
              </a:rPr>
              <a:t>not </a:t>
            </a:r>
            <a:r>
              <a:rPr lang="en-US" sz="2400" dirty="0">
                <a:solidFill>
                  <a:srgbClr val="FFFFFF"/>
                </a:solidFill>
                <a:latin typeface="Courier New" pitchFamily="34" charset="0"/>
                <a:ea typeface="Courier New" pitchFamily="34" charset="-122"/>
                <a:cs typeface="Courier New" pitchFamily="34" charset="-120"/>
              </a:rPr>
              <a:t>a sales pitch. </a:t>
            </a:r>
            <a:endParaRPr lang="en-US" sz="2400" dirty="0"/>
          </a:p>
        </p:txBody>
      </p:sp>
      <p:pic>
        <p:nvPicPr>
          <p:cNvPr id="25" name="Picture 24">
            <a:extLst>
              <a:ext uri="{FF2B5EF4-FFF2-40B4-BE49-F238E27FC236}">
                <a16:creationId xmlns:a16="http://schemas.microsoft.com/office/drawing/2014/main" id="{F8F8A3A0-9973-4D0B-63E4-8CAC66E427B8}"/>
              </a:ext>
            </a:extLst>
          </p:cNvPr>
          <p:cNvPicPr>
            <a:picLocks noChangeAspect="1"/>
          </p:cNvPicPr>
          <p:nvPr/>
        </p:nvPicPr>
        <p:blipFill>
          <a:blip r:embed="rId3"/>
          <a:stretch>
            <a:fillRect/>
          </a:stretch>
        </p:blipFill>
        <p:spPr>
          <a:xfrm>
            <a:off x="11923367" y="4152611"/>
            <a:ext cx="5116857" cy="508663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a:t>
            </a:r>
            <a:r>
              <a:rPr lang="en-US" sz="4800" b="1" kern="0" spc="-48" dirty="0" err="1">
                <a:solidFill>
                  <a:srgbClr val="FFFF00"/>
                </a:solidFill>
                <a:latin typeface="Courier New" pitchFamily="34" charset="0"/>
                <a:ea typeface="Courier New" pitchFamily="34" charset="-122"/>
                <a:cs typeface="Courier New" pitchFamily="34" charset="-120"/>
              </a:rPr>
              <a:t>agenda.md</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9228058" y="2527920"/>
            <a:ext cx="3709988" cy="6358905"/>
          </a:xfrm>
          <a:prstGeom prst="rect">
            <a:avLst/>
          </a:prstGeom>
          <a:ln w="9525">
            <a:solidFill>
              <a:srgbClr val="2A2A2A"/>
            </a:solidFill>
            <a:prstDash val="solid"/>
          </a:ln>
        </p:spPr>
        <p:txBody>
          <a:bodyPr/>
          <a:lstStyle/>
          <a:p>
            <a:endParaRPr lang="en-US"/>
          </a:p>
        </p:txBody>
      </p:sp>
      <p:sp>
        <p:nvSpPr>
          <p:cNvPr id="7" name="Text 5"/>
          <p:cNvSpPr/>
          <p:nvPr/>
        </p:nvSpPr>
        <p:spPr>
          <a:xfrm>
            <a:off x="1733549" y="2913770"/>
            <a:ext cx="3213021" cy="333375"/>
          </a:xfrm>
          <a:prstGeom prst="rect">
            <a:avLst/>
          </a:prstGeom>
          <a:noFill/>
          <a:ln/>
        </p:spPr>
        <p:txBody>
          <a:bodyPr wrap="square" lIns="25400" tIns="25400" rIns="25400" bIns="25400" rtlCol="0" anchor="t">
            <a:noAutofit/>
          </a:bodyPr>
          <a:lstStyle/>
          <a:p>
            <a:pPr marL="0" indent="0" algn="l">
              <a:lnSpc>
                <a:spcPct val="155000"/>
              </a:lnSpc>
              <a:buNone/>
            </a:pPr>
            <a:r>
              <a:rPr lang="en-US" sz="2400" kern="0" spc="300" dirty="0">
                <a:solidFill>
                  <a:srgbClr val="FFFF00"/>
                </a:solidFill>
                <a:latin typeface="Courier New" pitchFamily="34" charset="0"/>
                <a:ea typeface="Courier New" pitchFamily="34" charset="-122"/>
                <a:cs typeface="Courier New" pitchFamily="34" charset="-120"/>
              </a:rPr>
              <a:t>PART 01 </a:t>
            </a:r>
            <a:endParaRPr lang="en-US" sz="2400" dirty="0"/>
          </a:p>
        </p:txBody>
      </p:sp>
      <p:sp>
        <p:nvSpPr>
          <p:cNvPr id="8" name="Text 6"/>
          <p:cNvSpPr/>
          <p:nvPr/>
        </p:nvSpPr>
        <p:spPr>
          <a:xfrm>
            <a:off x="1733549" y="3518608"/>
            <a:ext cx="321302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Overview</a:t>
            </a:r>
            <a:endParaRPr lang="en-US" sz="2250" dirty="0"/>
          </a:p>
        </p:txBody>
      </p:sp>
      <p:sp>
        <p:nvSpPr>
          <p:cNvPr id="9" name="Text 7"/>
          <p:cNvSpPr/>
          <p:nvPr/>
        </p:nvSpPr>
        <p:spPr>
          <a:xfrm>
            <a:off x="1610558" y="4578264"/>
            <a:ext cx="3213021" cy="981075"/>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Hype vs. reality. Why "just let the AI do it" doesn’t work.</a:t>
            </a:r>
            <a:endParaRPr lang="en-US" sz="2000" dirty="0"/>
          </a:p>
        </p:txBody>
      </p:sp>
      <p:sp>
        <p:nvSpPr>
          <p:cNvPr id="10" name="Shape 8"/>
          <p:cNvSpPr/>
          <p:nvPr/>
        </p:nvSpPr>
        <p:spPr>
          <a:xfrm>
            <a:off x="1733549" y="7892504"/>
            <a:ext cx="3119438" cy="9525"/>
          </a:xfrm>
          <a:prstGeom prst="rect">
            <a:avLst/>
          </a:prstGeom>
          <a:solidFill>
            <a:srgbClr val="2A2A2A"/>
          </a:solidFill>
          <a:ln/>
        </p:spPr>
        <p:txBody>
          <a:bodyPr/>
          <a:lstStyle/>
          <a:p>
            <a:endParaRPr lang="en-US"/>
          </a:p>
        </p:txBody>
      </p:sp>
      <p:sp>
        <p:nvSpPr>
          <p:cNvPr id="11" name="Text 9"/>
          <p:cNvSpPr/>
          <p:nvPr/>
        </p:nvSpPr>
        <p:spPr>
          <a:xfrm>
            <a:off x="1733549" y="8166699"/>
            <a:ext cx="3213021" cy="337617"/>
          </a:xfrm>
          <a:prstGeom prst="rect">
            <a:avLst/>
          </a:prstGeom>
          <a:noFill/>
          <a:ln/>
        </p:spPr>
        <p:txBody>
          <a:bodyPr wrap="square" lIns="25400" tIns="25400" rIns="25400" bIns="25400" rtlCol="0" anchor="t">
            <a:noAutofit/>
          </a:bodyPr>
          <a:lstStyle/>
          <a:p>
            <a:pPr marL="0" indent="0" algn="l">
              <a:lnSpc>
                <a:spcPct val="155000"/>
              </a:lnSpc>
              <a:buNone/>
            </a:pPr>
            <a:r>
              <a:rPr lang="en-US" sz="2000" dirty="0">
                <a:solidFill>
                  <a:schemeClr val="bg1"/>
                </a:solidFill>
                <a:latin typeface="Courier New" pitchFamily="34" charset="0"/>
                <a:ea typeface="Courier New" pitchFamily="34" charset="-122"/>
                <a:cs typeface="Courier New" pitchFamily="34" charset="-120"/>
              </a:rPr>
              <a:t>Set expectations</a:t>
            </a:r>
            <a:endParaRPr lang="en-US" sz="2000" dirty="0">
              <a:solidFill>
                <a:schemeClr val="bg1"/>
              </a:solidFill>
            </a:endParaRPr>
          </a:p>
        </p:txBody>
      </p:sp>
      <p:sp>
        <p:nvSpPr>
          <p:cNvPr id="12" name="Shape 10"/>
          <p:cNvSpPr/>
          <p:nvPr/>
        </p:nvSpPr>
        <p:spPr>
          <a:xfrm>
            <a:off x="5338763" y="2527920"/>
            <a:ext cx="3709988" cy="6358905"/>
          </a:xfrm>
          <a:prstGeom prst="rect">
            <a:avLst/>
          </a:prstGeom>
          <a:ln w="9525">
            <a:solidFill>
              <a:srgbClr val="2A2A2A"/>
            </a:solidFill>
            <a:prstDash val="solid"/>
          </a:ln>
        </p:spPr>
        <p:txBody>
          <a:bodyPr/>
          <a:lstStyle/>
          <a:p>
            <a:endParaRPr lang="en-US"/>
          </a:p>
        </p:txBody>
      </p:sp>
      <p:sp>
        <p:nvSpPr>
          <p:cNvPr id="13" name="Text 11"/>
          <p:cNvSpPr/>
          <p:nvPr/>
        </p:nvSpPr>
        <p:spPr>
          <a:xfrm>
            <a:off x="5634038" y="2804145"/>
            <a:ext cx="3213021" cy="333375"/>
          </a:xfrm>
          <a:prstGeom prst="rect">
            <a:avLst/>
          </a:prstGeom>
          <a:noFill/>
          <a:ln/>
        </p:spPr>
        <p:txBody>
          <a:bodyPr wrap="square" lIns="25400" tIns="25400" rIns="25400" bIns="25400" rtlCol="0" anchor="t">
            <a:noAutofit/>
          </a:bodyPr>
          <a:lstStyle/>
          <a:p>
            <a:pPr marL="0" indent="0" algn="l">
              <a:lnSpc>
                <a:spcPct val="155000"/>
              </a:lnSpc>
              <a:buNone/>
            </a:pPr>
            <a:r>
              <a:rPr lang="en-US" sz="2400" kern="0" spc="300" dirty="0">
                <a:solidFill>
                  <a:srgbClr val="FFFF00"/>
                </a:solidFill>
                <a:latin typeface="Courier New" pitchFamily="34" charset="0"/>
                <a:ea typeface="Courier New" pitchFamily="34" charset="-122"/>
                <a:cs typeface="Courier New" pitchFamily="34" charset="-120"/>
              </a:rPr>
              <a:t>PART 02 </a:t>
            </a:r>
            <a:endParaRPr lang="en-US" sz="2400" dirty="0"/>
          </a:p>
        </p:txBody>
      </p:sp>
      <p:sp>
        <p:nvSpPr>
          <p:cNvPr id="14" name="Text 12"/>
          <p:cNvSpPr/>
          <p:nvPr/>
        </p:nvSpPr>
        <p:spPr>
          <a:xfrm>
            <a:off x="5662613" y="3514402"/>
            <a:ext cx="321302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The Landscape</a:t>
            </a:r>
            <a:endParaRPr lang="en-US" sz="2250" dirty="0"/>
          </a:p>
        </p:txBody>
      </p:sp>
      <p:sp>
        <p:nvSpPr>
          <p:cNvPr id="15" name="Text 13"/>
          <p:cNvSpPr/>
          <p:nvPr/>
        </p:nvSpPr>
        <p:spPr>
          <a:xfrm>
            <a:off x="5587246" y="4652962"/>
            <a:ext cx="3213021" cy="981075"/>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Hosted, local, hybrid. </a:t>
            </a:r>
            <a:endParaRPr lang="en-US" sz="2000" dirty="0"/>
          </a:p>
        </p:txBody>
      </p:sp>
      <p:sp>
        <p:nvSpPr>
          <p:cNvPr id="16" name="Shape 14"/>
          <p:cNvSpPr/>
          <p:nvPr/>
        </p:nvSpPr>
        <p:spPr>
          <a:xfrm>
            <a:off x="5634038" y="7887742"/>
            <a:ext cx="3119438" cy="9525"/>
          </a:xfrm>
          <a:prstGeom prst="rect">
            <a:avLst/>
          </a:prstGeom>
          <a:solidFill>
            <a:srgbClr val="2A2A2A"/>
          </a:solidFill>
          <a:ln/>
        </p:spPr>
        <p:txBody>
          <a:bodyPr/>
          <a:lstStyle/>
          <a:p>
            <a:endParaRPr lang="en-US"/>
          </a:p>
        </p:txBody>
      </p:sp>
      <p:sp>
        <p:nvSpPr>
          <p:cNvPr id="17" name="Text 15"/>
          <p:cNvSpPr/>
          <p:nvPr/>
        </p:nvSpPr>
        <p:spPr>
          <a:xfrm>
            <a:off x="5634038" y="8030617"/>
            <a:ext cx="3213021" cy="618083"/>
          </a:xfrm>
          <a:prstGeom prst="rect">
            <a:avLst/>
          </a:prstGeom>
          <a:noFill/>
          <a:ln/>
        </p:spPr>
        <p:txBody>
          <a:bodyPr wrap="square" lIns="25400" tIns="25400" rIns="25400" bIns="25400" rtlCol="0" anchor="t">
            <a:noAutofit/>
          </a:bodyPr>
          <a:lstStyle/>
          <a:p>
            <a:pPr marL="0" indent="0" algn="l">
              <a:lnSpc>
                <a:spcPct val="155000"/>
              </a:lnSpc>
              <a:buNone/>
            </a:pPr>
            <a:r>
              <a:rPr lang="en-US" sz="2000" dirty="0">
                <a:solidFill>
                  <a:schemeClr val="bg1"/>
                </a:solidFill>
                <a:latin typeface="Courier New" pitchFamily="34" charset="0"/>
                <a:ea typeface="Courier New" pitchFamily="34" charset="-122"/>
                <a:cs typeface="Courier New" pitchFamily="34" charset="-120"/>
              </a:rPr>
              <a:t>what’s out there</a:t>
            </a:r>
            <a:endParaRPr lang="en-US" sz="2000" dirty="0">
              <a:solidFill>
                <a:schemeClr val="bg1"/>
              </a:solidFill>
            </a:endParaRPr>
          </a:p>
        </p:txBody>
      </p:sp>
      <p:sp>
        <p:nvSpPr>
          <p:cNvPr id="19" name="Text 17"/>
          <p:cNvSpPr/>
          <p:nvPr/>
        </p:nvSpPr>
        <p:spPr>
          <a:xfrm>
            <a:off x="9534525" y="2804145"/>
            <a:ext cx="3213021" cy="333375"/>
          </a:xfrm>
          <a:prstGeom prst="rect">
            <a:avLst/>
          </a:prstGeom>
          <a:noFill/>
          <a:ln/>
        </p:spPr>
        <p:txBody>
          <a:bodyPr wrap="square" lIns="25400" tIns="25400" rIns="25400" bIns="25400" rtlCol="0" anchor="t">
            <a:noAutofit/>
          </a:bodyPr>
          <a:lstStyle/>
          <a:p>
            <a:pPr marL="0" indent="0" algn="l">
              <a:lnSpc>
                <a:spcPct val="155000"/>
              </a:lnSpc>
              <a:buNone/>
            </a:pPr>
            <a:r>
              <a:rPr lang="en-US" sz="2400" kern="0" spc="300" dirty="0">
                <a:solidFill>
                  <a:srgbClr val="FFFF00"/>
                </a:solidFill>
                <a:latin typeface="Courier New" pitchFamily="34" charset="0"/>
                <a:ea typeface="Courier New" pitchFamily="34" charset="-122"/>
                <a:cs typeface="Courier New" pitchFamily="34" charset="-120"/>
              </a:rPr>
              <a:t>PART 03 </a:t>
            </a:r>
            <a:endParaRPr lang="en-US" sz="2400" dirty="0"/>
          </a:p>
        </p:txBody>
      </p:sp>
      <p:sp>
        <p:nvSpPr>
          <p:cNvPr id="20" name="Text 18"/>
          <p:cNvSpPr/>
          <p:nvPr/>
        </p:nvSpPr>
        <p:spPr>
          <a:xfrm>
            <a:off x="9534524" y="3508805"/>
            <a:ext cx="321302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The Path</a:t>
            </a:r>
            <a:endParaRPr lang="en-US" sz="2250" dirty="0"/>
          </a:p>
        </p:txBody>
      </p:sp>
      <p:sp>
        <p:nvSpPr>
          <p:cNvPr id="21" name="Text 19"/>
          <p:cNvSpPr/>
          <p:nvPr/>
        </p:nvSpPr>
        <p:spPr>
          <a:xfrm>
            <a:off x="9476541" y="4694667"/>
            <a:ext cx="3213021" cy="981075"/>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Four steps. Trust → Engineering → Integration → Evolution. </a:t>
            </a:r>
            <a:endParaRPr lang="en-US" sz="2000" dirty="0"/>
          </a:p>
        </p:txBody>
      </p:sp>
      <p:sp>
        <p:nvSpPr>
          <p:cNvPr id="22" name="Shape 20"/>
          <p:cNvSpPr/>
          <p:nvPr/>
        </p:nvSpPr>
        <p:spPr>
          <a:xfrm>
            <a:off x="9534525" y="7887742"/>
            <a:ext cx="3119438" cy="9525"/>
          </a:xfrm>
          <a:prstGeom prst="rect">
            <a:avLst/>
          </a:prstGeom>
          <a:solidFill>
            <a:srgbClr val="2A2A2A"/>
          </a:solidFill>
          <a:ln/>
        </p:spPr>
        <p:txBody>
          <a:bodyPr/>
          <a:lstStyle/>
          <a:p>
            <a:endParaRPr lang="en-US"/>
          </a:p>
        </p:txBody>
      </p:sp>
      <p:sp>
        <p:nvSpPr>
          <p:cNvPr id="23" name="Text 21"/>
          <p:cNvSpPr/>
          <p:nvPr/>
        </p:nvSpPr>
        <p:spPr>
          <a:xfrm>
            <a:off x="9534525" y="8030617"/>
            <a:ext cx="3213021" cy="618083"/>
          </a:xfrm>
          <a:prstGeom prst="rect">
            <a:avLst/>
          </a:prstGeom>
          <a:noFill/>
          <a:ln/>
        </p:spPr>
        <p:txBody>
          <a:bodyPr wrap="square" lIns="25400" tIns="25400" rIns="25400" bIns="25400" rtlCol="0" anchor="t">
            <a:noAutofit/>
          </a:bodyPr>
          <a:lstStyle/>
          <a:p>
            <a:pPr marL="0" indent="0" algn="l">
              <a:lnSpc>
                <a:spcPct val="155000"/>
              </a:lnSpc>
              <a:buNone/>
            </a:pPr>
            <a:r>
              <a:rPr lang="en-US" sz="2000" dirty="0">
                <a:solidFill>
                  <a:schemeClr val="bg1"/>
                </a:solidFill>
                <a:latin typeface="Courier New" pitchFamily="34" charset="0"/>
                <a:ea typeface="Courier New" pitchFamily="34" charset="-122"/>
                <a:cs typeface="Courier New" pitchFamily="34" charset="-120"/>
              </a:rPr>
              <a:t>thing you can do now</a:t>
            </a:r>
            <a:endParaRPr lang="en-US" sz="2000" dirty="0">
              <a:solidFill>
                <a:schemeClr val="bg1"/>
              </a:solidFill>
            </a:endParaRPr>
          </a:p>
        </p:txBody>
      </p:sp>
      <p:sp>
        <p:nvSpPr>
          <p:cNvPr id="24" name="Shape 22"/>
          <p:cNvSpPr/>
          <p:nvPr/>
        </p:nvSpPr>
        <p:spPr>
          <a:xfrm>
            <a:off x="13139738" y="2527920"/>
            <a:ext cx="3709988" cy="6358905"/>
          </a:xfrm>
          <a:prstGeom prst="rect">
            <a:avLst/>
          </a:prstGeom>
          <a:ln w="9525">
            <a:solidFill>
              <a:srgbClr val="2A2A2A"/>
            </a:solidFill>
            <a:prstDash val="solid"/>
          </a:ln>
        </p:spPr>
        <p:txBody>
          <a:bodyPr/>
          <a:lstStyle/>
          <a:p>
            <a:endParaRPr lang="en-US"/>
          </a:p>
        </p:txBody>
      </p:sp>
      <p:sp>
        <p:nvSpPr>
          <p:cNvPr id="25" name="Text 23"/>
          <p:cNvSpPr/>
          <p:nvPr/>
        </p:nvSpPr>
        <p:spPr>
          <a:xfrm>
            <a:off x="13435013" y="2804145"/>
            <a:ext cx="3213021" cy="333375"/>
          </a:xfrm>
          <a:prstGeom prst="rect">
            <a:avLst/>
          </a:prstGeom>
          <a:noFill/>
          <a:ln/>
        </p:spPr>
        <p:txBody>
          <a:bodyPr wrap="square" lIns="25400" tIns="25400" rIns="25400" bIns="25400" rtlCol="0" anchor="t">
            <a:noAutofit/>
          </a:bodyPr>
          <a:lstStyle/>
          <a:p>
            <a:pPr marL="0" indent="0" algn="l">
              <a:lnSpc>
                <a:spcPct val="155000"/>
              </a:lnSpc>
              <a:buNone/>
            </a:pPr>
            <a:r>
              <a:rPr lang="en-US" sz="2400" kern="0" spc="300" dirty="0">
                <a:solidFill>
                  <a:srgbClr val="FFFF00"/>
                </a:solidFill>
                <a:latin typeface="Courier New" pitchFamily="34" charset="0"/>
                <a:ea typeface="Courier New" pitchFamily="34" charset="-122"/>
                <a:cs typeface="Courier New" pitchFamily="34" charset="-120"/>
              </a:rPr>
              <a:t>PART 04 </a:t>
            </a:r>
            <a:endParaRPr lang="en-US" sz="2400" dirty="0"/>
          </a:p>
        </p:txBody>
      </p:sp>
      <p:sp>
        <p:nvSpPr>
          <p:cNvPr id="26" name="Text 24"/>
          <p:cNvSpPr/>
          <p:nvPr/>
        </p:nvSpPr>
        <p:spPr>
          <a:xfrm>
            <a:off x="13435013" y="3518608"/>
            <a:ext cx="321302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Closing</a:t>
            </a:r>
            <a:endParaRPr lang="en-US" sz="2250" dirty="0"/>
          </a:p>
        </p:txBody>
      </p:sp>
      <p:sp>
        <p:nvSpPr>
          <p:cNvPr id="27" name="Text 25"/>
          <p:cNvSpPr/>
          <p:nvPr/>
        </p:nvSpPr>
        <p:spPr>
          <a:xfrm>
            <a:off x="13388221" y="4694667"/>
            <a:ext cx="3213021" cy="666750"/>
          </a:xfrm>
          <a:prstGeom prst="rect">
            <a:avLst/>
          </a:prstGeom>
          <a:noFill/>
          <a:ln/>
        </p:spPr>
        <p:txBody>
          <a:bodyPr wrap="square" lIns="25400" tIns="25400" rIns="25400" bIns="25400" rtlCol="0" anchor="t">
            <a:noAutofit/>
          </a:bodyPr>
          <a:lstStyle/>
          <a:p>
            <a:pPr marL="0" indent="0" algn="l">
              <a:lnSpc>
                <a:spcPct val="150000"/>
              </a:lnSpc>
              <a:buNone/>
            </a:pPr>
            <a:r>
              <a:rPr lang="en-US" sz="2400" dirty="0">
                <a:solidFill>
                  <a:srgbClr val="CFCFCF"/>
                </a:solidFill>
                <a:latin typeface="Courier New" pitchFamily="34" charset="0"/>
                <a:ea typeface="Courier New" pitchFamily="34" charset="-122"/>
                <a:cs typeface="Courier New" pitchFamily="34" charset="-120"/>
              </a:rPr>
              <a:t>Framework. Two rules. Q&amp;A.</a:t>
            </a:r>
            <a:endParaRPr lang="en-US" sz="2400" dirty="0"/>
          </a:p>
        </p:txBody>
      </p:sp>
      <p:sp>
        <p:nvSpPr>
          <p:cNvPr id="28" name="Shape 26"/>
          <p:cNvSpPr/>
          <p:nvPr/>
        </p:nvSpPr>
        <p:spPr>
          <a:xfrm>
            <a:off x="13435013" y="7887742"/>
            <a:ext cx="3119438" cy="9525"/>
          </a:xfrm>
          <a:prstGeom prst="rect">
            <a:avLst/>
          </a:prstGeom>
          <a:solidFill>
            <a:srgbClr val="2A2A2A"/>
          </a:solidFill>
          <a:ln/>
        </p:spPr>
        <p:txBody>
          <a:bodyPr/>
          <a:lstStyle/>
          <a:p>
            <a:endParaRPr lang="en-US"/>
          </a:p>
        </p:txBody>
      </p:sp>
      <p:sp>
        <p:nvSpPr>
          <p:cNvPr id="29" name="Text 27"/>
          <p:cNvSpPr/>
          <p:nvPr/>
        </p:nvSpPr>
        <p:spPr>
          <a:xfrm>
            <a:off x="13435013" y="8030617"/>
            <a:ext cx="3213021" cy="618083"/>
          </a:xfrm>
          <a:prstGeom prst="rect">
            <a:avLst/>
          </a:prstGeom>
          <a:noFill/>
          <a:ln/>
        </p:spPr>
        <p:txBody>
          <a:bodyPr wrap="square" lIns="25400" tIns="25400" rIns="25400" bIns="25400" rtlCol="0" anchor="t">
            <a:normAutofit/>
          </a:bodyPr>
          <a:lstStyle/>
          <a:p>
            <a:pPr marL="0" indent="0" algn="l">
              <a:lnSpc>
                <a:spcPct val="155000"/>
              </a:lnSpc>
              <a:buNone/>
            </a:pPr>
            <a:r>
              <a:rPr lang="en-US" sz="2000" dirty="0">
                <a:solidFill>
                  <a:schemeClr val="bg1"/>
                </a:solidFill>
                <a:latin typeface="Courier New" pitchFamily="34" charset="0"/>
                <a:cs typeface="Courier New" pitchFamily="34" charset="-120"/>
              </a:rPr>
              <a:t>Next steps</a:t>
            </a:r>
            <a:endParaRPr lang="en-US" sz="2000" dirty="0">
              <a:solidFill>
                <a:schemeClr val="bg1"/>
              </a:solidFill>
            </a:endParaRPr>
          </a:p>
        </p:txBody>
      </p:sp>
      <p:sp>
        <p:nvSpPr>
          <p:cNvPr id="33" name="Shape 10">
            <a:extLst>
              <a:ext uri="{FF2B5EF4-FFF2-40B4-BE49-F238E27FC236}">
                <a16:creationId xmlns:a16="http://schemas.microsoft.com/office/drawing/2014/main" id="{1970E8B1-D8AE-9008-B8BB-C19222D2B945}"/>
              </a:ext>
            </a:extLst>
          </p:cNvPr>
          <p:cNvSpPr/>
          <p:nvPr/>
        </p:nvSpPr>
        <p:spPr>
          <a:xfrm>
            <a:off x="1380291" y="2527920"/>
            <a:ext cx="3709988" cy="6358905"/>
          </a:xfrm>
          <a:prstGeom prst="rect">
            <a:avLst/>
          </a:prstGeom>
          <a:ln w="9525">
            <a:solidFill>
              <a:srgbClr val="2A2A2A"/>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Text 1"/>
          <p:cNvSpPr/>
          <p:nvPr/>
        </p:nvSpPr>
        <p:spPr>
          <a:xfrm>
            <a:off x="15228317" y="571500"/>
            <a:ext cx="20881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330" dirty="0">
                <a:solidFill>
                  <a:srgbClr val="6B6B6B"/>
                </a:solidFill>
                <a:latin typeface="Courier New" pitchFamily="34" charset="0"/>
                <a:ea typeface="Courier New" pitchFamily="34" charset="-122"/>
                <a:cs typeface="Courier New" pitchFamily="34" charset="-120"/>
              </a:rPr>
              <a:t>PART 01 / 04</a:t>
            </a:r>
            <a:endParaRPr lang="en-US" sz="1650" dirty="0"/>
          </a:p>
        </p:txBody>
      </p:sp>
      <p:sp>
        <p:nvSpPr>
          <p:cNvPr id="4" name="Text 2"/>
          <p:cNvSpPr/>
          <p:nvPr/>
        </p:nvSpPr>
        <p:spPr>
          <a:xfrm>
            <a:off x="1047750" y="838200"/>
            <a:ext cx="16678275" cy="342900"/>
          </a:xfrm>
          <a:prstGeom prst="rect">
            <a:avLst/>
          </a:prstGeom>
          <a:noFill/>
          <a:ln/>
        </p:spPr>
        <p:txBody>
          <a:bodyPr wrap="square" lIns="25400" tIns="25400" rIns="25400" bIns="25400" rtlCol="0" anchor="t">
            <a:normAutofit fontScale="92500"/>
          </a:bodyPr>
          <a:lstStyle/>
          <a:p>
            <a:pPr marL="0" indent="0" algn="l">
              <a:buNone/>
            </a:pPr>
            <a:r>
              <a:rPr lang="en-US" sz="2100" kern="0" spc="420" dirty="0">
                <a:solidFill>
                  <a:srgbClr val="FFFF00"/>
                </a:solidFill>
                <a:latin typeface="Courier New" pitchFamily="34" charset="0"/>
                <a:ea typeface="Courier New" pitchFamily="34" charset="-122"/>
                <a:cs typeface="Courier New" pitchFamily="34" charset="-120"/>
              </a:rPr>
              <a:t>›› §1 / OVERVIEW</a:t>
            </a:r>
            <a:endParaRPr lang="en-US" sz="2100" dirty="0"/>
          </a:p>
        </p:txBody>
      </p:sp>
      <p:sp>
        <p:nvSpPr>
          <p:cNvPr id="5" name="Text 3"/>
          <p:cNvSpPr/>
          <p:nvPr/>
        </p:nvSpPr>
        <p:spPr>
          <a:xfrm>
            <a:off x="1047750" y="1447800"/>
            <a:ext cx="14716125" cy="4038600"/>
          </a:xfrm>
          <a:prstGeom prst="rect">
            <a:avLst/>
          </a:prstGeom>
          <a:noFill/>
          <a:ln/>
        </p:spPr>
        <p:txBody>
          <a:bodyPr wrap="square" lIns="25400" tIns="25400" rIns="25400" bIns="25400" rtlCol="0" anchor="t">
            <a:normAutofit/>
          </a:bodyPr>
          <a:lstStyle/>
          <a:p>
            <a:pPr marL="0" indent="0" algn="l">
              <a:lnSpc>
                <a:spcPct val="100000"/>
              </a:lnSpc>
              <a:buNone/>
            </a:pPr>
            <a:r>
              <a:rPr lang="en-US" sz="10500" b="1" kern="0" spc="-315" dirty="0">
                <a:solidFill>
                  <a:srgbClr val="FFFFFF"/>
                </a:solidFill>
                <a:latin typeface="Courier New" pitchFamily="34" charset="0"/>
                <a:ea typeface="Courier New" pitchFamily="34" charset="-122"/>
                <a:cs typeface="Courier New" pitchFamily="34" charset="-120"/>
              </a:rPr>
              <a:t>The hype vs. </a:t>
            </a:r>
            <a:r>
              <a:rPr lang="en-US" sz="10500" b="1" kern="0" spc="-315" dirty="0">
                <a:solidFill>
                  <a:srgbClr val="FFFF00"/>
                </a:solidFill>
                <a:latin typeface="Courier New" pitchFamily="34" charset="0"/>
                <a:ea typeface="Courier New" pitchFamily="34" charset="-122"/>
                <a:cs typeface="Courier New" pitchFamily="34" charset="-120"/>
              </a:rPr>
              <a:t>the reality.</a:t>
            </a:r>
            <a:endParaRPr lang="en-US" sz="10500" dirty="0"/>
          </a:p>
        </p:txBody>
      </p:sp>
      <p:sp>
        <p:nvSpPr>
          <p:cNvPr id="6" name="Shape 4"/>
          <p:cNvSpPr/>
          <p:nvPr/>
        </p:nvSpPr>
        <p:spPr>
          <a:xfrm>
            <a:off x="1047750" y="5829300"/>
            <a:ext cx="10477500" cy="9525"/>
          </a:xfrm>
          <a:prstGeom prst="rect">
            <a:avLst/>
          </a:prstGeom>
          <a:solidFill>
            <a:srgbClr val="FFFF00"/>
          </a:solidFill>
          <a:ln/>
        </p:spPr>
        <p:txBody>
          <a:bodyPr/>
          <a:lstStyle/>
          <a:p>
            <a:endParaRPr lang="en-US"/>
          </a:p>
        </p:txBody>
      </p:sp>
      <p:sp>
        <p:nvSpPr>
          <p:cNvPr id="7" name="Text 5"/>
          <p:cNvSpPr/>
          <p:nvPr/>
        </p:nvSpPr>
        <p:spPr>
          <a:xfrm>
            <a:off x="1047750" y="6067424"/>
            <a:ext cx="15360253" cy="1832227"/>
          </a:xfrm>
          <a:prstGeom prst="rect">
            <a:avLst/>
          </a:prstGeom>
          <a:noFill/>
          <a:ln/>
        </p:spPr>
        <p:txBody>
          <a:bodyPr wrap="square" lIns="25400" tIns="25400" rIns="25400" bIns="25400" rtlCol="0" anchor="t">
            <a:noAutofit/>
          </a:bodyPr>
          <a:lstStyle/>
          <a:p>
            <a:pPr marL="0" indent="0" algn="l">
              <a:lnSpc>
                <a:spcPct val="150000"/>
              </a:lnSpc>
              <a:buNone/>
            </a:pPr>
            <a:r>
              <a:rPr lang="en-US" sz="3200" dirty="0">
                <a:solidFill>
                  <a:srgbClr val="FFFF00"/>
                </a:solidFill>
                <a:latin typeface="Courier New" pitchFamily="34" charset="0"/>
                <a:ea typeface="Courier New" pitchFamily="34" charset="-122"/>
                <a:cs typeface="Courier New" pitchFamily="34" charset="-120"/>
              </a:rPr>
              <a:t>Network engineers don't want magic. They want the phone to not go off.</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diff hype.md </a:t>
            </a:r>
            <a:r>
              <a:rPr lang="en-US" sz="4800" b="1" kern="0" spc="-48" dirty="0" err="1">
                <a:solidFill>
                  <a:srgbClr val="FFFF00"/>
                </a:solidFill>
                <a:latin typeface="Courier New" pitchFamily="34" charset="0"/>
                <a:ea typeface="Courier New" pitchFamily="34" charset="-122"/>
                <a:cs typeface="Courier New" pitchFamily="34" charset="-120"/>
              </a:rPr>
              <a:t>reality</a:t>
            </a:r>
            <a:r>
              <a:rPr lang="en-US" sz="4800" b="1" kern="0" spc="-48" err="1">
                <a:solidFill>
                  <a:srgbClr val="FFFF00"/>
                </a:solidFill>
                <a:latin typeface="Courier New" pitchFamily="34" charset="0"/>
                <a:ea typeface="Courier New" pitchFamily="34" charset="-122"/>
                <a:cs typeface="Courier New" pitchFamily="34" charset="-120"/>
              </a:rPr>
              <a:t>.</a:t>
            </a:r>
            <a:r>
              <a:rPr lang="en-US" sz="4800" b="1" kern="0" spc="-48">
                <a:solidFill>
                  <a:srgbClr val="FFFF00"/>
                </a:solidFill>
                <a:latin typeface="Courier New" pitchFamily="34" charset="0"/>
                <a:ea typeface="Courier New" pitchFamily="34" charset="-122"/>
                <a:cs typeface="Courier New" pitchFamily="34" charset="-120"/>
              </a:rPr>
              <a:t>md</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7572375" cy="4812581"/>
          </a:xfrm>
          <a:prstGeom prst="rect">
            <a:avLst/>
          </a:prstGeom>
          <a:ln w="9525">
            <a:solidFill>
              <a:srgbClr val="2A2A2A"/>
            </a:solidFill>
            <a:prstDash val="solid"/>
          </a:ln>
        </p:spPr>
        <p:txBody>
          <a:bodyPr/>
          <a:lstStyle/>
          <a:p>
            <a:endParaRPr lang="en-US"/>
          </a:p>
        </p:txBody>
      </p:sp>
      <p:sp>
        <p:nvSpPr>
          <p:cNvPr id="7" name="Text 5"/>
          <p:cNvSpPr/>
          <p:nvPr/>
        </p:nvSpPr>
        <p:spPr>
          <a:xfrm>
            <a:off x="1790700" y="2880345"/>
            <a:ext cx="7073551" cy="882923"/>
          </a:xfrm>
          <a:prstGeom prst="rect">
            <a:avLst/>
          </a:prstGeom>
          <a:noFill/>
          <a:ln/>
        </p:spPr>
        <p:txBody>
          <a:bodyPr wrap="square" lIns="25400" tIns="25400" rIns="25400" bIns="25400" rtlCol="0" anchor="t">
            <a:noAutofit/>
          </a:bodyPr>
          <a:lstStyle/>
          <a:p>
            <a:pPr marL="0" indent="0" algn="l">
              <a:lnSpc>
                <a:spcPct val="155000"/>
              </a:lnSpc>
              <a:buNone/>
            </a:pPr>
            <a:r>
              <a:rPr lang="en-US" sz="2400" kern="0" spc="270" dirty="0">
                <a:solidFill>
                  <a:schemeClr val="bg1"/>
                </a:solidFill>
                <a:latin typeface="Courier New" pitchFamily="34" charset="0"/>
                <a:ea typeface="Courier New" pitchFamily="34" charset="-122"/>
                <a:cs typeface="Courier New" pitchFamily="34" charset="-120"/>
              </a:rPr>
              <a:t>— HYPE</a:t>
            </a:r>
            <a:endParaRPr lang="en-US" sz="2400" dirty="0">
              <a:solidFill>
                <a:schemeClr val="bg1"/>
              </a:solidFill>
            </a:endParaRPr>
          </a:p>
        </p:txBody>
      </p:sp>
      <p:sp>
        <p:nvSpPr>
          <p:cNvPr id="8" name="Text 6"/>
          <p:cNvSpPr/>
          <p:nvPr/>
        </p:nvSpPr>
        <p:spPr>
          <a:xfrm>
            <a:off x="1863899" y="4374650"/>
            <a:ext cx="7073551" cy="960090"/>
          </a:xfrm>
          <a:prstGeom prst="rect">
            <a:avLst/>
          </a:prstGeom>
          <a:noFill/>
          <a:ln/>
        </p:spPr>
        <p:txBody>
          <a:bodyPr wrap="square" lIns="25400" tIns="25400" rIns="25400" bIns="25400" rtlCol="0" anchor="t">
            <a:normAutofit/>
          </a:bodyPr>
          <a:lstStyle/>
          <a:p>
            <a:pPr marL="0" indent="0" algn="l">
              <a:lnSpc>
                <a:spcPct val="110000"/>
              </a:lnSpc>
              <a:buNone/>
            </a:pPr>
            <a:r>
              <a:rPr lang="en-US" sz="3300" b="1" dirty="0">
                <a:solidFill>
                  <a:srgbClr val="FFFFFF"/>
                </a:solidFill>
                <a:latin typeface="Courier New" pitchFamily="34" charset="0"/>
                <a:ea typeface="Courier New" pitchFamily="34" charset="-122"/>
                <a:cs typeface="Courier New" pitchFamily="34" charset="-120"/>
              </a:rPr>
              <a:t>"Just 'fix my BGP'"</a:t>
            </a:r>
            <a:endParaRPr lang="en-US" sz="3300" dirty="0"/>
          </a:p>
        </p:txBody>
      </p:sp>
      <p:sp>
        <p:nvSpPr>
          <p:cNvPr id="9" name="Text 7"/>
          <p:cNvSpPr/>
          <p:nvPr/>
        </p:nvSpPr>
        <p:spPr>
          <a:xfrm>
            <a:off x="1790700" y="4582418"/>
            <a:ext cx="7073551" cy="1012329"/>
          </a:xfrm>
          <a:prstGeom prst="rect">
            <a:avLst/>
          </a:prstGeom>
          <a:noFill/>
          <a:ln/>
        </p:spPr>
        <p:txBody>
          <a:bodyPr wrap="square" lIns="25400" tIns="25400" rIns="25400" bIns="25400" rtlCol="0" anchor="t">
            <a:normAutofit/>
          </a:bodyPr>
          <a:lstStyle/>
          <a:p>
            <a:pPr marL="0" indent="0" algn="l">
              <a:lnSpc>
                <a:spcPct val="155000"/>
              </a:lnSpc>
              <a:buNone/>
            </a:pPr>
            <a:endParaRPr lang="en-US" sz="1650" dirty="0"/>
          </a:p>
        </p:txBody>
      </p:sp>
      <p:sp>
        <p:nvSpPr>
          <p:cNvPr id="11" name="Shape 9"/>
          <p:cNvSpPr/>
          <p:nvPr/>
        </p:nvSpPr>
        <p:spPr>
          <a:xfrm>
            <a:off x="9277350" y="2527920"/>
            <a:ext cx="7572375" cy="4812581"/>
          </a:xfrm>
          <a:prstGeom prst="rect">
            <a:avLst/>
          </a:prstGeom>
          <a:ln w="9525">
            <a:solidFill>
              <a:srgbClr val="FFFF00"/>
            </a:solidFill>
            <a:prstDash val="solid"/>
          </a:ln>
        </p:spPr>
        <p:txBody>
          <a:bodyPr/>
          <a:lstStyle/>
          <a:p>
            <a:endParaRPr lang="en-US"/>
          </a:p>
        </p:txBody>
      </p:sp>
      <p:sp>
        <p:nvSpPr>
          <p:cNvPr id="12" name="Text 10"/>
          <p:cNvSpPr/>
          <p:nvPr/>
        </p:nvSpPr>
        <p:spPr>
          <a:xfrm>
            <a:off x="9629775" y="2880345"/>
            <a:ext cx="7073551" cy="303833"/>
          </a:xfrm>
          <a:prstGeom prst="rect">
            <a:avLst/>
          </a:prstGeom>
          <a:noFill/>
          <a:ln/>
        </p:spPr>
        <p:txBody>
          <a:bodyPr wrap="square" lIns="25400" tIns="25400" rIns="25400" bIns="25400" rtlCol="0" anchor="t">
            <a:noAutofit/>
          </a:bodyPr>
          <a:lstStyle/>
          <a:p>
            <a:pPr marL="0" indent="0" algn="l">
              <a:lnSpc>
                <a:spcPct val="155000"/>
              </a:lnSpc>
              <a:buNone/>
            </a:pPr>
            <a:r>
              <a:rPr lang="en-US" sz="2400" kern="0" spc="270" dirty="0">
                <a:solidFill>
                  <a:srgbClr val="FFFF00"/>
                </a:solidFill>
                <a:latin typeface="Courier New" pitchFamily="34" charset="0"/>
                <a:ea typeface="Courier New" pitchFamily="34" charset="-122"/>
                <a:cs typeface="Courier New" pitchFamily="34" charset="-120"/>
              </a:rPr>
              <a:t>+ REALITY</a:t>
            </a:r>
            <a:endParaRPr lang="en-US" sz="2400" dirty="0"/>
          </a:p>
        </p:txBody>
      </p:sp>
      <p:sp>
        <p:nvSpPr>
          <p:cNvPr id="13" name="Text 11"/>
          <p:cNvSpPr/>
          <p:nvPr/>
        </p:nvSpPr>
        <p:spPr>
          <a:xfrm>
            <a:off x="9629775" y="4102373"/>
            <a:ext cx="7073551" cy="9600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b="1" dirty="0">
                <a:solidFill>
                  <a:srgbClr val="FFFFFF"/>
                </a:solidFill>
                <a:latin typeface="Courier New" pitchFamily="34" charset="0"/>
                <a:ea typeface="Courier New" pitchFamily="34" charset="-122"/>
                <a:cs typeface="Courier New" pitchFamily="34" charset="-120"/>
              </a:rPr>
              <a:t>The phone rings at 2 a.m., do you trust it and ‘why not’? </a:t>
            </a:r>
            <a:endParaRPr lang="en-US" sz="3300" dirty="0"/>
          </a:p>
        </p:txBody>
      </p:sp>
      <p:sp>
        <p:nvSpPr>
          <p:cNvPr id="14" name="Text 12"/>
          <p:cNvSpPr/>
          <p:nvPr/>
        </p:nvSpPr>
        <p:spPr>
          <a:xfrm>
            <a:off x="9629775" y="4582418"/>
            <a:ext cx="7073551" cy="1337072"/>
          </a:xfrm>
          <a:prstGeom prst="rect">
            <a:avLst/>
          </a:prstGeom>
          <a:noFill/>
          <a:ln/>
        </p:spPr>
        <p:txBody>
          <a:bodyPr wrap="square" lIns="25400" tIns="25400" rIns="25400" bIns="25400" rtlCol="0" anchor="t">
            <a:normAutofit/>
          </a:bodyPr>
          <a:lstStyle/>
          <a:p>
            <a:pPr marL="0" indent="0" algn="l">
              <a:lnSpc>
                <a:spcPct val="155000"/>
              </a:lnSpc>
              <a:buNone/>
            </a:pPr>
            <a:endParaRPr lang="en-US" sz="1650" dirty="0"/>
          </a:p>
        </p:txBody>
      </p:sp>
      <p:sp>
        <p:nvSpPr>
          <p:cNvPr id="15" name="Text 13"/>
          <p:cNvSpPr/>
          <p:nvPr/>
        </p:nvSpPr>
        <p:spPr>
          <a:xfrm>
            <a:off x="9629775" y="5546229"/>
            <a:ext cx="7073551" cy="725686"/>
          </a:xfrm>
          <a:prstGeom prst="rect">
            <a:avLst/>
          </a:prstGeom>
          <a:noFill/>
          <a:ln/>
        </p:spPr>
        <p:txBody>
          <a:bodyPr wrap="square" lIns="25400" tIns="25400" rIns="25400" bIns="25400" rtlCol="0" anchor="t">
            <a:noAutofit/>
          </a:bodyPr>
          <a:lstStyle/>
          <a:p>
            <a:pPr marL="0" indent="0" algn="l">
              <a:lnSpc>
                <a:spcPct val="155000"/>
              </a:lnSpc>
              <a:buNone/>
            </a:pPr>
            <a:r>
              <a:rPr lang="en-US" sz="2000" b="1" dirty="0">
                <a:solidFill>
                  <a:srgbClr val="FFFFFF"/>
                </a:solidFill>
                <a:latin typeface="Courier New" pitchFamily="34" charset="0"/>
                <a:ea typeface="Courier New" pitchFamily="34" charset="-122"/>
                <a:cs typeface="Courier New" pitchFamily="34" charset="-120"/>
              </a:rPr>
              <a:t>AI is useful, but the demo and the day-job are not the same thing.</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864840"/>
          </a:xfrm>
          <a:prstGeom prst="rect">
            <a:avLst/>
          </a:prstGeom>
          <a:ln w="9525">
            <a:solidFill>
              <a:srgbClr val="FFFF00"/>
            </a:solidFill>
            <a:prstDash val="solid"/>
          </a:ln>
        </p:spPr>
        <p:txBody>
          <a:bodyPr/>
          <a:lstStyle/>
          <a:p>
            <a:endParaRPr lang="en-US"/>
          </a:p>
        </p:txBody>
      </p:sp>
      <p:sp>
        <p:nvSpPr>
          <p:cNvPr id="4" name="Text 2"/>
          <p:cNvSpPr/>
          <p:nvPr/>
        </p:nvSpPr>
        <p:spPr>
          <a:xfrm>
            <a:off x="1323975" y="942975"/>
            <a:ext cx="16125825" cy="5409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600" b="1" kern="0" spc="-36" dirty="0">
                <a:solidFill>
                  <a:srgbClr val="FFFF00"/>
                </a:solidFill>
                <a:latin typeface="Courier New" pitchFamily="34" charset="0"/>
                <a:ea typeface="Courier New" pitchFamily="34" charset="-122"/>
                <a:cs typeface="Courier New" pitchFamily="34" charset="-120"/>
              </a:rPr>
              <a:t>$ echo $RISK_TOLERANCE</a:t>
            </a:r>
            <a:endParaRPr lang="en-US" sz="3600" dirty="0"/>
          </a:p>
        </p:txBody>
      </p:sp>
      <p:sp>
        <p:nvSpPr>
          <p:cNvPr id="5" name="Shape 3"/>
          <p:cNvSpPr/>
          <p:nvPr/>
        </p:nvSpPr>
        <p:spPr>
          <a:xfrm>
            <a:off x="1047750" y="1893540"/>
            <a:ext cx="16192500" cy="7345710"/>
          </a:xfrm>
          <a:prstGeom prst="rect">
            <a:avLst/>
          </a:prstGeom>
          <a:ln w="9525">
            <a:solidFill>
              <a:srgbClr val="2A2A2A"/>
            </a:solidFill>
            <a:prstDash val="solid"/>
          </a:ln>
        </p:spPr>
        <p:txBody>
          <a:bodyPr/>
          <a:lstStyle/>
          <a:p>
            <a:endParaRPr lang="en-US"/>
          </a:p>
        </p:txBody>
      </p:sp>
      <p:sp>
        <p:nvSpPr>
          <p:cNvPr id="7" name="Text 5"/>
          <p:cNvSpPr/>
          <p:nvPr/>
        </p:nvSpPr>
        <p:spPr>
          <a:xfrm>
            <a:off x="1163124" y="2372355"/>
            <a:ext cx="8465757" cy="2481114"/>
          </a:xfrm>
          <a:prstGeom prst="rect">
            <a:avLst/>
          </a:prstGeom>
          <a:noFill/>
          <a:ln/>
        </p:spPr>
        <p:txBody>
          <a:bodyPr wrap="square" lIns="25400" tIns="25400" rIns="25400" bIns="25400" rtlCol="0" anchor="t">
            <a:normAutofit/>
          </a:bodyPr>
          <a:lstStyle/>
          <a:p>
            <a:pPr marL="0" indent="0" algn="l">
              <a:lnSpc>
                <a:spcPct val="135000"/>
              </a:lnSpc>
              <a:buNone/>
            </a:pPr>
            <a:r>
              <a:rPr lang="en-US" sz="2850" dirty="0">
                <a:solidFill>
                  <a:srgbClr val="FFFFFF"/>
                </a:solidFill>
                <a:latin typeface="Courier New" pitchFamily="34" charset="0"/>
                <a:ea typeface="Courier New" pitchFamily="34" charset="-122"/>
                <a:cs typeface="Courier New" pitchFamily="34" charset="-120"/>
              </a:rPr>
              <a:t>Network engineers are </a:t>
            </a:r>
            <a:r>
              <a:rPr lang="en-US" sz="2850" dirty="0">
                <a:solidFill>
                  <a:srgbClr val="FFFF00"/>
                </a:solidFill>
                <a:latin typeface="Courier New" pitchFamily="34" charset="0"/>
                <a:ea typeface="Courier New" pitchFamily="34" charset="-122"/>
                <a:cs typeface="Courier New" pitchFamily="34" charset="-120"/>
              </a:rPr>
              <a:t>extremely </a:t>
            </a:r>
            <a:r>
              <a:rPr lang="en-US" sz="2850" dirty="0">
                <a:solidFill>
                  <a:srgbClr val="FFFFFF"/>
                </a:solidFill>
                <a:latin typeface="Courier New" pitchFamily="34" charset="0"/>
                <a:ea typeface="Courier New" pitchFamily="34" charset="-122"/>
                <a:cs typeface="Courier New" pitchFamily="34" charset="-120"/>
              </a:rPr>
              <a:t>risk-averse. Many of us would rather take the </a:t>
            </a:r>
            <a:r>
              <a:rPr lang="en-US" sz="2850" dirty="0">
                <a:solidFill>
                  <a:srgbClr val="FFFF00"/>
                </a:solidFill>
                <a:latin typeface="Courier New" pitchFamily="34" charset="0"/>
                <a:ea typeface="Courier New" pitchFamily="34" charset="-122"/>
                <a:cs typeface="Courier New" pitchFamily="34" charset="-120"/>
              </a:rPr>
              <a:t>2 a.m. maintenance window </a:t>
            </a:r>
            <a:r>
              <a:rPr lang="en-US" sz="2850" dirty="0">
                <a:solidFill>
                  <a:srgbClr val="FFFFFF"/>
                </a:solidFill>
                <a:latin typeface="Courier New" pitchFamily="34" charset="0"/>
                <a:ea typeface="Courier New" pitchFamily="34" charset="-122"/>
                <a:cs typeface="Courier New" pitchFamily="34" charset="-120"/>
              </a:rPr>
              <a:t>to do a production change.</a:t>
            </a:r>
            <a:endParaRPr lang="en-US" sz="2850" dirty="0"/>
          </a:p>
        </p:txBody>
      </p:sp>
      <p:sp>
        <p:nvSpPr>
          <p:cNvPr id="9" name="Text 7"/>
          <p:cNvSpPr/>
          <p:nvPr/>
        </p:nvSpPr>
        <p:spPr>
          <a:xfrm>
            <a:off x="10000357" y="2245965"/>
            <a:ext cx="7239893" cy="783804"/>
          </a:xfrm>
          <a:prstGeom prst="rect">
            <a:avLst/>
          </a:prstGeom>
          <a:noFill/>
          <a:ln/>
        </p:spPr>
        <p:txBody>
          <a:bodyPr wrap="square" lIns="25400" tIns="25400" rIns="25400" bIns="25400" rtlCol="0" anchor="t">
            <a:noAutofit/>
          </a:bodyPr>
          <a:lstStyle/>
          <a:p>
            <a:pPr marL="0" indent="0" algn="l">
              <a:lnSpc>
                <a:spcPct val="155000"/>
              </a:lnSpc>
              <a:buNone/>
            </a:pPr>
            <a:r>
              <a:rPr lang="en-US" sz="2800" kern="0" spc="360" dirty="0">
                <a:solidFill>
                  <a:srgbClr val="FFFF00"/>
                </a:solidFill>
                <a:latin typeface="Courier New" pitchFamily="34" charset="0"/>
                <a:ea typeface="Courier New" pitchFamily="34" charset="-122"/>
                <a:cs typeface="Courier New" pitchFamily="34" charset="-120"/>
              </a:rPr>
              <a:t>A FAMILIAR PATTERN</a:t>
            </a:r>
            <a:endParaRPr lang="en-US" sz="2800" dirty="0"/>
          </a:p>
        </p:txBody>
      </p:sp>
      <p:sp>
        <p:nvSpPr>
          <p:cNvPr id="10" name="Shape 8"/>
          <p:cNvSpPr/>
          <p:nvPr/>
        </p:nvSpPr>
        <p:spPr>
          <a:xfrm>
            <a:off x="10000357" y="3219375"/>
            <a:ext cx="6849368" cy="5221784"/>
          </a:xfrm>
          <a:prstGeom prst="rect">
            <a:avLst/>
          </a:prstGeom>
          <a:ln w="9525">
            <a:solidFill>
              <a:srgbClr val="FFFF00"/>
            </a:solidFill>
            <a:prstDash val="solid"/>
          </a:ln>
        </p:spPr>
        <p:txBody>
          <a:bodyPr/>
          <a:lstStyle/>
          <a:p>
            <a:endParaRPr lang="en-US"/>
          </a:p>
        </p:txBody>
      </p:sp>
      <p:sp>
        <p:nvSpPr>
          <p:cNvPr id="11" name="Text 9"/>
          <p:cNvSpPr/>
          <p:nvPr/>
        </p:nvSpPr>
        <p:spPr>
          <a:xfrm>
            <a:off x="10534055" y="3785357"/>
            <a:ext cx="1238845" cy="698078"/>
          </a:xfrm>
          <a:prstGeom prst="rect">
            <a:avLst/>
          </a:prstGeom>
          <a:noFill/>
          <a:ln/>
        </p:spPr>
        <p:txBody>
          <a:bodyPr wrap="square" lIns="25400" tIns="25400" rIns="25400" bIns="25400" rtlCol="0" anchor="t">
            <a:noAutofit/>
          </a:bodyPr>
          <a:lstStyle/>
          <a:p>
            <a:pPr marL="0" indent="0" algn="l">
              <a:lnSpc>
                <a:spcPct val="155000"/>
              </a:lnSpc>
              <a:buNone/>
            </a:pPr>
            <a:r>
              <a:rPr lang="en-US" sz="2400" b="1" dirty="0">
                <a:solidFill>
                  <a:srgbClr val="FFFF00"/>
                </a:solidFill>
                <a:latin typeface="Courier New" pitchFamily="34" charset="0"/>
                <a:ea typeface="Courier New" pitchFamily="34" charset="-122"/>
                <a:cs typeface="Courier New" pitchFamily="34" charset="-120"/>
              </a:rPr>
              <a:t>WALK</a:t>
            </a:r>
            <a:endParaRPr lang="en-US" sz="2400" dirty="0"/>
          </a:p>
        </p:txBody>
      </p:sp>
      <p:sp>
        <p:nvSpPr>
          <p:cNvPr id="13" name="Text 11"/>
          <p:cNvSpPr/>
          <p:nvPr/>
        </p:nvSpPr>
        <p:spPr>
          <a:xfrm>
            <a:off x="12230099" y="3765812"/>
            <a:ext cx="1038225" cy="565980"/>
          </a:xfrm>
          <a:prstGeom prst="rect">
            <a:avLst/>
          </a:prstGeom>
          <a:noFill/>
          <a:ln/>
        </p:spPr>
        <p:txBody>
          <a:bodyPr wrap="square" lIns="25400" tIns="25400" rIns="25400" bIns="25400" rtlCol="0" anchor="t">
            <a:noAutofit/>
          </a:bodyPr>
          <a:lstStyle/>
          <a:p>
            <a:pPr marL="0" indent="0" algn="l">
              <a:lnSpc>
                <a:spcPct val="155000"/>
              </a:lnSpc>
              <a:buNone/>
            </a:pPr>
            <a:r>
              <a:rPr lang="en-US" sz="2400" b="1" dirty="0">
                <a:solidFill>
                  <a:srgbClr val="FFFF00"/>
                </a:solidFill>
                <a:latin typeface="Courier New" pitchFamily="34" charset="0"/>
                <a:ea typeface="Courier New" pitchFamily="34" charset="-122"/>
                <a:cs typeface="Courier New" pitchFamily="34" charset="-120"/>
              </a:rPr>
              <a:t>RUN</a:t>
            </a:r>
            <a:endParaRPr lang="en-US" sz="2400" dirty="0"/>
          </a:p>
        </p:txBody>
      </p:sp>
      <p:sp>
        <p:nvSpPr>
          <p:cNvPr id="15" name="Text 13"/>
          <p:cNvSpPr/>
          <p:nvPr/>
        </p:nvSpPr>
        <p:spPr>
          <a:xfrm>
            <a:off x="13794921" y="3761610"/>
            <a:ext cx="1032782" cy="1091859"/>
          </a:xfrm>
          <a:prstGeom prst="rect">
            <a:avLst/>
          </a:prstGeom>
          <a:noFill/>
          <a:ln/>
        </p:spPr>
        <p:txBody>
          <a:bodyPr wrap="square" lIns="25400" tIns="25400" rIns="25400" bIns="25400" rtlCol="0" anchor="t">
            <a:noAutofit/>
          </a:bodyPr>
          <a:lstStyle/>
          <a:p>
            <a:pPr marL="0" indent="0" algn="l">
              <a:lnSpc>
                <a:spcPct val="155000"/>
              </a:lnSpc>
              <a:buNone/>
            </a:pPr>
            <a:r>
              <a:rPr lang="en-US" sz="2400" b="1" dirty="0">
                <a:solidFill>
                  <a:srgbClr val="FFFF00"/>
                </a:solidFill>
                <a:latin typeface="Courier New" pitchFamily="34" charset="0"/>
                <a:ea typeface="Courier New" pitchFamily="34" charset="-122"/>
                <a:cs typeface="Courier New" pitchFamily="34" charset="-120"/>
              </a:rPr>
              <a:t>FLY</a:t>
            </a:r>
            <a:endParaRPr lang="en-US" sz="2400" dirty="0"/>
          </a:p>
        </p:txBody>
      </p:sp>
      <p:sp>
        <p:nvSpPr>
          <p:cNvPr id="16" name="Text 14"/>
          <p:cNvSpPr/>
          <p:nvPr/>
        </p:nvSpPr>
        <p:spPr>
          <a:xfrm>
            <a:off x="10262157" y="4622304"/>
            <a:ext cx="6485826" cy="981075"/>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We did this with scripts. We did this with Ansible and Python.</a:t>
            </a:r>
            <a:endParaRPr lang="en-US" sz="2000" dirty="0"/>
          </a:p>
        </p:txBody>
      </p:sp>
      <p:sp>
        <p:nvSpPr>
          <p:cNvPr id="17" name="Text 15"/>
          <p:cNvSpPr/>
          <p:nvPr/>
        </p:nvSpPr>
        <p:spPr>
          <a:xfrm>
            <a:off x="10219432" y="6119738"/>
            <a:ext cx="6485826" cy="685800"/>
          </a:xfrm>
          <a:prstGeom prst="rect">
            <a:avLst/>
          </a:prstGeom>
          <a:noFill/>
          <a:ln/>
        </p:spPr>
        <p:txBody>
          <a:bodyPr wrap="square" lIns="25400" tIns="25400" rIns="25400" bIns="25400" rtlCol="0" anchor="t">
            <a:normAutofit/>
          </a:bodyPr>
          <a:lstStyle/>
          <a:p>
            <a:pPr marL="0" indent="0" algn="l">
              <a:lnSpc>
                <a:spcPct val="150000"/>
              </a:lnSpc>
              <a:buNone/>
            </a:pPr>
            <a:r>
              <a:rPr lang="en-US" sz="1650" b="1" dirty="0">
                <a:solidFill>
                  <a:srgbClr val="FFFF00"/>
                </a:solidFill>
                <a:latin typeface="Courier New" pitchFamily="34" charset="0"/>
                <a:ea typeface="Courier New" pitchFamily="34" charset="-122"/>
                <a:cs typeface="Courier New" pitchFamily="34" charset="-120"/>
              </a:rPr>
              <a:t>AI is no different. </a:t>
            </a:r>
            <a:r>
              <a:rPr lang="en-US" sz="1650" dirty="0">
                <a:solidFill>
                  <a:srgbClr val="FFFFFF"/>
                </a:solidFill>
                <a:latin typeface="Courier New" pitchFamily="34" charset="0"/>
                <a:ea typeface="Courier New" pitchFamily="34" charset="-122"/>
                <a:cs typeface="Courier New" pitchFamily="34" charset="-120"/>
              </a:rPr>
              <a:t>It's a tool. Treat it like one.</a:t>
            </a:r>
            <a:endParaRPr lang="en-US" sz="1650" dirty="0"/>
          </a:p>
        </p:txBody>
      </p:sp>
      <p:sp>
        <p:nvSpPr>
          <p:cNvPr id="18" name="Shape 16"/>
          <p:cNvSpPr/>
          <p:nvPr/>
        </p:nvSpPr>
        <p:spPr>
          <a:xfrm>
            <a:off x="10000357" y="6081638"/>
            <a:ext cx="6849368" cy="990600"/>
          </a:xfrm>
          <a:prstGeom prst="rect">
            <a:avLst/>
          </a:prstGeom>
          <a:ln w="9525">
            <a:solidFill>
              <a:srgbClr val="2A2A2A"/>
            </a:solidFill>
            <a:prstDash val="dash"/>
          </a:ln>
        </p:spPr>
        <p:txBody>
          <a:bodyPr/>
          <a:lstStyle/>
          <a:p>
            <a:endParaRPr lang="en-US"/>
          </a:p>
        </p:txBody>
      </p:sp>
      <p:sp>
        <p:nvSpPr>
          <p:cNvPr id="19" name="Text 17"/>
          <p:cNvSpPr/>
          <p:nvPr/>
        </p:nvSpPr>
        <p:spPr>
          <a:xfrm>
            <a:off x="10219432" y="6281663"/>
            <a:ext cx="6616699" cy="628650"/>
          </a:xfrm>
          <a:prstGeom prst="rect">
            <a:avLst/>
          </a:prstGeom>
          <a:noFill/>
          <a:ln/>
        </p:spPr>
        <p:txBody>
          <a:bodyPr wrap="square" lIns="25400" tIns="25400" rIns="25400" bIns="25400" rtlCol="0" anchor="t">
            <a:normAutofit/>
          </a:bodyPr>
          <a:lstStyle/>
          <a:p>
            <a:pPr marL="0" indent="0" algn="l">
              <a:lnSpc>
                <a:spcPct val="150000"/>
              </a:lnSpc>
              <a:buNone/>
            </a:pPr>
            <a:endParaRPr lang="en-US" sz="1500" dirty="0"/>
          </a:p>
        </p:txBody>
      </p:sp>
      <p:sp>
        <p:nvSpPr>
          <p:cNvPr id="26" name="TextBox 25">
            <a:extLst>
              <a:ext uri="{FF2B5EF4-FFF2-40B4-BE49-F238E27FC236}">
                <a16:creationId xmlns:a16="http://schemas.microsoft.com/office/drawing/2014/main" id="{FF59A17F-B986-C656-3B14-F9B7BCB501A3}"/>
              </a:ext>
            </a:extLst>
          </p:cNvPr>
          <p:cNvSpPr txBox="1"/>
          <p:nvPr/>
        </p:nvSpPr>
        <p:spPr>
          <a:xfrm>
            <a:off x="1152079" y="6269518"/>
            <a:ext cx="8457753" cy="1605439"/>
          </a:xfrm>
          <a:prstGeom prst="rect">
            <a:avLst/>
          </a:prstGeom>
          <a:noFill/>
        </p:spPr>
        <p:txBody>
          <a:bodyPr wrap="square">
            <a:spAutoFit/>
          </a:bodyPr>
          <a:lstStyle/>
          <a:p>
            <a:pPr marL="0" indent="0" algn="l">
              <a:lnSpc>
                <a:spcPct val="135000"/>
              </a:lnSpc>
              <a:buNone/>
            </a:pPr>
            <a:r>
              <a:rPr lang="en-US" sz="2800" dirty="0">
                <a:solidFill>
                  <a:srgbClr val="FFFFFF"/>
                </a:solidFill>
                <a:latin typeface="Courier New" pitchFamily="34" charset="0"/>
                <a:ea typeface="Courier New" pitchFamily="34" charset="-122"/>
                <a:cs typeface="Courier New" pitchFamily="34" charset="-120"/>
              </a:rPr>
              <a:t>“The opposite of fragile is not resilience, it is antifragile.” </a:t>
            </a:r>
          </a:p>
          <a:p>
            <a:pPr marL="0" indent="0" algn="r">
              <a:lnSpc>
                <a:spcPct val="135000"/>
              </a:lnSpc>
              <a:buNone/>
            </a:pPr>
            <a:r>
              <a:rPr lang="en-US" dirty="0">
                <a:solidFill>
                  <a:srgbClr val="FFFFFF"/>
                </a:solidFill>
                <a:latin typeface="Courier New" pitchFamily="34" charset="0"/>
                <a:ea typeface="Courier New" pitchFamily="34" charset="-122"/>
                <a:cs typeface="Courier New" pitchFamily="34" charset="-120"/>
              </a:rPr>
              <a:t>– Dr. Nassim Taleb   </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Text 1"/>
          <p:cNvSpPr/>
          <p:nvPr/>
        </p:nvSpPr>
        <p:spPr>
          <a:xfrm>
            <a:off x="15228317" y="571500"/>
            <a:ext cx="20881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330" dirty="0">
                <a:solidFill>
                  <a:srgbClr val="6B6B6B"/>
                </a:solidFill>
                <a:latin typeface="Courier New" pitchFamily="34" charset="0"/>
                <a:ea typeface="Courier New" pitchFamily="34" charset="-122"/>
                <a:cs typeface="Courier New" pitchFamily="34" charset="-120"/>
              </a:rPr>
              <a:t>PART 02 / 04</a:t>
            </a:r>
            <a:endParaRPr lang="en-US" sz="1650" dirty="0"/>
          </a:p>
        </p:txBody>
      </p:sp>
      <p:sp>
        <p:nvSpPr>
          <p:cNvPr id="4" name="Text 2"/>
          <p:cNvSpPr/>
          <p:nvPr/>
        </p:nvSpPr>
        <p:spPr>
          <a:xfrm>
            <a:off x="1047750" y="838200"/>
            <a:ext cx="16678275" cy="342900"/>
          </a:xfrm>
          <a:prstGeom prst="rect">
            <a:avLst/>
          </a:prstGeom>
          <a:noFill/>
          <a:ln/>
        </p:spPr>
        <p:txBody>
          <a:bodyPr wrap="square" lIns="25400" tIns="25400" rIns="25400" bIns="25400" rtlCol="0" anchor="t">
            <a:noAutofit/>
          </a:bodyPr>
          <a:lstStyle/>
          <a:p>
            <a:pPr marL="0" indent="0" algn="l">
              <a:buNone/>
            </a:pPr>
            <a:r>
              <a:rPr lang="en-US" sz="2000" kern="0" spc="420" dirty="0">
                <a:solidFill>
                  <a:srgbClr val="FFFF00"/>
                </a:solidFill>
                <a:latin typeface="Courier New" pitchFamily="34" charset="0"/>
                <a:ea typeface="Courier New" pitchFamily="34" charset="-122"/>
                <a:cs typeface="Courier New" pitchFamily="34" charset="-120"/>
              </a:rPr>
              <a:t>›› §2 / THE LANDSCAPE</a:t>
            </a:r>
            <a:endParaRPr lang="en-US" sz="2000" dirty="0"/>
          </a:p>
        </p:txBody>
      </p:sp>
      <p:sp>
        <p:nvSpPr>
          <p:cNvPr id="5" name="Text 3"/>
          <p:cNvSpPr/>
          <p:nvPr/>
        </p:nvSpPr>
        <p:spPr>
          <a:xfrm>
            <a:off x="1047750" y="1447800"/>
            <a:ext cx="14716125" cy="4038600"/>
          </a:xfrm>
          <a:prstGeom prst="rect">
            <a:avLst/>
          </a:prstGeom>
          <a:noFill/>
          <a:ln/>
        </p:spPr>
        <p:txBody>
          <a:bodyPr wrap="square" lIns="25400" tIns="25400" rIns="25400" bIns="25400" rtlCol="0" anchor="t">
            <a:normAutofit/>
          </a:bodyPr>
          <a:lstStyle/>
          <a:p>
            <a:pPr marL="0" indent="0" algn="l">
              <a:lnSpc>
                <a:spcPct val="100000"/>
              </a:lnSpc>
              <a:buNone/>
            </a:pPr>
            <a:r>
              <a:rPr lang="en-US" sz="10500" b="1" kern="0" spc="-315" dirty="0">
                <a:solidFill>
                  <a:srgbClr val="FFFFFF"/>
                </a:solidFill>
                <a:latin typeface="Courier New" pitchFamily="34" charset="0"/>
                <a:ea typeface="Courier New" pitchFamily="34" charset="-122"/>
                <a:cs typeface="Courier New" pitchFamily="34" charset="-120"/>
              </a:rPr>
              <a:t>Starting Point on the </a:t>
            </a:r>
            <a:r>
              <a:rPr lang="en-US" sz="10500" b="1" kern="0" spc="-315" dirty="0">
                <a:solidFill>
                  <a:srgbClr val="FFFF00"/>
                </a:solidFill>
                <a:latin typeface="Courier New" pitchFamily="34" charset="0"/>
                <a:ea typeface="Courier New" pitchFamily="34" charset="-122"/>
                <a:cs typeface="Courier New" pitchFamily="34" charset="-120"/>
              </a:rPr>
              <a:t>map.</a:t>
            </a:r>
            <a:endParaRPr lang="en-US" sz="10500" dirty="0"/>
          </a:p>
        </p:txBody>
      </p:sp>
      <p:sp>
        <p:nvSpPr>
          <p:cNvPr id="6" name="Shape 4"/>
          <p:cNvSpPr/>
          <p:nvPr/>
        </p:nvSpPr>
        <p:spPr>
          <a:xfrm>
            <a:off x="1047750" y="5829300"/>
            <a:ext cx="10477500" cy="9525"/>
          </a:xfrm>
          <a:prstGeom prst="rect">
            <a:avLst/>
          </a:prstGeom>
          <a:solidFill>
            <a:srgbClr val="FFFF00"/>
          </a:solidFill>
          <a:ln/>
        </p:spPr>
        <p:txBody>
          <a:bodyPr/>
          <a:lstStyle/>
          <a:p>
            <a:endParaRPr lang="en-US"/>
          </a:p>
        </p:txBody>
      </p:sp>
      <p:sp>
        <p:nvSpPr>
          <p:cNvPr id="7" name="Text 5"/>
          <p:cNvSpPr/>
          <p:nvPr/>
        </p:nvSpPr>
        <p:spPr>
          <a:xfrm>
            <a:off x="1047750" y="6067425"/>
            <a:ext cx="10791825" cy="838200"/>
          </a:xfrm>
          <a:prstGeom prst="rect">
            <a:avLst/>
          </a:prstGeom>
          <a:noFill/>
          <a:ln/>
        </p:spPr>
        <p:txBody>
          <a:bodyPr wrap="square" lIns="25400" tIns="25400" rIns="25400" bIns="25400" rtlCol="0" anchor="t">
            <a:normAutofit/>
          </a:bodyPr>
          <a:lstStyle/>
          <a:p>
            <a:pPr marL="0" indent="0" algn="l">
              <a:lnSpc>
                <a:spcPct val="150000"/>
              </a:lnSpc>
              <a:buNone/>
            </a:pPr>
            <a:r>
              <a:rPr lang="en-US" sz="2100" dirty="0">
                <a:solidFill>
                  <a:srgbClr val="FFFF00"/>
                </a:solidFill>
                <a:latin typeface="Courier New" pitchFamily="34" charset="0"/>
                <a:cs typeface="Courier New" pitchFamily="34" charset="-120"/>
              </a:rPr>
              <a:t>Hosted, Local, Hybrid</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a:t>
            </a:r>
            <a:r>
              <a:rPr lang="en-US" sz="4800" b="1" kern="0" spc="-48" dirty="0" err="1">
                <a:solidFill>
                  <a:srgbClr val="FFFF00"/>
                </a:solidFill>
                <a:latin typeface="Courier New" pitchFamily="34" charset="0"/>
                <a:ea typeface="Courier New" pitchFamily="34" charset="-122"/>
                <a:cs typeface="Courier New" pitchFamily="34" charset="-120"/>
              </a:rPr>
              <a:t>llm</a:t>
            </a:r>
            <a:r>
              <a:rPr lang="en-US" sz="4800" b="1" kern="0" spc="-48" dirty="0">
                <a:solidFill>
                  <a:srgbClr val="FFFF00"/>
                </a:solidFill>
                <a:latin typeface="Courier New" pitchFamily="34" charset="0"/>
                <a:ea typeface="Courier New" pitchFamily="34" charset="-122"/>
                <a:cs typeface="Courier New" pitchFamily="34" charset="-120"/>
              </a:rPr>
              <a:t>-landscape</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15411450" cy="5253782"/>
          </a:xfrm>
          <a:prstGeom prst="rect">
            <a:avLst/>
          </a:prstGeom>
          <a:ln w="9525">
            <a:solidFill>
              <a:srgbClr val="2A2A2A"/>
            </a:solidFill>
            <a:prstDash val="solid"/>
          </a:ln>
        </p:spPr>
        <p:txBody>
          <a:bodyPr/>
          <a:lstStyle/>
          <a:p>
            <a:endParaRPr lang="en-US"/>
          </a:p>
        </p:txBody>
      </p:sp>
      <p:sp>
        <p:nvSpPr>
          <p:cNvPr id="7" name="Shape 5"/>
          <p:cNvSpPr/>
          <p:nvPr/>
        </p:nvSpPr>
        <p:spPr>
          <a:xfrm>
            <a:off x="6569050" y="2537445"/>
            <a:ext cx="9525" cy="5234732"/>
          </a:xfrm>
          <a:prstGeom prst="rect">
            <a:avLst/>
          </a:prstGeom>
          <a:solidFill>
            <a:srgbClr val="2A2A2A"/>
          </a:solidFill>
          <a:ln/>
        </p:spPr>
        <p:txBody>
          <a:bodyPr/>
          <a:lstStyle/>
          <a:p>
            <a:endParaRPr lang="en-US"/>
          </a:p>
        </p:txBody>
      </p:sp>
      <p:sp>
        <p:nvSpPr>
          <p:cNvPr id="8" name="Text 6"/>
          <p:cNvSpPr/>
          <p:nvPr/>
        </p:nvSpPr>
        <p:spPr>
          <a:xfrm>
            <a:off x="1790700" y="2880345"/>
            <a:ext cx="4568514"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 01</a:t>
            </a:r>
            <a:endParaRPr lang="en-US" sz="1650" dirty="0"/>
          </a:p>
        </p:txBody>
      </p:sp>
      <p:sp>
        <p:nvSpPr>
          <p:cNvPr id="9" name="Text 7"/>
          <p:cNvSpPr/>
          <p:nvPr/>
        </p:nvSpPr>
        <p:spPr>
          <a:xfrm>
            <a:off x="1790700" y="3357488"/>
            <a:ext cx="4568514" cy="569565"/>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700" b="1" dirty="0">
                <a:solidFill>
                  <a:srgbClr val="FFFFFF"/>
                </a:solidFill>
                <a:latin typeface="Courier New" pitchFamily="34" charset="0"/>
                <a:ea typeface="Courier New" pitchFamily="34" charset="-122"/>
                <a:cs typeface="Courier New" pitchFamily="34" charset="-120"/>
              </a:rPr>
              <a:t>Hosted</a:t>
            </a:r>
            <a:endParaRPr lang="en-US" sz="2700" dirty="0"/>
          </a:p>
        </p:txBody>
      </p:sp>
      <p:sp>
        <p:nvSpPr>
          <p:cNvPr id="10" name="Shape 8"/>
          <p:cNvSpPr/>
          <p:nvPr/>
        </p:nvSpPr>
        <p:spPr>
          <a:xfrm>
            <a:off x="1790700" y="4041353"/>
            <a:ext cx="2114848" cy="400050"/>
          </a:xfrm>
          <a:prstGeom prst="rect">
            <a:avLst/>
          </a:prstGeom>
          <a:ln w="9525">
            <a:solidFill>
              <a:srgbClr val="3A3A3A"/>
            </a:solidFill>
            <a:prstDash val="solid"/>
          </a:ln>
        </p:spPr>
        <p:txBody>
          <a:bodyPr/>
          <a:lstStyle/>
          <a:p>
            <a:endParaRPr lang="en-US"/>
          </a:p>
        </p:txBody>
      </p:sp>
      <p:sp>
        <p:nvSpPr>
          <p:cNvPr id="11" name="Text 9"/>
          <p:cNvSpPr/>
          <p:nvPr/>
        </p:nvSpPr>
        <p:spPr>
          <a:xfrm>
            <a:off x="1933575" y="4127078"/>
            <a:ext cx="1905298"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Anthropic Claude</a:t>
            </a:r>
            <a:endParaRPr lang="en-US" sz="1500" dirty="0"/>
          </a:p>
        </p:txBody>
      </p:sp>
      <p:sp>
        <p:nvSpPr>
          <p:cNvPr id="12" name="Shape 10"/>
          <p:cNvSpPr/>
          <p:nvPr/>
        </p:nvSpPr>
        <p:spPr>
          <a:xfrm>
            <a:off x="4000798" y="4041353"/>
            <a:ext cx="1428973" cy="400050"/>
          </a:xfrm>
          <a:prstGeom prst="rect">
            <a:avLst/>
          </a:prstGeom>
          <a:ln w="9525">
            <a:solidFill>
              <a:srgbClr val="3A3A3A"/>
            </a:solidFill>
            <a:prstDash val="solid"/>
          </a:ln>
        </p:spPr>
        <p:txBody>
          <a:bodyPr/>
          <a:lstStyle/>
          <a:p>
            <a:endParaRPr lang="en-US"/>
          </a:p>
        </p:txBody>
      </p:sp>
      <p:sp>
        <p:nvSpPr>
          <p:cNvPr id="13" name="Text 11"/>
          <p:cNvSpPr/>
          <p:nvPr/>
        </p:nvSpPr>
        <p:spPr>
          <a:xfrm>
            <a:off x="4143673" y="4127078"/>
            <a:ext cx="1219423"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OpenAI GPT</a:t>
            </a:r>
            <a:endParaRPr lang="en-US" sz="1500" dirty="0"/>
          </a:p>
        </p:txBody>
      </p:sp>
      <p:sp>
        <p:nvSpPr>
          <p:cNvPr id="14" name="Shape 12"/>
          <p:cNvSpPr/>
          <p:nvPr/>
        </p:nvSpPr>
        <p:spPr>
          <a:xfrm>
            <a:off x="1790700" y="4536653"/>
            <a:ext cx="971699" cy="400050"/>
          </a:xfrm>
          <a:prstGeom prst="rect">
            <a:avLst/>
          </a:prstGeom>
          <a:ln w="9525">
            <a:solidFill>
              <a:srgbClr val="3A3A3A"/>
            </a:solidFill>
            <a:prstDash val="solid"/>
          </a:ln>
        </p:spPr>
        <p:txBody>
          <a:bodyPr/>
          <a:lstStyle/>
          <a:p>
            <a:endParaRPr lang="en-US"/>
          </a:p>
        </p:txBody>
      </p:sp>
      <p:sp>
        <p:nvSpPr>
          <p:cNvPr id="15" name="Text 13"/>
          <p:cNvSpPr/>
          <p:nvPr/>
        </p:nvSpPr>
        <p:spPr>
          <a:xfrm>
            <a:off x="1933575" y="4622378"/>
            <a:ext cx="762149"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Gemini</a:t>
            </a:r>
            <a:endParaRPr lang="en-US" sz="1500" dirty="0"/>
          </a:p>
        </p:txBody>
      </p:sp>
      <p:sp>
        <p:nvSpPr>
          <p:cNvPr id="16" name="Text 14"/>
          <p:cNvSpPr/>
          <p:nvPr/>
        </p:nvSpPr>
        <p:spPr>
          <a:xfrm>
            <a:off x="1829086" y="5911527"/>
            <a:ext cx="4568514" cy="8953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You rent. State of the art. Your prompts traverse someone else's data center.</a:t>
            </a:r>
            <a:endParaRPr lang="en-US" sz="1500" dirty="0"/>
          </a:p>
        </p:txBody>
      </p:sp>
      <p:sp>
        <p:nvSpPr>
          <p:cNvPr id="29" name="Shape 27"/>
          <p:cNvSpPr/>
          <p:nvPr/>
        </p:nvSpPr>
        <p:spPr>
          <a:xfrm>
            <a:off x="11699825" y="2537445"/>
            <a:ext cx="9525" cy="5234732"/>
          </a:xfrm>
          <a:prstGeom prst="rect">
            <a:avLst/>
          </a:prstGeom>
          <a:solidFill>
            <a:srgbClr val="2A2A2A"/>
          </a:solidFill>
          <a:ln/>
        </p:spPr>
        <p:txBody>
          <a:bodyPr/>
          <a:lstStyle/>
          <a:p>
            <a:endParaRPr lang="en-US"/>
          </a:p>
        </p:txBody>
      </p:sp>
      <p:sp>
        <p:nvSpPr>
          <p:cNvPr id="30" name="Text 28"/>
          <p:cNvSpPr/>
          <p:nvPr/>
        </p:nvSpPr>
        <p:spPr>
          <a:xfrm>
            <a:off x="6921475" y="2880345"/>
            <a:ext cx="4568514"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 02</a:t>
            </a:r>
            <a:endParaRPr lang="en-US" sz="1650" dirty="0"/>
          </a:p>
        </p:txBody>
      </p:sp>
      <p:sp>
        <p:nvSpPr>
          <p:cNvPr id="31" name="Text 29"/>
          <p:cNvSpPr/>
          <p:nvPr/>
        </p:nvSpPr>
        <p:spPr>
          <a:xfrm>
            <a:off x="6921475" y="3357488"/>
            <a:ext cx="4568514" cy="569565"/>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700" b="1" dirty="0">
                <a:solidFill>
                  <a:srgbClr val="FFFFFF"/>
                </a:solidFill>
                <a:latin typeface="Courier New" pitchFamily="34" charset="0"/>
                <a:ea typeface="Courier New" pitchFamily="34" charset="-122"/>
                <a:cs typeface="Courier New" pitchFamily="34" charset="-120"/>
              </a:rPr>
              <a:t>Local</a:t>
            </a:r>
            <a:endParaRPr lang="en-US" sz="2700" dirty="0"/>
          </a:p>
        </p:txBody>
      </p:sp>
      <p:sp>
        <p:nvSpPr>
          <p:cNvPr id="32" name="Shape 30"/>
          <p:cNvSpPr/>
          <p:nvPr/>
        </p:nvSpPr>
        <p:spPr>
          <a:xfrm>
            <a:off x="6921475" y="4041353"/>
            <a:ext cx="971699" cy="400050"/>
          </a:xfrm>
          <a:prstGeom prst="rect">
            <a:avLst/>
          </a:prstGeom>
          <a:ln w="9525">
            <a:solidFill>
              <a:srgbClr val="3A3A3A"/>
            </a:solidFill>
            <a:prstDash val="solid"/>
          </a:ln>
        </p:spPr>
        <p:txBody>
          <a:bodyPr/>
          <a:lstStyle/>
          <a:p>
            <a:endParaRPr lang="en-US"/>
          </a:p>
        </p:txBody>
      </p:sp>
      <p:sp>
        <p:nvSpPr>
          <p:cNvPr id="33" name="Text 31"/>
          <p:cNvSpPr/>
          <p:nvPr/>
        </p:nvSpPr>
        <p:spPr>
          <a:xfrm>
            <a:off x="7064350" y="4127078"/>
            <a:ext cx="762149"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Ollama</a:t>
            </a:r>
            <a:endParaRPr lang="en-US" sz="1500" dirty="0"/>
          </a:p>
        </p:txBody>
      </p:sp>
      <p:sp>
        <p:nvSpPr>
          <p:cNvPr id="34" name="Shape 32"/>
          <p:cNvSpPr/>
          <p:nvPr/>
        </p:nvSpPr>
        <p:spPr>
          <a:xfrm>
            <a:off x="7988424" y="4041353"/>
            <a:ext cx="857399" cy="400050"/>
          </a:xfrm>
          <a:prstGeom prst="rect">
            <a:avLst/>
          </a:prstGeom>
          <a:ln w="9525">
            <a:solidFill>
              <a:srgbClr val="3A3A3A"/>
            </a:solidFill>
            <a:prstDash val="solid"/>
          </a:ln>
        </p:spPr>
        <p:txBody>
          <a:bodyPr/>
          <a:lstStyle/>
          <a:p>
            <a:endParaRPr lang="en-US"/>
          </a:p>
        </p:txBody>
      </p:sp>
      <p:sp>
        <p:nvSpPr>
          <p:cNvPr id="35" name="Text 33"/>
          <p:cNvSpPr/>
          <p:nvPr/>
        </p:nvSpPr>
        <p:spPr>
          <a:xfrm>
            <a:off x="8131299" y="4127078"/>
            <a:ext cx="647849"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Llama</a:t>
            </a:r>
            <a:endParaRPr lang="en-US" sz="1500" dirty="0"/>
          </a:p>
        </p:txBody>
      </p:sp>
      <p:sp>
        <p:nvSpPr>
          <p:cNvPr id="36" name="Shape 34"/>
          <p:cNvSpPr/>
          <p:nvPr/>
        </p:nvSpPr>
        <p:spPr>
          <a:xfrm>
            <a:off x="8941073" y="4041353"/>
            <a:ext cx="743024" cy="400050"/>
          </a:xfrm>
          <a:prstGeom prst="rect">
            <a:avLst/>
          </a:prstGeom>
          <a:ln w="9525">
            <a:solidFill>
              <a:srgbClr val="3A3A3A"/>
            </a:solidFill>
            <a:prstDash val="solid"/>
          </a:ln>
        </p:spPr>
        <p:txBody>
          <a:bodyPr/>
          <a:lstStyle/>
          <a:p>
            <a:endParaRPr lang="en-US"/>
          </a:p>
        </p:txBody>
      </p:sp>
      <p:sp>
        <p:nvSpPr>
          <p:cNvPr id="37" name="Text 35"/>
          <p:cNvSpPr/>
          <p:nvPr/>
        </p:nvSpPr>
        <p:spPr>
          <a:xfrm>
            <a:off x="9083948" y="4127078"/>
            <a:ext cx="533474"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Qwen</a:t>
            </a:r>
            <a:endParaRPr lang="en-US" sz="1500" dirty="0"/>
          </a:p>
        </p:txBody>
      </p:sp>
      <p:sp>
        <p:nvSpPr>
          <p:cNvPr id="38" name="Shape 36"/>
          <p:cNvSpPr/>
          <p:nvPr/>
        </p:nvSpPr>
        <p:spPr>
          <a:xfrm>
            <a:off x="9779347" y="4041353"/>
            <a:ext cx="1085999" cy="400050"/>
          </a:xfrm>
          <a:prstGeom prst="rect">
            <a:avLst/>
          </a:prstGeom>
          <a:ln w="9525">
            <a:solidFill>
              <a:srgbClr val="3A3A3A"/>
            </a:solidFill>
            <a:prstDash val="solid"/>
          </a:ln>
        </p:spPr>
        <p:txBody>
          <a:bodyPr/>
          <a:lstStyle/>
          <a:p>
            <a:endParaRPr lang="en-US"/>
          </a:p>
        </p:txBody>
      </p:sp>
      <p:sp>
        <p:nvSpPr>
          <p:cNvPr id="39" name="Text 37"/>
          <p:cNvSpPr/>
          <p:nvPr/>
        </p:nvSpPr>
        <p:spPr>
          <a:xfrm>
            <a:off x="9922222" y="4127078"/>
            <a:ext cx="876449"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Mistral</a:t>
            </a:r>
            <a:endParaRPr lang="en-US" sz="1500" dirty="0"/>
          </a:p>
        </p:txBody>
      </p:sp>
      <p:sp>
        <p:nvSpPr>
          <p:cNvPr id="40" name="Text 38"/>
          <p:cNvSpPr/>
          <p:nvPr/>
        </p:nvSpPr>
        <p:spPr>
          <a:xfrm>
            <a:off x="6921475" y="5768652"/>
            <a:ext cx="4568514" cy="11811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You own it. Data never leaves the building. You also now run an inference stack — congrats, you're an AI ops team.</a:t>
            </a:r>
            <a:endParaRPr lang="en-US" sz="1500" dirty="0"/>
          </a:p>
        </p:txBody>
      </p:sp>
      <p:sp>
        <p:nvSpPr>
          <p:cNvPr id="53" name="Shape 51"/>
          <p:cNvSpPr/>
          <p:nvPr/>
        </p:nvSpPr>
        <p:spPr>
          <a:xfrm>
            <a:off x="11709350" y="2537445"/>
            <a:ext cx="5130850" cy="5234732"/>
          </a:xfrm>
          <a:prstGeom prst="rect">
            <a:avLst/>
          </a:prstGeom>
          <a:solidFill>
            <a:srgbClr val="F6E80A">
              <a:alpha val="4000"/>
            </a:srgbClr>
          </a:solidFill>
          <a:ln/>
        </p:spPr>
        <p:txBody>
          <a:bodyPr/>
          <a:lstStyle/>
          <a:p>
            <a:endParaRPr lang="en-US" dirty="0"/>
          </a:p>
        </p:txBody>
      </p:sp>
      <p:sp>
        <p:nvSpPr>
          <p:cNvPr id="54" name="Text 52"/>
          <p:cNvSpPr/>
          <p:nvPr/>
        </p:nvSpPr>
        <p:spPr>
          <a:xfrm>
            <a:off x="12052250" y="2880345"/>
            <a:ext cx="4578401" cy="687586"/>
          </a:xfrm>
          <a:prstGeom prst="rect">
            <a:avLst/>
          </a:prstGeom>
          <a:noFill/>
          <a:ln/>
        </p:spPr>
        <p:txBody>
          <a:bodyPr wrap="square" lIns="25400" tIns="25400" rIns="25400" bIns="25400" rtlCol="0" anchor="t">
            <a:normAutofit/>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 03 </a:t>
            </a:r>
            <a:endParaRPr lang="en-US" sz="1650" dirty="0"/>
          </a:p>
        </p:txBody>
      </p:sp>
      <p:sp>
        <p:nvSpPr>
          <p:cNvPr id="55" name="Text 53"/>
          <p:cNvSpPr/>
          <p:nvPr/>
        </p:nvSpPr>
        <p:spPr>
          <a:xfrm>
            <a:off x="12052250" y="3373474"/>
            <a:ext cx="4578401" cy="569565"/>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700" b="1" dirty="0">
                <a:solidFill>
                  <a:srgbClr val="FFFFFF"/>
                </a:solidFill>
                <a:latin typeface="Courier New" pitchFamily="34" charset="0"/>
                <a:ea typeface="Courier New" pitchFamily="34" charset="-122"/>
                <a:cs typeface="Courier New" pitchFamily="34" charset="-120"/>
              </a:rPr>
              <a:t>Hybrid</a:t>
            </a:r>
            <a:endParaRPr lang="en-US" sz="2700" dirty="0"/>
          </a:p>
        </p:txBody>
      </p:sp>
      <p:sp>
        <p:nvSpPr>
          <p:cNvPr id="56" name="Shape 54"/>
          <p:cNvSpPr/>
          <p:nvPr/>
        </p:nvSpPr>
        <p:spPr>
          <a:xfrm>
            <a:off x="11976276" y="3983559"/>
            <a:ext cx="1886248" cy="400050"/>
          </a:xfrm>
          <a:prstGeom prst="rect">
            <a:avLst/>
          </a:prstGeom>
          <a:ln w="9525">
            <a:solidFill>
              <a:srgbClr val="3A3A3A"/>
            </a:solidFill>
            <a:prstDash val="solid"/>
          </a:ln>
        </p:spPr>
        <p:txBody>
          <a:bodyPr/>
          <a:lstStyle/>
          <a:p>
            <a:endParaRPr lang="en-US"/>
          </a:p>
        </p:txBody>
      </p:sp>
      <p:sp>
        <p:nvSpPr>
          <p:cNvPr id="57" name="Text 55"/>
          <p:cNvSpPr/>
          <p:nvPr/>
        </p:nvSpPr>
        <p:spPr>
          <a:xfrm>
            <a:off x="12099875" y="4014165"/>
            <a:ext cx="1676698"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Routed by task</a:t>
            </a:r>
            <a:endParaRPr lang="en-US" sz="1500" dirty="0"/>
          </a:p>
        </p:txBody>
      </p:sp>
      <p:sp>
        <p:nvSpPr>
          <p:cNvPr id="58" name="Shape 56"/>
          <p:cNvSpPr/>
          <p:nvPr/>
        </p:nvSpPr>
        <p:spPr>
          <a:xfrm>
            <a:off x="13972728" y="3927053"/>
            <a:ext cx="1543273" cy="400050"/>
          </a:xfrm>
          <a:prstGeom prst="rect">
            <a:avLst/>
          </a:prstGeom>
          <a:ln w="9525">
            <a:solidFill>
              <a:srgbClr val="3A3A3A"/>
            </a:solidFill>
            <a:prstDash val="solid"/>
          </a:ln>
        </p:spPr>
        <p:txBody>
          <a:bodyPr/>
          <a:lstStyle/>
          <a:p>
            <a:endParaRPr lang="en-US"/>
          </a:p>
        </p:txBody>
      </p:sp>
      <p:sp>
        <p:nvSpPr>
          <p:cNvPr id="59" name="Text 57"/>
          <p:cNvSpPr/>
          <p:nvPr/>
        </p:nvSpPr>
        <p:spPr>
          <a:xfrm>
            <a:off x="14093691" y="4035461"/>
            <a:ext cx="1333723" cy="2667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AWS Bedrock</a:t>
            </a:r>
            <a:endParaRPr lang="en-US" sz="1500" dirty="0"/>
          </a:p>
        </p:txBody>
      </p:sp>
      <p:sp>
        <p:nvSpPr>
          <p:cNvPr id="60" name="Shape 58"/>
          <p:cNvSpPr/>
          <p:nvPr/>
        </p:nvSpPr>
        <p:spPr>
          <a:xfrm>
            <a:off x="12042724" y="4547565"/>
            <a:ext cx="2752267" cy="341513"/>
          </a:xfrm>
          <a:prstGeom prst="rect">
            <a:avLst/>
          </a:prstGeom>
          <a:ln w="9525">
            <a:solidFill>
              <a:srgbClr val="3A3A3A"/>
            </a:solidFill>
            <a:prstDash val="solid"/>
          </a:ln>
        </p:spPr>
        <p:txBody>
          <a:bodyPr/>
          <a:lstStyle/>
          <a:p>
            <a:endParaRPr lang="en-US"/>
          </a:p>
        </p:txBody>
      </p:sp>
      <p:sp>
        <p:nvSpPr>
          <p:cNvPr id="61" name="Text 59"/>
          <p:cNvSpPr/>
          <p:nvPr/>
        </p:nvSpPr>
        <p:spPr>
          <a:xfrm>
            <a:off x="12052250" y="4580806"/>
            <a:ext cx="2562523" cy="323850"/>
          </a:xfrm>
          <a:prstGeom prst="rect">
            <a:avLst/>
          </a:prstGeom>
          <a:noFill/>
          <a:ln/>
        </p:spPr>
        <p:txBody>
          <a:bodyPr wrap="square" lIns="25400" tIns="25400" rIns="25400" bIns="25400" rtlCol="0" anchor="t">
            <a:normAutofit fontScale="85000" lnSpcReduction="10000"/>
          </a:bodyPr>
          <a:lstStyle/>
          <a:p>
            <a:pPr marL="0" indent="0" algn="l">
              <a:lnSpc>
                <a:spcPct val="120000"/>
              </a:lnSpc>
              <a:buNone/>
            </a:pPr>
            <a:r>
              <a:rPr lang="en-US" sz="1500" dirty="0">
                <a:solidFill>
                  <a:srgbClr val="CFCFCF"/>
                </a:solidFill>
                <a:latin typeface="Courier New" pitchFamily="34" charset="0"/>
                <a:ea typeface="Courier New" pitchFamily="34" charset="-122"/>
                <a:cs typeface="Courier New" pitchFamily="34" charset="-120"/>
              </a:rPr>
              <a:t>Azure AI Foundry (Studio)</a:t>
            </a:r>
            <a:endParaRPr lang="en-US" sz="1500" dirty="0"/>
          </a:p>
        </p:txBody>
      </p:sp>
      <p:sp>
        <p:nvSpPr>
          <p:cNvPr id="62" name="Text 60"/>
          <p:cNvSpPr/>
          <p:nvPr/>
        </p:nvSpPr>
        <p:spPr>
          <a:xfrm>
            <a:off x="12052250" y="5721721"/>
            <a:ext cx="4578401"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Sensitive ↦ local. Generic ↦ hosted. One API surface, multiple backends.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./hosted --rent</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WHAT IT IS</a:t>
            </a:r>
            <a:endParaRPr lang="en-US" sz="1800" dirty="0"/>
          </a:p>
        </p:txBody>
      </p:sp>
      <p:sp>
        <p:nvSpPr>
          <p:cNvPr id="7" name="Text 5"/>
          <p:cNvSpPr/>
          <p:nvPr/>
        </p:nvSpPr>
        <p:spPr>
          <a:xfrm>
            <a:off x="1438275" y="3244155"/>
            <a:ext cx="7760303" cy="1503908"/>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2850" dirty="0">
                <a:solidFill>
                  <a:srgbClr val="FFFFFF"/>
                </a:solidFill>
                <a:latin typeface="Courier New" pitchFamily="34" charset="0"/>
                <a:ea typeface="Courier New" pitchFamily="34" charset="-122"/>
                <a:cs typeface="Courier New" pitchFamily="34" charset="-120"/>
              </a:rPr>
              <a:t>The big public APIs. </a:t>
            </a:r>
            <a:r>
              <a:rPr lang="en-US" sz="2850" dirty="0">
                <a:solidFill>
                  <a:srgbClr val="FFFF00"/>
                </a:solidFill>
                <a:latin typeface="Courier New" pitchFamily="34" charset="0"/>
                <a:ea typeface="Courier New" pitchFamily="34" charset="-122"/>
                <a:cs typeface="Courier New" pitchFamily="34" charset="-120"/>
              </a:rPr>
              <a:t>Claude. GPT. Gemini. </a:t>
            </a:r>
            <a:r>
              <a:rPr lang="en-US" sz="2850" dirty="0">
                <a:solidFill>
                  <a:srgbClr val="FFFFFF"/>
                </a:solidFill>
                <a:latin typeface="Courier New" pitchFamily="34" charset="0"/>
                <a:ea typeface="Courier New" pitchFamily="34" charset="-122"/>
                <a:cs typeface="Courier New" pitchFamily="34" charset="-120"/>
              </a:rPr>
              <a:t>You don't run them; you call them.</a:t>
            </a:r>
            <a:endParaRPr lang="en-US" sz="2850" dirty="0"/>
          </a:p>
        </p:txBody>
      </p:sp>
      <p:sp>
        <p:nvSpPr>
          <p:cNvPr id="8" name="Text 6"/>
          <p:cNvSpPr/>
          <p:nvPr/>
        </p:nvSpPr>
        <p:spPr>
          <a:xfrm>
            <a:off x="1781175" y="5205264"/>
            <a:ext cx="7417403" cy="804862"/>
          </a:xfrm>
          <a:prstGeom prst="rect">
            <a:avLst/>
          </a:prstGeom>
          <a:noFill/>
          <a:ln/>
        </p:spPr>
        <p:txBody>
          <a:bodyPr wrap="square" lIns="25400" tIns="25400" rIns="25400" bIns="25400" rtlCol="0" anchor="t">
            <a:normAutofit/>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The strongest models</a:t>
            </a:r>
            <a:r>
              <a:rPr lang="en-US" sz="1950" dirty="0">
                <a:solidFill>
                  <a:srgbClr val="FFFFFF"/>
                </a:solidFill>
                <a:latin typeface="Courier New" pitchFamily="34" charset="0"/>
                <a:ea typeface="Courier New" pitchFamily="34" charset="-122"/>
                <a:cs typeface="Courier New" pitchFamily="34" charset="-120"/>
              </a:rPr>
              <a:t>, by a meaningful margin.</a:t>
            </a:r>
            <a:endParaRPr lang="en-US" sz="1950" dirty="0"/>
          </a:p>
        </p:txBody>
      </p:sp>
      <p:sp>
        <p:nvSpPr>
          <p:cNvPr id="9" name="Text 7"/>
          <p:cNvSpPr/>
          <p:nvPr/>
        </p:nvSpPr>
        <p:spPr>
          <a:xfrm>
            <a:off x="1781175" y="6050607"/>
            <a:ext cx="7417403" cy="433388"/>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Zero infra. </a:t>
            </a:r>
            <a:r>
              <a:rPr lang="en-US" sz="1950" dirty="0">
                <a:solidFill>
                  <a:srgbClr val="FFFFFF"/>
                </a:solidFill>
                <a:latin typeface="Courier New" pitchFamily="34" charset="0"/>
                <a:ea typeface="Courier New" pitchFamily="34" charset="-122"/>
                <a:cs typeface="Courier New" pitchFamily="34" charset="-120"/>
              </a:rPr>
              <a:t>An API key and a </a:t>
            </a:r>
            <a:r>
              <a:rPr lang="en-US" sz="1950" dirty="0" err="1">
                <a:solidFill>
                  <a:srgbClr val="FFFFFF"/>
                </a:solidFill>
                <a:latin typeface="Courier New" pitchFamily="34" charset="0"/>
                <a:ea typeface="Courier New" pitchFamily="34" charset="-122"/>
                <a:cs typeface="Courier New" pitchFamily="34" charset="-120"/>
              </a:rPr>
              <a:t>OpEx</a:t>
            </a:r>
            <a:r>
              <a:rPr lang="en-US" sz="1950" dirty="0">
                <a:solidFill>
                  <a:srgbClr val="FFFFFF"/>
                </a:solidFill>
                <a:latin typeface="Courier New" pitchFamily="34" charset="0"/>
                <a:ea typeface="Courier New" pitchFamily="34" charset="-122"/>
                <a:cs typeface="Courier New" pitchFamily="34" charset="-120"/>
              </a:rPr>
              <a:t> budget.</a:t>
            </a:r>
            <a:endParaRPr lang="en-US" sz="1950" dirty="0"/>
          </a:p>
        </p:txBody>
      </p:sp>
      <p:sp>
        <p:nvSpPr>
          <p:cNvPr id="10" name="Text 8"/>
          <p:cNvSpPr/>
          <p:nvPr/>
        </p:nvSpPr>
        <p:spPr>
          <a:xfrm>
            <a:off x="1781175" y="6786414"/>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State of the art </a:t>
            </a:r>
            <a:r>
              <a:rPr lang="en-US" sz="1950" dirty="0">
                <a:solidFill>
                  <a:srgbClr val="FFFFFF"/>
                </a:solidFill>
                <a:latin typeface="Courier New" pitchFamily="34" charset="0"/>
                <a:ea typeface="Courier New" pitchFamily="34" charset="-122"/>
                <a:cs typeface="Courier New" pitchFamily="34" charset="-120"/>
              </a:rPr>
              <a:t>moves about every six weeks. You get the upgrade for free.</a:t>
            </a:r>
            <a:endParaRPr lang="en-US" sz="1950" dirty="0"/>
          </a:p>
        </p:txBody>
      </p:sp>
      <p:sp>
        <p:nvSpPr>
          <p:cNvPr id="11" name="Text 9"/>
          <p:cNvSpPr/>
          <p:nvPr/>
        </p:nvSpPr>
        <p:spPr>
          <a:xfrm>
            <a:off x="9315450"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6B35"/>
                </a:solidFill>
                <a:latin typeface="Courier New" pitchFamily="34" charset="0"/>
                <a:ea typeface="Courier New" pitchFamily="34" charset="-122"/>
                <a:cs typeface="Courier New" pitchFamily="34" charset="-120"/>
              </a:rPr>
              <a:t>THE CATCH</a:t>
            </a:r>
            <a:endParaRPr lang="en-US" sz="1800" dirty="0"/>
          </a:p>
        </p:txBody>
      </p:sp>
      <p:sp>
        <p:nvSpPr>
          <p:cNvPr id="12" name="Text 10"/>
          <p:cNvSpPr/>
          <p:nvPr/>
        </p:nvSpPr>
        <p:spPr>
          <a:xfrm>
            <a:off x="9658350" y="3244155"/>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Your </a:t>
            </a:r>
            <a:r>
              <a:rPr lang="en-US" sz="1950" b="1" dirty="0">
                <a:solidFill>
                  <a:srgbClr val="FFFF00"/>
                </a:solidFill>
                <a:latin typeface="Courier New" pitchFamily="34" charset="0"/>
                <a:ea typeface="Courier New" pitchFamily="34" charset="-122"/>
                <a:cs typeface="Courier New" pitchFamily="34" charset="-120"/>
              </a:rPr>
              <a:t>prompts and configs </a:t>
            </a:r>
            <a:r>
              <a:rPr lang="en-US" sz="1950" dirty="0">
                <a:solidFill>
                  <a:srgbClr val="FFFFFF"/>
                </a:solidFill>
                <a:latin typeface="Courier New" pitchFamily="34" charset="0"/>
                <a:ea typeface="Courier New" pitchFamily="34" charset="-122"/>
                <a:cs typeface="Courier New" pitchFamily="34" charset="-120"/>
              </a:rPr>
              <a:t>go through someone else's data center.</a:t>
            </a:r>
            <a:endParaRPr lang="en-US" sz="1950" dirty="0"/>
          </a:p>
        </p:txBody>
      </p:sp>
      <p:sp>
        <p:nvSpPr>
          <p:cNvPr id="13" name="Text 11"/>
          <p:cNvSpPr/>
          <p:nvPr/>
        </p:nvSpPr>
        <p:spPr>
          <a:xfrm>
            <a:off x="9658350" y="4220468"/>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Your </a:t>
            </a:r>
            <a:r>
              <a:rPr lang="en-US" sz="1950" b="1" dirty="0">
                <a:solidFill>
                  <a:srgbClr val="FFFF00"/>
                </a:solidFill>
                <a:latin typeface="Courier New" pitchFamily="34" charset="0"/>
                <a:ea typeface="Courier New" pitchFamily="34" charset="-122"/>
                <a:cs typeface="Courier New" pitchFamily="34" charset="-120"/>
              </a:rPr>
              <a:t>security team </a:t>
            </a:r>
            <a:r>
              <a:rPr lang="en-US" sz="1950" dirty="0">
                <a:solidFill>
                  <a:srgbClr val="FFFFFF"/>
                </a:solidFill>
                <a:latin typeface="Courier New" pitchFamily="34" charset="0"/>
                <a:ea typeface="Courier New" pitchFamily="34" charset="-122"/>
                <a:cs typeface="Courier New" pitchFamily="34" charset="-120"/>
              </a:rPr>
              <a:t>will have a strong opinion. They are correct to.</a:t>
            </a:r>
            <a:endParaRPr lang="en-US" sz="1950" dirty="0"/>
          </a:p>
        </p:txBody>
      </p:sp>
      <p:sp>
        <p:nvSpPr>
          <p:cNvPr id="14" name="Text 12"/>
          <p:cNvSpPr/>
          <p:nvPr/>
        </p:nvSpPr>
        <p:spPr>
          <a:xfrm>
            <a:off x="9658350" y="5196780"/>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Cost is per-token. </a:t>
            </a:r>
            <a:r>
              <a:rPr lang="en-US" sz="1950" dirty="0">
                <a:solidFill>
                  <a:srgbClr val="FFFFFF"/>
                </a:solidFill>
                <a:latin typeface="Courier New" pitchFamily="34" charset="0"/>
                <a:ea typeface="Courier New" pitchFamily="34" charset="-122"/>
                <a:cs typeface="Courier New" pitchFamily="34" charset="-120"/>
              </a:rPr>
              <a:t>Easy to start, easy to surprise yourself.</a:t>
            </a:r>
            <a:endParaRPr lang="en-US" sz="1950" dirty="0"/>
          </a:p>
        </p:txBody>
      </p:sp>
      <p:sp>
        <p:nvSpPr>
          <p:cNvPr id="15" name="Text 13"/>
          <p:cNvSpPr/>
          <p:nvPr/>
        </p:nvSpPr>
        <p:spPr>
          <a:xfrm>
            <a:off x="9658350" y="6173093"/>
            <a:ext cx="7417403" cy="781050"/>
          </a:xfrm>
          <a:prstGeom prst="rect">
            <a:avLst/>
          </a:prstGeom>
          <a:noFill/>
          <a:ln/>
        </p:spPr>
        <p:txBody>
          <a:bodyPr wrap="square" lIns="25400" tIns="25400" rIns="25400" bIns="25400" rtlCol="0" anchor="t">
            <a:normAutofit/>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You don't control the model. </a:t>
            </a:r>
            <a:endParaRPr lang="en-US" sz="1950" dirty="0"/>
          </a:p>
        </p:txBody>
      </p:sp>
      <p:sp>
        <p:nvSpPr>
          <p:cNvPr id="16" name="Shape 14"/>
          <p:cNvSpPr/>
          <p:nvPr/>
        </p:nvSpPr>
        <p:spPr>
          <a:xfrm>
            <a:off x="9315450" y="7858125"/>
            <a:ext cx="7534275" cy="1028700"/>
          </a:xfrm>
          <a:prstGeom prst="rect">
            <a:avLst/>
          </a:prstGeom>
          <a:ln w="9525">
            <a:solidFill>
              <a:srgbClr val="FFFF00"/>
            </a:solidFill>
            <a:prstDash val="solid"/>
          </a:ln>
        </p:spPr>
        <p:txBody>
          <a:bodyPr/>
          <a:lstStyle/>
          <a:p>
            <a:endParaRPr lang="en-US"/>
          </a:p>
        </p:txBody>
      </p:sp>
      <p:sp>
        <p:nvSpPr>
          <p:cNvPr id="17" name="Text 15"/>
          <p:cNvSpPr/>
          <p:nvPr/>
        </p:nvSpPr>
        <p:spPr>
          <a:xfrm>
            <a:off x="9534525" y="8058150"/>
            <a:ext cx="7322153" cy="6667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FFFF00"/>
                </a:solidFill>
                <a:latin typeface="Courier New" pitchFamily="34" charset="0"/>
                <a:ea typeface="Courier New" pitchFamily="34" charset="-122"/>
                <a:cs typeface="Courier New" pitchFamily="34" charset="-120"/>
              </a:rPr>
              <a:t>Best for: prototyping, generic tasks, anything where the data isn't sensitive.</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./local --own-the-box</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WHAT IT IS</a:t>
            </a:r>
            <a:endParaRPr lang="en-US" sz="1800" dirty="0"/>
          </a:p>
        </p:txBody>
      </p:sp>
      <p:sp>
        <p:nvSpPr>
          <p:cNvPr id="7" name="Text 5"/>
          <p:cNvSpPr/>
          <p:nvPr/>
        </p:nvSpPr>
        <p:spPr>
          <a:xfrm>
            <a:off x="1438275" y="3244155"/>
            <a:ext cx="7760303" cy="1992511"/>
          </a:xfrm>
          <a:prstGeom prst="rect">
            <a:avLst/>
          </a:prstGeom>
          <a:noFill/>
          <a:ln/>
        </p:spPr>
        <p:txBody>
          <a:bodyPr wrap="square" lIns="25400" tIns="25400" rIns="25400" bIns="25400" rtlCol="0" anchor="t">
            <a:normAutofit/>
          </a:bodyPr>
          <a:lstStyle/>
          <a:p>
            <a:pPr marL="0" indent="0" algn="l">
              <a:lnSpc>
                <a:spcPct val="135000"/>
              </a:lnSpc>
              <a:buNone/>
            </a:pPr>
            <a:r>
              <a:rPr lang="en-US" sz="2850" dirty="0">
                <a:solidFill>
                  <a:srgbClr val="FFFF00"/>
                </a:solidFill>
                <a:latin typeface="Courier New" pitchFamily="34" charset="0"/>
                <a:ea typeface="Courier New" pitchFamily="34" charset="-122"/>
                <a:cs typeface="Courier New" pitchFamily="34" charset="-120"/>
              </a:rPr>
              <a:t>Ollama </a:t>
            </a:r>
            <a:r>
              <a:rPr lang="en-US" sz="2850" dirty="0">
                <a:solidFill>
                  <a:srgbClr val="FFFFFF"/>
                </a:solidFill>
                <a:latin typeface="Courier New" pitchFamily="34" charset="0"/>
                <a:ea typeface="Courier New" pitchFamily="34" charset="-122"/>
                <a:cs typeface="Courier New" pitchFamily="34" charset="-120"/>
              </a:rPr>
              <a:t>plus open weights. </a:t>
            </a:r>
            <a:r>
              <a:rPr lang="en-US" sz="2850" dirty="0">
                <a:solidFill>
                  <a:srgbClr val="FFFF00"/>
                </a:solidFill>
                <a:latin typeface="Courier New" pitchFamily="34" charset="0"/>
                <a:ea typeface="Courier New" pitchFamily="34" charset="-122"/>
                <a:cs typeface="Courier New" pitchFamily="34" charset="-120"/>
              </a:rPr>
              <a:t>Llama, Qwen, Mistral, etc</a:t>
            </a:r>
            <a:r>
              <a:rPr lang="en-US" sz="2850" dirty="0">
                <a:solidFill>
                  <a:srgbClr val="FFFFFF"/>
                </a:solidFill>
                <a:latin typeface="Courier New" pitchFamily="34" charset="0"/>
                <a:ea typeface="Courier New" pitchFamily="34" charset="-122"/>
                <a:cs typeface="Courier New" pitchFamily="34" charset="-120"/>
              </a:rPr>
              <a:t>. The model runs on a box you control.</a:t>
            </a:r>
            <a:endParaRPr lang="en-US" sz="2850" dirty="0"/>
          </a:p>
        </p:txBody>
      </p:sp>
      <p:sp>
        <p:nvSpPr>
          <p:cNvPr id="8" name="Text 6"/>
          <p:cNvSpPr/>
          <p:nvPr/>
        </p:nvSpPr>
        <p:spPr>
          <a:xfrm>
            <a:off x="1781175" y="5693866"/>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Data never leaves. </a:t>
            </a:r>
            <a:r>
              <a:rPr lang="en-US" sz="1950" dirty="0">
                <a:solidFill>
                  <a:srgbClr val="FFFFFF"/>
                </a:solidFill>
                <a:latin typeface="Courier New" pitchFamily="34" charset="0"/>
                <a:ea typeface="Courier New" pitchFamily="34" charset="-122"/>
                <a:cs typeface="Courier New" pitchFamily="34" charset="-120"/>
              </a:rPr>
              <a:t>Regulatory headaches go from existential to manageable.</a:t>
            </a:r>
            <a:endParaRPr lang="en-US" sz="1950" dirty="0"/>
          </a:p>
        </p:txBody>
      </p:sp>
      <p:sp>
        <p:nvSpPr>
          <p:cNvPr id="9" name="Text 7"/>
          <p:cNvSpPr/>
          <p:nvPr/>
        </p:nvSpPr>
        <p:spPr>
          <a:xfrm>
            <a:off x="1781175" y="6670179"/>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Predictable cost. </a:t>
            </a:r>
            <a:r>
              <a:rPr lang="en-US" sz="1950" dirty="0">
                <a:solidFill>
                  <a:srgbClr val="FFFFFF"/>
                </a:solidFill>
                <a:latin typeface="Courier New" pitchFamily="34" charset="0"/>
                <a:ea typeface="Courier New" pitchFamily="34" charset="-122"/>
                <a:cs typeface="Courier New" pitchFamily="34" charset="-120"/>
              </a:rPr>
              <a:t>You bought the GPU once. The token meter doesn't tick. </a:t>
            </a:r>
            <a:r>
              <a:rPr lang="en-US" sz="1950" dirty="0" err="1">
                <a:solidFill>
                  <a:srgbClr val="FFFFFF"/>
                </a:solidFill>
                <a:latin typeface="Courier New" pitchFamily="34" charset="0"/>
                <a:ea typeface="Courier New" pitchFamily="34" charset="-122"/>
                <a:cs typeface="Courier New" pitchFamily="34" charset="-120"/>
              </a:rPr>
              <a:t>CapEx</a:t>
            </a:r>
            <a:r>
              <a:rPr lang="en-US" sz="1950" dirty="0">
                <a:solidFill>
                  <a:srgbClr val="FFFFFF"/>
                </a:solidFill>
                <a:latin typeface="Courier New" pitchFamily="34" charset="0"/>
                <a:ea typeface="Courier New" pitchFamily="34" charset="-122"/>
                <a:cs typeface="Courier New" pitchFamily="34" charset="-120"/>
              </a:rPr>
              <a:t>.</a:t>
            </a:r>
            <a:endParaRPr lang="en-US" sz="1950" dirty="0"/>
          </a:p>
        </p:txBody>
      </p:sp>
      <p:sp>
        <p:nvSpPr>
          <p:cNvPr id="10" name="Text 8"/>
          <p:cNvSpPr/>
          <p:nvPr/>
        </p:nvSpPr>
        <p:spPr>
          <a:xfrm>
            <a:off x="1781175" y="7646491"/>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Open weights </a:t>
            </a:r>
            <a:r>
              <a:rPr lang="en-US" sz="1950" dirty="0">
                <a:solidFill>
                  <a:srgbClr val="FFFFFF"/>
                </a:solidFill>
                <a:latin typeface="Courier New" pitchFamily="34" charset="0"/>
                <a:ea typeface="Courier New" pitchFamily="34" charset="-122"/>
                <a:cs typeface="Courier New" pitchFamily="34" charset="-120"/>
              </a:rPr>
              <a:t>the ‘mathematical weights’ are public, but source code and trained data are still private.</a:t>
            </a:r>
            <a:endParaRPr lang="en-US" sz="1950" dirty="0"/>
          </a:p>
        </p:txBody>
      </p:sp>
      <p:sp>
        <p:nvSpPr>
          <p:cNvPr id="11" name="Text 9"/>
          <p:cNvSpPr/>
          <p:nvPr/>
        </p:nvSpPr>
        <p:spPr>
          <a:xfrm>
            <a:off x="9315450"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6B35"/>
                </a:solidFill>
                <a:latin typeface="Courier New" pitchFamily="34" charset="0"/>
                <a:ea typeface="Courier New" pitchFamily="34" charset="-122"/>
                <a:cs typeface="Courier New" pitchFamily="34" charset="-120"/>
              </a:rPr>
              <a:t>THE CATCH</a:t>
            </a:r>
            <a:endParaRPr lang="en-US" sz="1800" dirty="0"/>
          </a:p>
        </p:txBody>
      </p:sp>
      <p:sp>
        <p:nvSpPr>
          <p:cNvPr id="12" name="Text 10"/>
          <p:cNvSpPr/>
          <p:nvPr/>
        </p:nvSpPr>
        <p:spPr>
          <a:xfrm>
            <a:off x="9658350" y="3244155"/>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You now </a:t>
            </a:r>
            <a:r>
              <a:rPr lang="en-US" sz="1950" b="1" dirty="0">
                <a:solidFill>
                  <a:srgbClr val="FFFF00"/>
                </a:solidFill>
                <a:latin typeface="Courier New" pitchFamily="34" charset="0"/>
                <a:ea typeface="Courier New" pitchFamily="34" charset="-122"/>
                <a:cs typeface="Courier New" pitchFamily="34" charset="-120"/>
              </a:rPr>
              <a:t>run the stack. </a:t>
            </a:r>
            <a:r>
              <a:rPr lang="en-US" sz="1950" dirty="0">
                <a:solidFill>
                  <a:srgbClr val="FFFFFF"/>
                </a:solidFill>
                <a:latin typeface="Courier New" pitchFamily="34" charset="0"/>
                <a:ea typeface="Courier New" pitchFamily="34" charset="-122"/>
                <a:cs typeface="Courier New" pitchFamily="34" charset="-120"/>
              </a:rPr>
              <a:t>Quantization, batching, scaling, on-call.</a:t>
            </a:r>
            <a:endParaRPr lang="en-US" sz="1950" dirty="0"/>
          </a:p>
        </p:txBody>
      </p:sp>
      <p:sp>
        <p:nvSpPr>
          <p:cNvPr id="13" name="Text 11"/>
          <p:cNvSpPr/>
          <p:nvPr/>
        </p:nvSpPr>
        <p:spPr>
          <a:xfrm>
            <a:off x="9658350" y="4372867"/>
            <a:ext cx="7417403" cy="804862"/>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You will be a model version behind </a:t>
            </a:r>
            <a:r>
              <a:rPr lang="en-US" sz="1950" dirty="0">
                <a:solidFill>
                  <a:srgbClr val="FFFFFF"/>
                </a:solidFill>
                <a:latin typeface="Courier New" pitchFamily="34" charset="0"/>
                <a:ea typeface="Courier New" pitchFamily="34" charset="-122"/>
                <a:cs typeface="Courier New" pitchFamily="34" charset="-120"/>
              </a:rPr>
              <a:t>— sometimes a few.</a:t>
            </a:r>
            <a:endParaRPr lang="en-US" sz="1950" dirty="0"/>
          </a:p>
        </p:txBody>
      </p:sp>
      <p:sp>
        <p:nvSpPr>
          <p:cNvPr id="14" name="Text 12"/>
          <p:cNvSpPr/>
          <p:nvPr/>
        </p:nvSpPr>
        <p:spPr>
          <a:xfrm>
            <a:off x="9658350" y="5196780"/>
            <a:ext cx="7417403" cy="82867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Capability gap on hardest tasks: </a:t>
            </a:r>
            <a:r>
              <a:rPr lang="en-US" sz="1950" b="1" dirty="0">
                <a:solidFill>
                  <a:srgbClr val="FFFF00"/>
                </a:solidFill>
                <a:latin typeface="Courier New" pitchFamily="34" charset="0"/>
                <a:ea typeface="Courier New" pitchFamily="34" charset="-122"/>
                <a:cs typeface="Courier New" pitchFamily="34" charset="-120"/>
              </a:rPr>
              <a:t>real, narrowing, not zero.</a:t>
            </a:r>
            <a:endParaRPr lang="en-US" sz="1950" dirty="0"/>
          </a:p>
        </p:txBody>
      </p:sp>
      <p:sp>
        <p:nvSpPr>
          <p:cNvPr id="15" name="Text 13"/>
          <p:cNvSpPr/>
          <p:nvPr/>
        </p:nvSpPr>
        <p:spPr>
          <a:xfrm>
            <a:off x="9658350" y="6196905"/>
            <a:ext cx="7417403" cy="7810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FFFFFF"/>
                </a:solidFill>
                <a:latin typeface="Courier New" pitchFamily="34" charset="0"/>
                <a:ea typeface="Courier New" pitchFamily="34" charset="-122"/>
                <a:cs typeface="Courier New" pitchFamily="34" charset="-120"/>
              </a:rPr>
              <a:t>Hardware CapEx isn't free either — that GPU has a depreciation schedule.</a:t>
            </a:r>
            <a:endParaRPr lang="en-US" sz="1950" dirty="0"/>
          </a:p>
        </p:txBody>
      </p:sp>
      <p:sp>
        <p:nvSpPr>
          <p:cNvPr id="16" name="Shape 14"/>
          <p:cNvSpPr/>
          <p:nvPr/>
        </p:nvSpPr>
        <p:spPr>
          <a:xfrm>
            <a:off x="9315450" y="7858125"/>
            <a:ext cx="7534275" cy="1028700"/>
          </a:xfrm>
          <a:prstGeom prst="rect">
            <a:avLst/>
          </a:prstGeom>
          <a:ln w="9525">
            <a:solidFill>
              <a:srgbClr val="FFFF00"/>
            </a:solidFill>
            <a:prstDash val="solid"/>
          </a:ln>
        </p:spPr>
        <p:txBody>
          <a:bodyPr/>
          <a:lstStyle/>
          <a:p>
            <a:endParaRPr lang="en-US"/>
          </a:p>
        </p:txBody>
      </p:sp>
      <p:sp>
        <p:nvSpPr>
          <p:cNvPr id="17" name="Text 15"/>
          <p:cNvSpPr/>
          <p:nvPr/>
        </p:nvSpPr>
        <p:spPr>
          <a:xfrm>
            <a:off x="9534525" y="8058150"/>
            <a:ext cx="7322153" cy="6667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FFFF00"/>
                </a:solidFill>
                <a:latin typeface="Courier New" pitchFamily="34" charset="0"/>
                <a:ea typeface="Courier New" pitchFamily="34" charset="-122"/>
                <a:cs typeface="Courier New" pitchFamily="34" charset="-120"/>
              </a:rPr>
              <a:t>Best for: regulated data, deterministic cost, anything that can't leave the building.</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./hybrid --route-by task</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WHAT IT IS</a:t>
            </a:r>
            <a:endParaRPr lang="en-US" sz="1800" dirty="0"/>
          </a:p>
        </p:txBody>
      </p:sp>
      <p:sp>
        <p:nvSpPr>
          <p:cNvPr id="7" name="Text 5"/>
          <p:cNvSpPr/>
          <p:nvPr/>
        </p:nvSpPr>
        <p:spPr>
          <a:xfrm>
            <a:off x="1438275" y="3244155"/>
            <a:ext cx="7760303" cy="1992511"/>
          </a:xfrm>
          <a:prstGeom prst="rect">
            <a:avLst/>
          </a:prstGeom>
          <a:noFill/>
          <a:ln/>
        </p:spPr>
        <p:txBody>
          <a:bodyPr wrap="square" lIns="25400" tIns="25400" rIns="25400" bIns="25400" rtlCol="0" anchor="t">
            <a:normAutofit fontScale="92500" lnSpcReduction="20000"/>
          </a:bodyPr>
          <a:lstStyle/>
          <a:p>
            <a:pPr>
              <a:lnSpc>
                <a:spcPct val="135000"/>
              </a:lnSpc>
            </a:pPr>
            <a:r>
              <a:rPr lang="en-US" sz="2850" dirty="0">
                <a:solidFill>
                  <a:srgbClr val="FFFFFF"/>
                </a:solidFill>
                <a:latin typeface="Courier New" pitchFamily="34" charset="0"/>
                <a:ea typeface="Courier New" pitchFamily="34" charset="-122"/>
                <a:cs typeface="Courier New" pitchFamily="34" charset="-120"/>
              </a:rPr>
              <a:t>Routed by </a:t>
            </a:r>
            <a:r>
              <a:rPr lang="en-US" sz="2850" dirty="0">
                <a:solidFill>
                  <a:srgbClr val="FFFF00"/>
                </a:solidFill>
                <a:latin typeface="Courier New" pitchFamily="34" charset="0"/>
                <a:ea typeface="Courier New" pitchFamily="34" charset="-122"/>
                <a:cs typeface="Courier New" pitchFamily="34" charset="-120"/>
              </a:rPr>
              <a:t>task </a:t>
            </a:r>
            <a:r>
              <a:rPr lang="en-US" sz="2850" dirty="0">
                <a:solidFill>
                  <a:srgbClr val="FFFFFF"/>
                </a:solidFill>
                <a:latin typeface="Courier New" pitchFamily="34" charset="0"/>
                <a:ea typeface="Courier New" pitchFamily="34" charset="-122"/>
                <a:cs typeface="Courier New" pitchFamily="34" charset="-120"/>
              </a:rPr>
              <a:t>or </a:t>
            </a:r>
            <a:r>
              <a:rPr lang="en-US" sz="2850" dirty="0">
                <a:solidFill>
                  <a:srgbClr val="FFFF00"/>
                </a:solidFill>
                <a:latin typeface="Courier New" pitchFamily="34" charset="0"/>
                <a:ea typeface="Courier New" pitchFamily="34" charset="-122"/>
                <a:cs typeface="Courier New" pitchFamily="34" charset="-120"/>
              </a:rPr>
              <a:t>sensitivity</a:t>
            </a:r>
            <a:r>
              <a:rPr lang="en-US" sz="2850" dirty="0">
                <a:solidFill>
                  <a:srgbClr val="FFFFFF"/>
                </a:solidFill>
                <a:latin typeface="Courier New" pitchFamily="34" charset="0"/>
                <a:ea typeface="Courier New" pitchFamily="34" charset="-122"/>
                <a:cs typeface="Courier New" pitchFamily="34" charset="-120"/>
              </a:rPr>
              <a:t>. Often through </a:t>
            </a:r>
            <a:r>
              <a:rPr lang="en-US" sz="2850" dirty="0">
                <a:solidFill>
                  <a:srgbClr val="FFFF00"/>
                </a:solidFill>
                <a:latin typeface="Courier New" pitchFamily="34" charset="0"/>
                <a:ea typeface="Courier New" pitchFamily="34" charset="-122"/>
                <a:cs typeface="Courier New" pitchFamily="34" charset="-120"/>
              </a:rPr>
              <a:t>AWS Bedrock </a:t>
            </a:r>
            <a:r>
              <a:rPr lang="en-US" sz="2850" dirty="0">
                <a:solidFill>
                  <a:srgbClr val="FFFFFF"/>
                </a:solidFill>
                <a:latin typeface="Courier New" pitchFamily="34" charset="0"/>
                <a:ea typeface="Courier New" pitchFamily="34" charset="-122"/>
                <a:cs typeface="Courier New" pitchFamily="34" charset="-120"/>
              </a:rPr>
              <a:t>, </a:t>
            </a:r>
            <a:r>
              <a:rPr lang="en-US" sz="2850" dirty="0">
                <a:solidFill>
                  <a:srgbClr val="FFFF00"/>
                </a:solidFill>
                <a:latin typeface="Courier New" pitchFamily="34" charset="0"/>
                <a:ea typeface="Courier New" pitchFamily="34" charset="-122"/>
                <a:cs typeface="Courier New" pitchFamily="34" charset="-120"/>
              </a:rPr>
              <a:t>Azure AI Foundry</a:t>
            </a:r>
            <a:r>
              <a:rPr lang="en-US" sz="2850" dirty="0">
                <a:solidFill>
                  <a:srgbClr val="FFFFFF"/>
                </a:solidFill>
                <a:latin typeface="Courier New" pitchFamily="34" charset="0"/>
                <a:ea typeface="Courier New" pitchFamily="34" charset="-122"/>
                <a:cs typeface="Courier New" pitchFamily="34" charset="-120"/>
              </a:rPr>
              <a:t>, or a thin router you write yourself.</a:t>
            </a:r>
            <a:endParaRPr lang="en-US" sz="2850" dirty="0"/>
          </a:p>
        </p:txBody>
      </p:sp>
      <p:sp>
        <p:nvSpPr>
          <p:cNvPr id="8" name="Text 6"/>
          <p:cNvSpPr/>
          <p:nvPr/>
        </p:nvSpPr>
        <p:spPr>
          <a:xfrm>
            <a:off x="1781175" y="5693866"/>
            <a:ext cx="7417403" cy="804862"/>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Sensitive customer configs ↦ </a:t>
            </a:r>
            <a:r>
              <a:rPr lang="en-US" sz="1950" dirty="0">
                <a:solidFill>
                  <a:srgbClr val="FFFFFF"/>
                </a:solidFill>
                <a:latin typeface="Courier New" pitchFamily="34" charset="0"/>
                <a:ea typeface="Courier New" pitchFamily="34" charset="-122"/>
                <a:cs typeface="Courier New" pitchFamily="34" charset="-120"/>
              </a:rPr>
              <a:t>local model, in-VPC.</a:t>
            </a:r>
            <a:endParaRPr lang="en-US" sz="1950" dirty="0"/>
          </a:p>
        </p:txBody>
      </p:sp>
      <p:sp>
        <p:nvSpPr>
          <p:cNvPr id="9" name="Text 7"/>
          <p:cNvSpPr/>
          <p:nvPr/>
        </p:nvSpPr>
        <p:spPr>
          <a:xfrm>
            <a:off x="1781175" y="6670179"/>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Boilerplate, scaffolding, summarization ↦ </a:t>
            </a:r>
            <a:r>
              <a:rPr lang="en-US" sz="1950" dirty="0">
                <a:solidFill>
                  <a:srgbClr val="FFFFFF"/>
                </a:solidFill>
                <a:latin typeface="Courier New" pitchFamily="34" charset="0"/>
                <a:ea typeface="Courier New" pitchFamily="34" charset="-122"/>
                <a:cs typeface="Courier New" pitchFamily="34" charset="-120"/>
              </a:rPr>
              <a:t>hosted model, best in class.</a:t>
            </a:r>
            <a:endParaRPr lang="en-US" sz="1950" dirty="0"/>
          </a:p>
        </p:txBody>
      </p:sp>
      <p:sp>
        <p:nvSpPr>
          <p:cNvPr id="10" name="Text 8"/>
          <p:cNvSpPr/>
          <p:nvPr/>
        </p:nvSpPr>
        <p:spPr>
          <a:xfrm>
            <a:off x="1781175" y="7759080"/>
            <a:ext cx="7417403"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One API surface. </a:t>
            </a:r>
            <a:r>
              <a:rPr lang="en-US" sz="1950" dirty="0">
                <a:solidFill>
                  <a:srgbClr val="FFFFFF"/>
                </a:solidFill>
                <a:latin typeface="Courier New" pitchFamily="34" charset="0"/>
                <a:ea typeface="Courier New" pitchFamily="34" charset="-122"/>
                <a:cs typeface="Courier New" pitchFamily="34" charset="-120"/>
              </a:rPr>
              <a:t>Your application code doesn't know which backend it hit.</a:t>
            </a:r>
            <a:endParaRPr lang="en-US" sz="1950" dirty="0"/>
          </a:p>
        </p:txBody>
      </p:sp>
      <p:sp>
        <p:nvSpPr>
          <p:cNvPr id="11" name="Text 9"/>
          <p:cNvSpPr/>
          <p:nvPr/>
        </p:nvSpPr>
        <p:spPr>
          <a:xfrm>
            <a:off x="9315450" y="2527920"/>
            <a:ext cx="7760303"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A PICTURE</a:t>
            </a:r>
            <a:endParaRPr lang="en-US" sz="1800" dirty="0"/>
          </a:p>
        </p:txBody>
      </p:sp>
      <p:sp>
        <p:nvSpPr>
          <p:cNvPr id="12" name="Shape 10"/>
          <p:cNvSpPr/>
          <p:nvPr/>
        </p:nvSpPr>
        <p:spPr>
          <a:xfrm>
            <a:off x="9315450" y="3206055"/>
            <a:ext cx="7534275" cy="2425898"/>
          </a:xfrm>
          <a:prstGeom prst="rect">
            <a:avLst/>
          </a:prstGeom>
          <a:ln w="9525">
            <a:solidFill>
              <a:srgbClr val="2A2A2A"/>
            </a:solidFill>
            <a:prstDash val="solid"/>
          </a:ln>
        </p:spPr>
        <p:txBody>
          <a:bodyPr/>
          <a:lstStyle/>
          <a:p>
            <a:endParaRPr lang="en-US"/>
          </a:p>
        </p:txBody>
      </p:sp>
      <p:sp>
        <p:nvSpPr>
          <p:cNvPr id="13" name="Shape 11"/>
          <p:cNvSpPr/>
          <p:nvPr/>
        </p:nvSpPr>
        <p:spPr>
          <a:xfrm>
            <a:off x="9553575" y="3581326"/>
            <a:ext cx="3128963" cy="598140"/>
          </a:xfrm>
          <a:prstGeom prst="rect">
            <a:avLst/>
          </a:prstGeom>
          <a:ln w="9525">
            <a:solidFill>
              <a:srgbClr val="FFFF00"/>
            </a:solidFill>
            <a:prstDash val="dash"/>
          </a:ln>
        </p:spPr>
        <p:txBody>
          <a:bodyPr/>
          <a:lstStyle/>
          <a:p>
            <a:endParaRPr lang="en-US"/>
          </a:p>
        </p:txBody>
      </p:sp>
      <p:sp>
        <p:nvSpPr>
          <p:cNvPr id="14" name="Text 12"/>
          <p:cNvSpPr/>
          <p:nvPr/>
        </p:nvSpPr>
        <p:spPr>
          <a:xfrm>
            <a:off x="9668566" y="3743251"/>
            <a:ext cx="2898981" cy="312390"/>
          </a:xfrm>
          <a:prstGeom prst="rect">
            <a:avLst/>
          </a:prstGeom>
          <a:noFill/>
          <a:ln/>
        </p:spPr>
        <p:txBody>
          <a:bodyPr wrap="square" lIns="25400" tIns="25400" rIns="25400" bIns="25400" rtlCol="0" anchor="t">
            <a:normAutofit fontScale="92500" lnSpcReduction="10000"/>
          </a:bodyPr>
          <a:lstStyle/>
          <a:p>
            <a:pPr marL="0" indent="0" algn="ctr">
              <a:lnSpc>
                <a:spcPct val="160000"/>
              </a:lnSpc>
              <a:buNone/>
            </a:pPr>
            <a:r>
              <a:rPr lang="en-US" sz="1350" dirty="0">
                <a:solidFill>
                  <a:srgbClr val="FFFF00"/>
                </a:solidFill>
                <a:latin typeface="Courier New" pitchFamily="34" charset="0"/>
                <a:ea typeface="Courier New" pitchFamily="34" charset="-122"/>
                <a:cs typeface="Courier New" pitchFamily="34" charset="-120"/>
              </a:rPr>
              <a:t>USER PROMPT</a:t>
            </a:r>
            <a:endParaRPr lang="en-US" sz="1350" dirty="0"/>
          </a:p>
        </p:txBody>
      </p:sp>
      <p:sp>
        <p:nvSpPr>
          <p:cNvPr id="15" name="Text 13"/>
          <p:cNvSpPr/>
          <p:nvPr/>
        </p:nvSpPr>
        <p:spPr>
          <a:xfrm>
            <a:off x="12758738" y="3697486"/>
            <a:ext cx="647700" cy="403845"/>
          </a:xfrm>
          <a:prstGeom prst="rect">
            <a:avLst/>
          </a:prstGeom>
          <a:noFill/>
          <a:ln/>
        </p:spPr>
        <p:txBody>
          <a:bodyPr wrap="square" lIns="25400" tIns="25400" rIns="25400" bIns="25400" rtlCol="0" anchor="t">
            <a:normAutofit fontScale="92500" lnSpcReduction="20000"/>
          </a:bodyPr>
          <a:lstStyle/>
          <a:p>
            <a:pPr marL="0" indent="0" algn="ctr">
              <a:lnSpc>
                <a:spcPct val="160000"/>
              </a:lnSpc>
              <a:buNone/>
            </a:pPr>
            <a:r>
              <a:rPr lang="en-US" sz="1800" dirty="0">
                <a:solidFill>
                  <a:srgbClr val="FFFF00"/>
                </a:solidFill>
                <a:latin typeface="Courier New" pitchFamily="34" charset="0"/>
                <a:ea typeface="Courier New" pitchFamily="34" charset="-122"/>
                <a:cs typeface="Courier New" pitchFamily="34" charset="-120"/>
              </a:rPr>
              <a:t>→</a:t>
            </a:r>
            <a:endParaRPr lang="en-US" sz="1800" dirty="0"/>
          </a:p>
        </p:txBody>
      </p:sp>
      <p:sp>
        <p:nvSpPr>
          <p:cNvPr id="16" name="Shape 14"/>
          <p:cNvSpPr/>
          <p:nvPr/>
        </p:nvSpPr>
        <p:spPr>
          <a:xfrm>
            <a:off x="13482638" y="3444180"/>
            <a:ext cx="3128963" cy="872430"/>
          </a:xfrm>
          <a:prstGeom prst="rect">
            <a:avLst/>
          </a:prstGeom>
          <a:ln w="9525">
            <a:solidFill>
              <a:srgbClr val="FFFF00"/>
            </a:solidFill>
            <a:prstDash val="solid"/>
          </a:ln>
        </p:spPr>
        <p:txBody>
          <a:bodyPr/>
          <a:lstStyle/>
          <a:p>
            <a:endParaRPr lang="en-US"/>
          </a:p>
        </p:txBody>
      </p:sp>
      <p:sp>
        <p:nvSpPr>
          <p:cNvPr id="17" name="Text 15"/>
          <p:cNvSpPr/>
          <p:nvPr/>
        </p:nvSpPr>
        <p:spPr>
          <a:xfrm>
            <a:off x="13597628" y="3606105"/>
            <a:ext cx="2898981" cy="586680"/>
          </a:xfrm>
          <a:prstGeom prst="rect">
            <a:avLst/>
          </a:prstGeom>
          <a:noFill/>
          <a:ln/>
        </p:spPr>
        <p:txBody>
          <a:bodyPr wrap="square" lIns="25400" tIns="25400" rIns="25400" bIns="25400" rtlCol="0" anchor="t">
            <a:normAutofit/>
          </a:bodyPr>
          <a:lstStyle/>
          <a:p>
            <a:pPr marL="0" indent="0" algn="ctr">
              <a:lnSpc>
                <a:spcPct val="160000"/>
              </a:lnSpc>
              <a:buNone/>
            </a:pPr>
            <a:r>
              <a:rPr lang="en-US" sz="1350" dirty="0">
                <a:solidFill>
                  <a:srgbClr val="FFFF00"/>
                </a:solidFill>
                <a:latin typeface="Courier New" pitchFamily="34" charset="0"/>
                <a:ea typeface="Courier New" pitchFamily="34" charset="-122"/>
                <a:cs typeface="Courier New" pitchFamily="34" charset="-120"/>
              </a:rPr>
              <a:t>ROUTER</a:t>
            </a:r>
            <a:r>
              <a:rPr lang="en-US" sz="1350" dirty="0">
                <a:solidFill>
                  <a:schemeClr val="bg1"/>
                </a:solidFill>
                <a:latin typeface="Courier New" pitchFamily="34" charset="0"/>
                <a:ea typeface="Courier New" pitchFamily="34" charset="-122"/>
                <a:cs typeface="Courier New" pitchFamily="34" charset="-120"/>
              </a:rPr>
              <a:t> </a:t>
            </a:r>
            <a:r>
              <a:rPr lang="en-US" sz="1050" dirty="0">
                <a:solidFill>
                  <a:schemeClr val="bg1"/>
                </a:solidFill>
                <a:latin typeface="Courier New" pitchFamily="34" charset="0"/>
                <a:ea typeface="Courier New" pitchFamily="34" charset="-122"/>
                <a:cs typeface="Courier New" pitchFamily="34" charset="-120"/>
              </a:rPr>
              <a:t>classify · score · pick</a:t>
            </a:r>
            <a:endParaRPr lang="en-US" sz="1350" dirty="0">
              <a:solidFill>
                <a:schemeClr val="bg1"/>
              </a:solidFill>
            </a:endParaRPr>
          </a:p>
        </p:txBody>
      </p:sp>
      <p:sp>
        <p:nvSpPr>
          <p:cNvPr id="18" name="Shape 16"/>
          <p:cNvSpPr/>
          <p:nvPr/>
        </p:nvSpPr>
        <p:spPr>
          <a:xfrm>
            <a:off x="9553575" y="4507111"/>
            <a:ext cx="3452813" cy="886718"/>
          </a:xfrm>
          <a:prstGeom prst="rect">
            <a:avLst/>
          </a:prstGeom>
          <a:ln w="9525">
            <a:solidFill>
              <a:srgbClr val="2A2A2A"/>
            </a:solidFill>
            <a:prstDash val="solid"/>
          </a:ln>
        </p:spPr>
        <p:txBody>
          <a:bodyPr/>
          <a:lstStyle/>
          <a:p>
            <a:endParaRPr lang="en-US"/>
          </a:p>
        </p:txBody>
      </p:sp>
      <p:sp>
        <p:nvSpPr>
          <p:cNvPr id="19" name="Text 17"/>
          <p:cNvSpPr/>
          <p:nvPr/>
        </p:nvSpPr>
        <p:spPr>
          <a:xfrm>
            <a:off x="9663708" y="4669036"/>
            <a:ext cx="3232547" cy="600968"/>
          </a:xfrm>
          <a:prstGeom prst="rect">
            <a:avLst/>
          </a:prstGeom>
          <a:noFill/>
          <a:ln/>
        </p:spPr>
        <p:txBody>
          <a:bodyPr wrap="square" lIns="25400" tIns="25400" rIns="25400" bIns="25400" rtlCol="0" anchor="t">
            <a:normAutofit/>
          </a:bodyPr>
          <a:lstStyle/>
          <a:p>
            <a:pPr marL="0" indent="0" algn="ctr">
              <a:lnSpc>
                <a:spcPct val="160000"/>
              </a:lnSpc>
              <a:buNone/>
            </a:pPr>
            <a:r>
              <a:rPr lang="en-US" sz="1350" b="1" dirty="0">
                <a:solidFill>
                  <a:srgbClr val="FFFF00"/>
                </a:solidFill>
                <a:latin typeface="Courier New" pitchFamily="34" charset="0"/>
                <a:ea typeface="Courier New" pitchFamily="34" charset="-122"/>
                <a:cs typeface="Courier New" pitchFamily="34" charset="-120"/>
              </a:rPr>
              <a:t>LOCAL </a:t>
            </a:r>
            <a:r>
              <a:rPr lang="en-US" sz="1050" dirty="0">
                <a:solidFill>
                  <a:schemeClr val="bg1"/>
                </a:solidFill>
                <a:latin typeface="Courier New" pitchFamily="34" charset="0"/>
                <a:ea typeface="Courier New" pitchFamily="34" charset="-122"/>
                <a:cs typeface="Courier New" pitchFamily="34" charset="-120"/>
              </a:rPr>
              <a:t>sensitive / regulated</a:t>
            </a:r>
            <a:endParaRPr lang="en-US" sz="1350" dirty="0">
              <a:solidFill>
                <a:schemeClr val="bg1"/>
              </a:solidFill>
            </a:endParaRPr>
          </a:p>
        </p:txBody>
      </p:sp>
      <p:sp>
        <p:nvSpPr>
          <p:cNvPr id="20" name="Shape 18"/>
          <p:cNvSpPr/>
          <p:nvPr/>
        </p:nvSpPr>
        <p:spPr>
          <a:xfrm>
            <a:off x="13158788" y="4507111"/>
            <a:ext cx="3452813" cy="886718"/>
          </a:xfrm>
          <a:prstGeom prst="rect">
            <a:avLst/>
          </a:prstGeom>
          <a:ln w="9525">
            <a:solidFill>
              <a:srgbClr val="2A2A2A"/>
            </a:solidFill>
            <a:prstDash val="solid"/>
          </a:ln>
        </p:spPr>
        <p:txBody>
          <a:bodyPr/>
          <a:lstStyle/>
          <a:p>
            <a:endParaRPr lang="en-US"/>
          </a:p>
        </p:txBody>
      </p:sp>
      <p:sp>
        <p:nvSpPr>
          <p:cNvPr id="21" name="Text 19"/>
          <p:cNvSpPr/>
          <p:nvPr/>
        </p:nvSpPr>
        <p:spPr>
          <a:xfrm>
            <a:off x="13268920" y="4669036"/>
            <a:ext cx="3232547" cy="600968"/>
          </a:xfrm>
          <a:prstGeom prst="rect">
            <a:avLst/>
          </a:prstGeom>
          <a:noFill/>
          <a:ln/>
        </p:spPr>
        <p:txBody>
          <a:bodyPr wrap="square" lIns="25400" tIns="25400" rIns="25400" bIns="25400" rtlCol="0" anchor="t">
            <a:normAutofit/>
          </a:bodyPr>
          <a:lstStyle/>
          <a:p>
            <a:pPr marL="0" indent="0" algn="ctr">
              <a:lnSpc>
                <a:spcPct val="160000"/>
              </a:lnSpc>
              <a:buNone/>
            </a:pPr>
            <a:r>
              <a:rPr lang="en-US" sz="1350" b="1" dirty="0">
                <a:solidFill>
                  <a:srgbClr val="FFFF00"/>
                </a:solidFill>
                <a:latin typeface="Courier New" pitchFamily="34" charset="0"/>
                <a:ea typeface="Courier New" pitchFamily="34" charset="-122"/>
                <a:cs typeface="Courier New" pitchFamily="34" charset="-120"/>
              </a:rPr>
              <a:t>HOSTED </a:t>
            </a:r>
            <a:r>
              <a:rPr lang="en-US" sz="1050" dirty="0">
                <a:solidFill>
                  <a:schemeClr val="bg1"/>
                </a:solidFill>
                <a:latin typeface="Courier New" pitchFamily="34" charset="0"/>
                <a:ea typeface="Courier New" pitchFamily="34" charset="-122"/>
                <a:cs typeface="Courier New" pitchFamily="34" charset="-120"/>
              </a:rPr>
              <a:t>generic / capability</a:t>
            </a:r>
            <a:endParaRPr lang="en-US" sz="1350" dirty="0">
              <a:solidFill>
                <a:schemeClr val="bg1"/>
              </a:solidFill>
            </a:endParaRPr>
          </a:p>
        </p:txBody>
      </p:sp>
      <p:sp>
        <p:nvSpPr>
          <p:cNvPr id="22" name="Shape 20"/>
          <p:cNvSpPr/>
          <p:nvPr/>
        </p:nvSpPr>
        <p:spPr>
          <a:xfrm>
            <a:off x="9315450" y="8172450"/>
            <a:ext cx="7534275" cy="714375"/>
          </a:xfrm>
          <a:prstGeom prst="rect">
            <a:avLst/>
          </a:prstGeom>
          <a:ln w="9525">
            <a:solidFill>
              <a:srgbClr val="FFFF00"/>
            </a:solidFill>
            <a:prstDash val="solid"/>
          </a:ln>
        </p:spPr>
        <p:txBody>
          <a:bodyPr/>
          <a:lstStyle/>
          <a:p>
            <a:endParaRPr lang="en-US"/>
          </a:p>
        </p:txBody>
      </p:sp>
      <p:sp>
        <p:nvSpPr>
          <p:cNvPr id="23" name="Text 21"/>
          <p:cNvSpPr/>
          <p:nvPr/>
        </p:nvSpPr>
        <p:spPr>
          <a:xfrm>
            <a:off x="9534525" y="8372475"/>
            <a:ext cx="7322153" cy="352425"/>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650" dirty="0">
                <a:solidFill>
                  <a:srgbClr val="FFFF00"/>
                </a:solidFill>
                <a:latin typeface="Courier New" pitchFamily="34" charset="0"/>
                <a:ea typeface="Courier New" pitchFamily="34" charset="-122"/>
                <a:cs typeface="Courier New" pitchFamily="34" charset="-120"/>
              </a:rPr>
              <a:t>More Difficult to get started.</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./pick --with-honestly</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3709988" cy="4472880"/>
          </a:xfrm>
          <a:prstGeom prst="rect">
            <a:avLst/>
          </a:prstGeom>
          <a:ln w="9525">
            <a:solidFill>
              <a:srgbClr val="2A2A2A"/>
            </a:solidFill>
            <a:prstDash val="solid"/>
          </a:ln>
        </p:spPr>
        <p:txBody>
          <a:bodyPr/>
          <a:lstStyle/>
          <a:p>
            <a:endParaRPr lang="en-US"/>
          </a:p>
        </p:txBody>
      </p:sp>
      <p:sp>
        <p:nvSpPr>
          <p:cNvPr id="7" name="Text 5"/>
          <p:cNvSpPr/>
          <p:nvPr/>
        </p:nvSpPr>
        <p:spPr>
          <a:xfrm>
            <a:off x="1714500" y="2804145"/>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dirty="0">
                <a:solidFill>
                  <a:srgbClr val="FFFF00"/>
                </a:solidFill>
                <a:latin typeface="Courier New" pitchFamily="34" charset="0"/>
                <a:ea typeface="Courier New" pitchFamily="34" charset="-122"/>
                <a:cs typeface="Courier New" pitchFamily="34" charset="-120"/>
              </a:rPr>
              <a:t>01</a:t>
            </a:r>
            <a:endParaRPr lang="en-US" sz="4200" dirty="0"/>
          </a:p>
        </p:txBody>
      </p:sp>
      <p:sp>
        <p:nvSpPr>
          <p:cNvPr id="8" name="Text 6"/>
          <p:cNvSpPr/>
          <p:nvPr/>
        </p:nvSpPr>
        <p:spPr>
          <a:xfrm>
            <a:off x="1714500" y="3508995"/>
            <a:ext cx="3252264" cy="80575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950" b="1" dirty="0">
                <a:solidFill>
                  <a:srgbClr val="FFFFFF"/>
                </a:solidFill>
                <a:latin typeface="Courier New" pitchFamily="34" charset="0"/>
                <a:ea typeface="Courier New" pitchFamily="34" charset="-122"/>
                <a:cs typeface="Courier New" pitchFamily="34" charset="-120"/>
              </a:rPr>
              <a:t>Data sovereignty &amp; regulation</a:t>
            </a:r>
            <a:endParaRPr lang="en-US" sz="1950" dirty="0"/>
          </a:p>
        </p:txBody>
      </p:sp>
      <p:sp>
        <p:nvSpPr>
          <p:cNvPr id="9" name="Text 7"/>
          <p:cNvSpPr/>
          <p:nvPr/>
        </p:nvSpPr>
        <p:spPr>
          <a:xfrm>
            <a:off x="1714500" y="4448101"/>
            <a:ext cx="3252264" cy="14668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Can your configs and customer data leave the building? Sometimes the answer is "no" and that's the whole decision.</a:t>
            </a:r>
            <a:endParaRPr lang="en-US" sz="1500" dirty="0"/>
          </a:p>
        </p:txBody>
      </p:sp>
      <p:sp>
        <p:nvSpPr>
          <p:cNvPr id="10" name="Shape 8"/>
          <p:cNvSpPr/>
          <p:nvPr/>
        </p:nvSpPr>
        <p:spPr>
          <a:xfrm>
            <a:off x="1714500" y="6067351"/>
            <a:ext cx="3157538" cy="9525"/>
          </a:xfrm>
          <a:prstGeom prst="rect">
            <a:avLst/>
          </a:prstGeom>
          <a:solidFill>
            <a:srgbClr val="FFFF00"/>
          </a:solidFill>
          <a:ln/>
        </p:spPr>
        <p:txBody>
          <a:bodyPr/>
          <a:lstStyle/>
          <a:p>
            <a:endParaRPr lang="en-US"/>
          </a:p>
        </p:txBody>
      </p:sp>
      <p:sp>
        <p:nvSpPr>
          <p:cNvPr id="11" name="Text 9"/>
          <p:cNvSpPr/>
          <p:nvPr/>
        </p:nvSpPr>
        <p:spPr>
          <a:xfrm>
            <a:off x="1714500" y="6191176"/>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dirty="0">
                <a:solidFill>
                  <a:srgbClr val="FFFF00"/>
                </a:solidFill>
                <a:latin typeface="Courier New" pitchFamily="34" charset="0"/>
                <a:ea typeface="Courier New" pitchFamily="34" charset="-122"/>
                <a:cs typeface="Courier New" pitchFamily="34" charset="-120"/>
              </a:rPr>
              <a:t>› Where does this data have to live?</a:t>
            </a:r>
            <a:endParaRPr lang="en-US" sz="1500" dirty="0"/>
          </a:p>
        </p:txBody>
      </p:sp>
      <p:sp>
        <p:nvSpPr>
          <p:cNvPr id="12" name="Shape 10"/>
          <p:cNvSpPr/>
          <p:nvPr/>
        </p:nvSpPr>
        <p:spPr>
          <a:xfrm>
            <a:off x="5338763" y="2527920"/>
            <a:ext cx="3709988" cy="4472880"/>
          </a:xfrm>
          <a:prstGeom prst="rect">
            <a:avLst/>
          </a:prstGeom>
          <a:ln w="9525">
            <a:solidFill>
              <a:srgbClr val="2A2A2A"/>
            </a:solidFill>
            <a:prstDash val="solid"/>
          </a:ln>
        </p:spPr>
        <p:txBody>
          <a:bodyPr/>
          <a:lstStyle/>
          <a:p>
            <a:endParaRPr lang="en-US"/>
          </a:p>
        </p:txBody>
      </p:sp>
      <p:sp>
        <p:nvSpPr>
          <p:cNvPr id="13" name="Text 11"/>
          <p:cNvSpPr/>
          <p:nvPr/>
        </p:nvSpPr>
        <p:spPr>
          <a:xfrm>
            <a:off x="5614988" y="2804145"/>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dirty="0">
                <a:solidFill>
                  <a:srgbClr val="FFFF00"/>
                </a:solidFill>
                <a:latin typeface="Courier New" pitchFamily="34" charset="0"/>
                <a:ea typeface="Courier New" pitchFamily="34" charset="-122"/>
                <a:cs typeface="Courier New" pitchFamily="34" charset="-120"/>
              </a:rPr>
              <a:t>02</a:t>
            </a:r>
            <a:endParaRPr lang="en-US" sz="4200" dirty="0"/>
          </a:p>
        </p:txBody>
      </p:sp>
      <p:sp>
        <p:nvSpPr>
          <p:cNvPr id="14" name="Text 12"/>
          <p:cNvSpPr/>
          <p:nvPr/>
        </p:nvSpPr>
        <p:spPr>
          <a:xfrm>
            <a:off x="5614988" y="3508995"/>
            <a:ext cx="3252264" cy="805755"/>
          </a:xfrm>
          <a:prstGeom prst="rect">
            <a:avLst/>
          </a:prstGeom>
          <a:noFill/>
          <a:ln/>
        </p:spPr>
        <p:txBody>
          <a:bodyPr wrap="square" lIns="25400" tIns="25400" rIns="25400" bIns="25400" rtlCol="0" anchor="t">
            <a:normAutofit/>
          </a:bodyPr>
          <a:lstStyle/>
          <a:p>
            <a:pPr marL="0" indent="0" algn="l">
              <a:lnSpc>
                <a:spcPct val="155000"/>
              </a:lnSpc>
              <a:buNone/>
            </a:pPr>
            <a:r>
              <a:rPr lang="en-US" sz="1950" b="1" dirty="0">
                <a:solidFill>
                  <a:srgbClr val="FFFFFF"/>
                </a:solidFill>
                <a:latin typeface="Courier New" pitchFamily="34" charset="0"/>
                <a:ea typeface="Courier New" pitchFamily="34" charset="-122"/>
                <a:cs typeface="Courier New" pitchFamily="34" charset="-120"/>
              </a:rPr>
              <a:t>Cost OpEx vs. CapEx</a:t>
            </a:r>
            <a:endParaRPr lang="en-US" sz="1950" dirty="0"/>
          </a:p>
        </p:txBody>
      </p:sp>
      <p:sp>
        <p:nvSpPr>
          <p:cNvPr id="15" name="Text 13"/>
          <p:cNvSpPr/>
          <p:nvPr/>
        </p:nvSpPr>
        <p:spPr>
          <a:xfrm>
            <a:off x="5614988" y="4448101"/>
            <a:ext cx="3252264" cy="17526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API tokens scale linearly with use. Hardware is a one-time bite with a five-year tail. They look different on different spreadsheets.</a:t>
            </a:r>
            <a:endParaRPr lang="en-US" sz="1500" dirty="0"/>
          </a:p>
        </p:txBody>
      </p:sp>
      <p:sp>
        <p:nvSpPr>
          <p:cNvPr id="16" name="Shape 14"/>
          <p:cNvSpPr/>
          <p:nvPr/>
        </p:nvSpPr>
        <p:spPr>
          <a:xfrm>
            <a:off x="5614988" y="6334051"/>
            <a:ext cx="3157538" cy="9525"/>
          </a:xfrm>
          <a:prstGeom prst="rect">
            <a:avLst/>
          </a:prstGeom>
          <a:solidFill>
            <a:srgbClr val="FFFF00"/>
          </a:solidFill>
          <a:ln/>
        </p:spPr>
        <p:txBody>
          <a:bodyPr/>
          <a:lstStyle/>
          <a:p>
            <a:endParaRPr lang="en-US"/>
          </a:p>
        </p:txBody>
      </p:sp>
      <p:sp>
        <p:nvSpPr>
          <p:cNvPr id="17" name="Text 15"/>
          <p:cNvSpPr/>
          <p:nvPr/>
        </p:nvSpPr>
        <p:spPr>
          <a:xfrm>
            <a:off x="5614988" y="6457876"/>
            <a:ext cx="3252264" cy="3048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dirty="0">
                <a:solidFill>
                  <a:srgbClr val="FFFF00"/>
                </a:solidFill>
                <a:latin typeface="Courier New" pitchFamily="34" charset="0"/>
                <a:ea typeface="Courier New" pitchFamily="34" charset="-122"/>
                <a:cs typeface="Courier New" pitchFamily="34" charset="-120"/>
              </a:rPr>
              <a:t>› Whose budget is this?</a:t>
            </a:r>
            <a:endParaRPr lang="en-US" sz="1500" dirty="0"/>
          </a:p>
        </p:txBody>
      </p:sp>
      <p:sp>
        <p:nvSpPr>
          <p:cNvPr id="18" name="Shape 16"/>
          <p:cNvSpPr/>
          <p:nvPr/>
        </p:nvSpPr>
        <p:spPr>
          <a:xfrm>
            <a:off x="9239250" y="2527920"/>
            <a:ext cx="3709988" cy="4472880"/>
          </a:xfrm>
          <a:prstGeom prst="rect">
            <a:avLst/>
          </a:prstGeom>
          <a:ln w="9525">
            <a:solidFill>
              <a:srgbClr val="2A2A2A"/>
            </a:solidFill>
            <a:prstDash val="solid"/>
          </a:ln>
        </p:spPr>
        <p:txBody>
          <a:bodyPr/>
          <a:lstStyle/>
          <a:p>
            <a:endParaRPr lang="en-US"/>
          </a:p>
        </p:txBody>
      </p:sp>
      <p:sp>
        <p:nvSpPr>
          <p:cNvPr id="19" name="Text 17"/>
          <p:cNvSpPr/>
          <p:nvPr/>
        </p:nvSpPr>
        <p:spPr>
          <a:xfrm>
            <a:off x="9515475" y="2804145"/>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dirty="0">
                <a:solidFill>
                  <a:srgbClr val="FFFF00"/>
                </a:solidFill>
                <a:latin typeface="Courier New" pitchFamily="34" charset="0"/>
                <a:ea typeface="Courier New" pitchFamily="34" charset="-122"/>
                <a:cs typeface="Courier New" pitchFamily="34" charset="-120"/>
              </a:rPr>
              <a:t>03</a:t>
            </a:r>
            <a:endParaRPr lang="en-US" sz="4200" dirty="0"/>
          </a:p>
        </p:txBody>
      </p:sp>
      <p:sp>
        <p:nvSpPr>
          <p:cNvPr id="20" name="Text 18"/>
          <p:cNvSpPr/>
          <p:nvPr/>
        </p:nvSpPr>
        <p:spPr>
          <a:xfrm>
            <a:off x="9515475" y="3508995"/>
            <a:ext cx="3252264" cy="805755"/>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950" b="1" dirty="0">
                <a:solidFill>
                  <a:srgbClr val="FFFFFF"/>
                </a:solidFill>
                <a:latin typeface="Courier New" pitchFamily="34" charset="0"/>
                <a:ea typeface="Courier New" pitchFamily="34" charset="-122"/>
                <a:cs typeface="Courier New" pitchFamily="34" charset="-120"/>
              </a:rPr>
              <a:t>Skills &amp; comfort level</a:t>
            </a:r>
            <a:endParaRPr lang="en-US" sz="1950" dirty="0"/>
          </a:p>
        </p:txBody>
      </p:sp>
      <p:sp>
        <p:nvSpPr>
          <p:cNvPr id="21" name="Text 19"/>
          <p:cNvSpPr/>
          <p:nvPr/>
        </p:nvSpPr>
        <p:spPr>
          <a:xfrm>
            <a:off x="9515475" y="4448101"/>
            <a:ext cx="3252264" cy="17526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Hosted is a billing problem. Local is an operations problem. Hybrid is both.</a:t>
            </a:r>
            <a:endParaRPr lang="en-US" sz="1500" dirty="0"/>
          </a:p>
        </p:txBody>
      </p:sp>
      <p:sp>
        <p:nvSpPr>
          <p:cNvPr id="22" name="Shape 20"/>
          <p:cNvSpPr/>
          <p:nvPr/>
        </p:nvSpPr>
        <p:spPr>
          <a:xfrm>
            <a:off x="9515475" y="6334051"/>
            <a:ext cx="3157538" cy="9525"/>
          </a:xfrm>
          <a:prstGeom prst="rect">
            <a:avLst/>
          </a:prstGeom>
          <a:solidFill>
            <a:srgbClr val="FFFF00"/>
          </a:solidFill>
          <a:ln/>
        </p:spPr>
        <p:txBody>
          <a:bodyPr/>
          <a:lstStyle/>
          <a:p>
            <a:endParaRPr lang="en-US"/>
          </a:p>
        </p:txBody>
      </p:sp>
      <p:sp>
        <p:nvSpPr>
          <p:cNvPr id="23" name="Text 21"/>
          <p:cNvSpPr/>
          <p:nvPr/>
        </p:nvSpPr>
        <p:spPr>
          <a:xfrm>
            <a:off x="9515475" y="6457876"/>
            <a:ext cx="3252264" cy="3048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dirty="0">
                <a:solidFill>
                  <a:srgbClr val="FFFF00"/>
                </a:solidFill>
                <a:latin typeface="Courier New" pitchFamily="34" charset="0"/>
                <a:ea typeface="Courier New" pitchFamily="34" charset="-122"/>
                <a:cs typeface="Courier New" pitchFamily="34" charset="-120"/>
              </a:rPr>
              <a:t>› Who's on-call for this?</a:t>
            </a:r>
            <a:endParaRPr lang="en-US" sz="1500" dirty="0"/>
          </a:p>
        </p:txBody>
      </p:sp>
      <p:sp>
        <p:nvSpPr>
          <p:cNvPr id="24" name="Shape 22"/>
          <p:cNvSpPr/>
          <p:nvPr/>
        </p:nvSpPr>
        <p:spPr>
          <a:xfrm>
            <a:off x="13139738" y="2527920"/>
            <a:ext cx="3709988" cy="4472880"/>
          </a:xfrm>
          <a:prstGeom prst="rect">
            <a:avLst/>
          </a:prstGeom>
          <a:ln w="9525">
            <a:solidFill>
              <a:srgbClr val="2A2A2A"/>
            </a:solidFill>
            <a:prstDash val="solid"/>
          </a:ln>
        </p:spPr>
        <p:txBody>
          <a:bodyPr/>
          <a:lstStyle/>
          <a:p>
            <a:endParaRPr lang="en-US"/>
          </a:p>
        </p:txBody>
      </p:sp>
      <p:sp>
        <p:nvSpPr>
          <p:cNvPr id="25" name="Text 23"/>
          <p:cNvSpPr/>
          <p:nvPr/>
        </p:nvSpPr>
        <p:spPr>
          <a:xfrm>
            <a:off x="13415963" y="2804145"/>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b="1" dirty="0">
                <a:solidFill>
                  <a:srgbClr val="FFFF00"/>
                </a:solidFill>
                <a:latin typeface="Courier New" pitchFamily="34" charset="0"/>
                <a:ea typeface="Courier New" pitchFamily="34" charset="-122"/>
                <a:cs typeface="Courier New" pitchFamily="34" charset="-120"/>
              </a:rPr>
              <a:t>04</a:t>
            </a:r>
            <a:endParaRPr lang="en-US" sz="4200" dirty="0"/>
          </a:p>
        </p:txBody>
      </p:sp>
      <p:sp>
        <p:nvSpPr>
          <p:cNvPr id="26" name="Text 24"/>
          <p:cNvSpPr/>
          <p:nvPr/>
        </p:nvSpPr>
        <p:spPr>
          <a:xfrm>
            <a:off x="13415963" y="3508995"/>
            <a:ext cx="3252264" cy="80575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950" b="1" dirty="0">
                <a:solidFill>
                  <a:srgbClr val="FFFFFF"/>
                </a:solidFill>
                <a:latin typeface="Courier New" pitchFamily="34" charset="0"/>
                <a:ea typeface="Courier New" pitchFamily="34" charset="-122"/>
                <a:cs typeface="Courier New" pitchFamily="34" charset="-120"/>
              </a:rPr>
              <a:t>Availability &amp; blast radius</a:t>
            </a:r>
            <a:endParaRPr lang="en-US" sz="1950" dirty="0"/>
          </a:p>
        </p:txBody>
      </p:sp>
      <p:sp>
        <p:nvSpPr>
          <p:cNvPr id="27" name="Text 25"/>
          <p:cNvSpPr/>
          <p:nvPr/>
        </p:nvSpPr>
        <p:spPr>
          <a:xfrm>
            <a:off x="13415963" y="4448101"/>
            <a:ext cx="3252264" cy="14668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Public APIs go down. So do internal ones. </a:t>
            </a:r>
            <a:endParaRPr lang="en-US" sz="1500" dirty="0"/>
          </a:p>
        </p:txBody>
      </p:sp>
      <p:sp>
        <p:nvSpPr>
          <p:cNvPr id="28" name="Shape 26"/>
          <p:cNvSpPr/>
          <p:nvPr/>
        </p:nvSpPr>
        <p:spPr>
          <a:xfrm>
            <a:off x="13415963" y="6067351"/>
            <a:ext cx="3157538" cy="9525"/>
          </a:xfrm>
          <a:prstGeom prst="rect">
            <a:avLst/>
          </a:prstGeom>
          <a:solidFill>
            <a:srgbClr val="FFFF00"/>
          </a:solidFill>
          <a:ln/>
        </p:spPr>
        <p:txBody>
          <a:bodyPr/>
          <a:lstStyle/>
          <a:p>
            <a:endParaRPr lang="en-US"/>
          </a:p>
        </p:txBody>
      </p:sp>
      <p:sp>
        <p:nvSpPr>
          <p:cNvPr id="29" name="Text 27"/>
          <p:cNvSpPr/>
          <p:nvPr/>
        </p:nvSpPr>
        <p:spPr>
          <a:xfrm>
            <a:off x="13415963" y="6191176"/>
            <a:ext cx="3252264" cy="5715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dirty="0">
                <a:solidFill>
                  <a:srgbClr val="FFFF00"/>
                </a:solidFill>
                <a:latin typeface="Courier New" pitchFamily="34" charset="0"/>
                <a:ea typeface="Courier New" pitchFamily="34" charset="-122"/>
                <a:cs typeface="Courier New" pitchFamily="34" charset="-120"/>
              </a:rPr>
              <a:t>› What breaks when the model is gone?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Text 1"/>
          <p:cNvSpPr/>
          <p:nvPr/>
        </p:nvSpPr>
        <p:spPr>
          <a:xfrm>
            <a:off x="15228317" y="571500"/>
            <a:ext cx="2088133" cy="276225"/>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330" dirty="0">
                <a:solidFill>
                  <a:srgbClr val="6B6B6B"/>
                </a:solidFill>
                <a:latin typeface="Courier New" pitchFamily="34" charset="0"/>
                <a:ea typeface="Courier New" pitchFamily="34" charset="-122"/>
                <a:cs typeface="Courier New" pitchFamily="34" charset="-120"/>
              </a:rPr>
              <a:t>PART 03 / 04</a:t>
            </a:r>
            <a:endParaRPr lang="en-US" sz="1650" dirty="0"/>
          </a:p>
        </p:txBody>
      </p:sp>
      <p:sp>
        <p:nvSpPr>
          <p:cNvPr id="4" name="Text 2"/>
          <p:cNvSpPr/>
          <p:nvPr/>
        </p:nvSpPr>
        <p:spPr>
          <a:xfrm>
            <a:off x="1047750" y="838200"/>
            <a:ext cx="16678275" cy="342900"/>
          </a:xfrm>
          <a:prstGeom prst="rect">
            <a:avLst/>
          </a:prstGeom>
          <a:noFill/>
          <a:ln/>
        </p:spPr>
        <p:txBody>
          <a:bodyPr wrap="square" lIns="25400" tIns="25400" rIns="25400" bIns="25400" rtlCol="0" anchor="t">
            <a:normAutofit fontScale="92500"/>
          </a:bodyPr>
          <a:lstStyle/>
          <a:p>
            <a:pPr marL="0" indent="0" algn="l">
              <a:buNone/>
            </a:pPr>
            <a:r>
              <a:rPr lang="en-US" sz="2100" kern="0" spc="420" dirty="0">
                <a:solidFill>
                  <a:srgbClr val="FFFF00"/>
                </a:solidFill>
                <a:latin typeface="Courier New" pitchFamily="34" charset="0"/>
                <a:ea typeface="Courier New" pitchFamily="34" charset="-122"/>
                <a:cs typeface="Courier New" pitchFamily="34" charset="-120"/>
              </a:rPr>
              <a:t>›› §3 / NEXT STEPS RECOMMENDATIONs</a:t>
            </a:r>
            <a:endParaRPr lang="en-US" sz="2100" dirty="0"/>
          </a:p>
        </p:txBody>
      </p:sp>
      <p:sp>
        <p:nvSpPr>
          <p:cNvPr id="5" name="Text 3"/>
          <p:cNvSpPr/>
          <p:nvPr/>
        </p:nvSpPr>
        <p:spPr>
          <a:xfrm>
            <a:off x="1047750" y="1447800"/>
            <a:ext cx="14716125" cy="2705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0500" b="1" kern="0" spc="-315" dirty="0">
                <a:solidFill>
                  <a:srgbClr val="FFFFFF"/>
                </a:solidFill>
                <a:latin typeface="Courier New" pitchFamily="34" charset="0"/>
                <a:ea typeface="Courier New" pitchFamily="34" charset="-122"/>
                <a:cs typeface="Courier New" pitchFamily="34" charset="-120"/>
              </a:rPr>
              <a:t>Next steps. </a:t>
            </a:r>
            <a:r>
              <a:rPr lang="en-US" sz="10500" b="1" kern="0" spc="-315" dirty="0">
                <a:solidFill>
                  <a:srgbClr val="FFFF00"/>
                </a:solidFill>
                <a:latin typeface="Courier New" pitchFamily="34" charset="0"/>
                <a:ea typeface="Courier New" pitchFamily="34" charset="-122"/>
                <a:cs typeface="Courier New" pitchFamily="34" charset="-120"/>
              </a:rPr>
              <a:t>In order.</a:t>
            </a:r>
            <a:endParaRPr lang="en-US" sz="10500" dirty="0"/>
          </a:p>
        </p:txBody>
      </p:sp>
      <p:sp>
        <p:nvSpPr>
          <p:cNvPr id="6" name="Shape 4"/>
          <p:cNvSpPr/>
          <p:nvPr/>
        </p:nvSpPr>
        <p:spPr>
          <a:xfrm>
            <a:off x="1047750" y="4495800"/>
            <a:ext cx="10477500" cy="9525"/>
          </a:xfrm>
          <a:prstGeom prst="rect">
            <a:avLst/>
          </a:prstGeom>
          <a:solidFill>
            <a:srgbClr val="FFFF00"/>
          </a:solidFill>
          <a:ln/>
        </p:spPr>
        <p:txBody>
          <a:bodyPr/>
          <a:lstStyle/>
          <a:p>
            <a:endParaRPr lang="en-US"/>
          </a:p>
        </p:txBody>
      </p:sp>
      <p:sp>
        <p:nvSpPr>
          <p:cNvPr id="7" name="Text 5"/>
          <p:cNvSpPr/>
          <p:nvPr/>
        </p:nvSpPr>
        <p:spPr>
          <a:xfrm>
            <a:off x="1047750" y="4733925"/>
            <a:ext cx="10791825" cy="838200"/>
          </a:xfrm>
          <a:prstGeom prst="rect">
            <a:avLst/>
          </a:prstGeom>
          <a:noFill/>
          <a:ln/>
        </p:spPr>
        <p:txBody>
          <a:bodyPr wrap="square" lIns="25400" tIns="25400" rIns="25400" bIns="25400" rtlCol="0" anchor="t">
            <a:normAutofit/>
          </a:bodyPr>
          <a:lstStyle/>
          <a:p>
            <a:pPr marL="0" indent="0" algn="l">
              <a:lnSpc>
                <a:spcPct val="150000"/>
              </a:lnSpc>
              <a:buNone/>
            </a:pPr>
            <a:r>
              <a:rPr lang="en-US" sz="2400" dirty="0">
                <a:solidFill>
                  <a:srgbClr val="FFFF00"/>
                </a:solidFill>
                <a:latin typeface="Courier New" pitchFamily="34" charset="0"/>
                <a:ea typeface="Courier New" pitchFamily="34" charset="-122"/>
                <a:cs typeface="Courier New" pitchFamily="34" charset="-120"/>
              </a:rPr>
              <a:t>Trust, Engineering, Integration, then Evolution.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cat ./path.map</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15411450" cy="4087118"/>
          </a:xfrm>
          <a:prstGeom prst="rect">
            <a:avLst/>
          </a:prstGeom>
          <a:ln w="9525">
            <a:solidFill>
              <a:srgbClr val="2A2A2A"/>
            </a:solidFill>
            <a:prstDash val="solid"/>
          </a:ln>
        </p:spPr>
        <p:txBody>
          <a:bodyPr/>
          <a:lstStyle/>
          <a:p>
            <a:endParaRPr lang="en-US"/>
          </a:p>
        </p:txBody>
      </p:sp>
      <p:sp>
        <p:nvSpPr>
          <p:cNvPr id="7" name="Shape 5"/>
          <p:cNvSpPr/>
          <p:nvPr/>
        </p:nvSpPr>
        <p:spPr>
          <a:xfrm>
            <a:off x="5286375" y="2537445"/>
            <a:ext cx="9525" cy="4068068"/>
          </a:xfrm>
          <a:prstGeom prst="rect">
            <a:avLst/>
          </a:prstGeom>
          <a:solidFill>
            <a:srgbClr val="2A2A2A"/>
          </a:solidFill>
          <a:ln/>
        </p:spPr>
        <p:txBody>
          <a:bodyPr/>
          <a:lstStyle/>
          <a:p>
            <a:endParaRPr lang="en-US"/>
          </a:p>
        </p:txBody>
      </p:sp>
      <p:sp>
        <p:nvSpPr>
          <p:cNvPr id="8" name="Text 6"/>
          <p:cNvSpPr/>
          <p:nvPr/>
        </p:nvSpPr>
        <p:spPr>
          <a:xfrm>
            <a:off x="1733550" y="2842245"/>
            <a:ext cx="3365087"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STEP 01</a:t>
            </a:r>
            <a:endParaRPr lang="en-US" sz="1650" dirty="0"/>
          </a:p>
        </p:txBody>
      </p:sp>
      <p:sp>
        <p:nvSpPr>
          <p:cNvPr id="9" name="Text 7"/>
          <p:cNvSpPr/>
          <p:nvPr/>
        </p:nvSpPr>
        <p:spPr>
          <a:xfrm>
            <a:off x="1733550" y="3319388"/>
            <a:ext cx="3365087" cy="695325"/>
          </a:xfrm>
          <a:prstGeom prst="rect">
            <a:avLst/>
          </a:prstGeom>
          <a:noFill/>
          <a:ln/>
        </p:spPr>
        <p:txBody>
          <a:bodyPr wrap="square" lIns="25400" tIns="25400" rIns="25400" bIns="25400" rtlCol="0" anchor="t">
            <a:normAutofit/>
          </a:bodyPr>
          <a:lstStyle/>
          <a:p>
            <a:pPr marL="0" indent="0" algn="l">
              <a:lnSpc>
                <a:spcPct val="115000"/>
              </a:lnSpc>
              <a:buNone/>
            </a:pPr>
            <a:r>
              <a:rPr lang="en-US" sz="2250" b="1" dirty="0">
                <a:solidFill>
                  <a:srgbClr val="FFFFFF"/>
                </a:solidFill>
                <a:latin typeface="Courier New" pitchFamily="34" charset="0"/>
                <a:ea typeface="Courier New" pitchFamily="34" charset="-122"/>
                <a:cs typeface="Courier New" pitchFamily="34" charset="-120"/>
              </a:rPr>
              <a:t>Trust &amp; Guardrails</a:t>
            </a:r>
            <a:endParaRPr lang="en-US" sz="2250" dirty="0"/>
          </a:p>
        </p:txBody>
      </p:sp>
      <p:sp>
        <p:nvSpPr>
          <p:cNvPr id="10" name="Text 8"/>
          <p:cNvSpPr/>
          <p:nvPr/>
        </p:nvSpPr>
        <p:spPr>
          <a:xfrm>
            <a:off x="1733550" y="4129013"/>
            <a:ext cx="3365087" cy="628650"/>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6B6B6B"/>
                </a:solidFill>
                <a:latin typeface="Courier New" pitchFamily="34" charset="0"/>
                <a:ea typeface="Courier New" pitchFamily="34" charset="-122"/>
                <a:cs typeface="Courier New" pitchFamily="34" charset="-120"/>
              </a:rPr>
              <a:t>— pick your model, write your rails</a:t>
            </a:r>
            <a:endParaRPr lang="en-US" sz="1500" dirty="0"/>
          </a:p>
        </p:txBody>
      </p:sp>
      <p:sp>
        <p:nvSpPr>
          <p:cNvPr id="11" name="Text 9"/>
          <p:cNvSpPr/>
          <p:nvPr/>
        </p:nvSpPr>
        <p:spPr>
          <a:xfrm>
            <a:off x="1733550" y="4871963"/>
            <a:ext cx="3365087" cy="14668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Decide hosted / local. Establish prompt hygiene. Build the logs and traces.</a:t>
            </a:r>
            <a:endParaRPr lang="en-US" sz="1500" dirty="0"/>
          </a:p>
        </p:txBody>
      </p:sp>
      <p:sp>
        <p:nvSpPr>
          <p:cNvPr id="12" name="Shape 10"/>
          <p:cNvSpPr/>
          <p:nvPr/>
        </p:nvSpPr>
        <p:spPr>
          <a:xfrm>
            <a:off x="9134475" y="2537445"/>
            <a:ext cx="9525" cy="4068068"/>
          </a:xfrm>
          <a:prstGeom prst="rect">
            <a:avLst/>
          </a:prstGeom>
          <a:solidFill>
            <a:srgbClr val="2A2A2A"/>
          </a:solidFill>
          <a:ln/>
        </p:spPr>
        <p:txBody>
          <a:bodyPr/>
          <a:lstStyle/>
          <a:p>
            <a:endParaRPr lang="en-US"/>
          </a:p>
        </p:txBody>
      </p:sp>
      <p:sp>
        <p:nvSpPr>
          <p:cNvPr id="13" name="Text 11"/>
          <p:cNvSpPr/>
          <p:nvPr/>
        </p:nvSpPr>
        <p:spPr>
          <a:xfrm>
            <a:off x="5581650" y="2842245"/>
            <a:ext cx="3365087"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STEP 02</a:t>
            </a:r>
            <a:endParaRPr lang="en-US" sz="1650" dirty="0"/>
          </a:p>
        </p:txBody>
      </p:sp>
      <p:sp>
        <p:nvSpPr>
          <p:cNvPr id="14" name="Text 12"/>
          <p:cNvSpPr/>
          <p:nvPr/>
        </p:nvSpPr>
        <p:spPr>
          <a:xfrm>
            <a:off x="5581650" y="3319388"/>
            <a:ext cx="3365087" cy="695325"/>
          </a:xfrm>
          <a:prstGeom prst="rect">
            <a:avLst/>
          </a:prstGeom>
          <a:noFill/>
          <a:ln/>
        </p:spPr>
        <p:txBody>
          <a:bodyPr wrap="square" lIns="25400" tIns="25400" rIns="25400" bIns="25400" rtlCol="0" anchor="t">
            <a:normAutofit/>
          </a:bodyPr>
          <a:lstStyle/>
          <a:p>
            <a:pPr marL="0" indent="0" algn="l">
              <a:lnSpc>
                <a:spcPct val="115000"/>
              </a:lnSpc>
              <a:buNone/>
            </a:pPr>
            <a:r>
              <a:rPr lang="en-US" sz="2250" b="1" dirty="0">
                <a:solidFill>
                  <a:srgbClr val="FFFFFF"/>
                </a:solidFill>
                <a:latin typeface="Courier New" pitchFamily="34" charset="0"/>
                <a:ea typeface="Courier New" pitchFamily="34" charset="-122"/>
                <a:cs typeface="Courier New" pitchFamily="34" charset="-120"/>
              </a:rPr>
              <a:t>Engineering</a:t>
            </a:r>
            <a:endParaRPr lang="en-US" sz="2250" dirty="0"/>
          </a:p>
        </p:txBody>
      </p:sp>
      <p:sp>
        <p:nvSpPr>
          <p:cNvPr id="15" name="Text 13"/>
          <p:cNvSpPr/>
          <p:nvPr/>
        </p:nvSpPr>
        <p:spPr>
          <a:xfrm>
            <a:off x="5581650" y="4129013"/>
            <a:ext cx="3365087"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6B6B6B"/>
                </a:solidFill>
                <a:latin typeface="Courier New" pitchFamily="34" charset="0"/>
                <a:ea typeface="Courier New" pitchFamily="34" charset="-122"/>
                <a:cs typeface="Courier New" pitchFamily="34" charset="-120"/>
              </a:rPr>
              <a:t>— beyond the magic trick</a:t>
            </a:r>
            <a:endParaRPr lang="en-US" sz="1500" dirty="0"/>
          </a:p>
        </p:txBody>
      </p:sp>
      <p:sp>
        <p:nvSpPr>
          <p:cNvPr id="16" name="Text 14"/>
          <p:cNvSpPr/>
          <p:nvPr/>
        </p:nvSpPr>
        <p:spPr>
          <a:xfrm>
            <a:off x="5581650" y="4576688"/>
            <a:ext cx="3365087" cy="14668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Zero-shot vs. few-shot vs. RAG. Deterministic, schema-validated output. Confidence scoring.</a:t>
            </a:r>
            <a:endParaRPr lang="en-US" sz="1500" dirty="0"/>
          </a:p>
        </p:txBody>
      </p:sp>
      <p:sp>
        <p:nvSpPr>
          <p:cNvPr id="17" name="Shape 15"/>
          <p:cNvSpPr/>
          <p:nvPr/>
        </p:nvSpPr>
        <p:spPr>
          <a:xfrm>
            <a:off x="12982575" y="2537445"/>
            <a:ext cx="9525" cy="4068068"/>
          </a:xfrm>
          <a:prstGeom prst="rect">
            <a:avLst/>
          </a:prstGeom>
          <a:solidFill>
            <a:srgbClr val="2A2A2A"/>
          </a:solidFill>
          <a:ln/>
        </p:spPr>
        <p:txBody>
          <a:bodyPr/>
          <a:lstStyle/>
          <a:p>
            <a:endParaRPr lang="en-US"/>
          </a:p>
        </p:txBody>
      </p:sp>
      <p:sp>
        <p:nvSpPr>
          <p:cNvPr id="18" name="Text 16"/>
          <p:cNvSpPr/>
          <p:nvPr/>
        </p:nvSpPr>
        <p:spPr>
          <a:xfrm>
            <a:off x="9429750" y="2842245"/>
            <a:ext cx="3365087"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STEP 03</a:t>
            </a:r>
            <a:endParaRPr lang="en-US" sz="1650" dirty="0"/>
          </a:p>
        </p:txBody>
      </p:sp>
      <p:sp>
        <p:nvSpPr>
          <p:cNvPr id="19" name="Text 17"/>
          <p:cNvSpPr/>
          <p:nvPr/>
        </p:nvSpPr>
        <p:spPr>
          <a:xfrm>
            <a:off x="9429750" y="3319388"/>
            <a:ext cx="3365087" cy="695325"/>
          </a:xfrm>
          <a:prstGeom prst="rect">
            <a:avLst/>
          </a:prstGeom>
          <a:noFill/>
          <a:ln/>
        </p:spPr>
        <p:txBody>
          <a:bodyPr wrap="square" lIns="25400" tIns="25400" rIns="25400" bIns="25400" rtlCol="0" anchor="t">
            <a:normAutofit/>
          </a:bodyPr>
          <a:lstStyle/>
          <a:p>
            <a:pPr marL="0" indent="0" algn="l">
              <a:lnSpc>
                <a:spcPct val="115000"/>
              </a:lnSpc>
              <a:buNone/>
            </a:pPr>
            <a:r>
              <a:rPr lang="en-US" sz="2250" b="1" dirty="0">
                <a:solidFill>
                  <a:srgbClr val="FFFFFF"/>
                </a:solidFill>
                <a:latin typeface="Courier New" pitchFamily="34" charset="0"/>
                <a:ea typeface="Courier New" pitchFamily="34" charset="-122"/>
                <a:cs typeface="Courier New" pitchFamily="34" charset="-120"/>
              </a:rPr>
              <a:t>Integration</a:t>
            </a:r>
            <a:endParaRPr lang="en-US" sz="2250" dirty="0"/>
          </a:p>
        </p:txBody>
      </p:sp>
      <p:sp>
        <p:nvSpPr>
          <p:cNvPr id="20" name="Text 18"/>
          <p:cNvSpPr/>
          <p:nvPr/>
        </p:nvSpPr>
        <p:spPr>
          <a:xfrm>
            <a:off x="9429750" y="4129013"/>
            <a:ext cx="3365087"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6B6B6B"/>
                </a:solidFill>
                <a:latin typeface="Courier New" pitchFamily="34" charset="0"/>
                <a:ea typeface="Courier New" pitchFamily="34" charset="-122"/>
                <a:cs typeface="Courier New" pitchFamily="34" charset="-120"/>
              </a:rPr>
              <a:t>— co-pilot, not autopilot</a:t>
            </a:r>
            <a:endParaRPr lang="en-US" sz="1500" dirty="0"/>
          </a:p>
        </p:txBody>
      </p:sp>
      <p:sp>
        <p:nvSpPr>
          <p:cNvPr id="21" name="Text 19"/>
          <p:cNvSpPr/>
          <p:nvPr/>
        </p:nvSpPr>
        <p:spPr>
          <a:xfrm>
            <a:off x="9429750" y="4576688"/>
            <a:ext cx="3365087" cy="14668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The Ideation → Review → Validation → Approval → Execution pattern.</a:t>
            </a:r>
            <a:endParaRPr lang="en-US" sz="1500" dirty="0"/>
          </a:p>
        </p:txBody>
      </p:sp>
      <p:sp>
        <p:nvSpPr>
          <p:cNvPr id="22" name="Text 20"/>
          <p:cNvSpPr/>
          <p:nvPr/>
        </p:nvSpPr>
        <p:spPr>
          <a:xfrm>
            <a:off x="13277850" y="2842245"/>
            <a:ext cx="3374898"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STEP 04</a:t>
            </a:r>
            <a:endParaRPr lang="en-US" sz="1650" dirty="0"/>
          </a:p>
        </p:txBody>
      </p:sp>
      <p:sp>
        <p:nvSpPr>
          <p:cNvPr id="23" name="Text 21"/>
          <p:cNvSpPr/>
          <p:nvPr/>
        </p:nvSpPr>
        <p:spPr>
          <a:xfrm>
            <a:off x="13277850" y="3319388"/>
            <a:ext cx="3374898" cy="695325"/>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2250" b="1" dirty="0">
                <a:solidFill>
                  <a:srgbClr val="FFFFFF"/>
                </a:solidFill>
                <a:latin typeface="Courier New" pitchFamily="34" charset="0"/>
                <a:ea typeface="Courier New" pitchFamily="34" charset="-122"/>
                <a:cs typeface="Courier New" pitchFamily="34" charset="-120"/>
              </a:rPr>
              <a:t>Evolution &amp; Feedback Loop</a:t>
            </a:r>
            <a:endParaRPr lang="en-US" sz="2250" dirty="0"/>
          </a:p>
        </p:txBody>
      </p:sp>
      <p:sp>
        <p:nvSpPr>
          <p:cNvPr id="24" name="Text 22"/>
          <p:cNvSpPr/>
          <p:nvPr/>
        </p:nvSpPr>
        <p:spPr>
          <a:xfrm>
            <a:off x="13277850" y="4129013"/>
            <a:ext cx="3374898"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6B6B6B"/>
                </a:solidFill>
                <a:latin typeface="Courier New" pitchFamily="34" charset="0"/>
                <a:ea typeface="Courier New" pitchFamily="34" charset="-122"/>
                <a:cs typeface="Courier New" pitchFamily="34" charset="-120"/>
              </a:rPr>
              <a:t>— make it learn </a:t>
            </a:r>
            <a:endParaRPr lang="en-US" sz="1500" dirty="0"/>
          </a:p>
        </p:txBody>
      </p:sp>
      <p:sp>
        <p:nvSpPr>
          <p:cNvPr id="25" name="Text 23"/>
          <p:cNvSpPr/>
          <p:nvPr/>
        </p:nvSpPr>
        <p:spPr>
          <a:xfrm>
            <a:off x="13277850" y="4576688"/>
            <a:ext cx="3374898" cy="14668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CFCFCF"/>
                </a:solidFill>
                <a:latin typeface="Courier New" pitchFamily="34" charset="0"/>
                <a:ea typeface="Courier New" pitchFamily="34" charset="-122"/>
                <a:cs typeface="Courier New" pitchFamily="34" charset="-120"/>
              </a:rPr>
              <a:t>Human expert review of misses. System validation of outputs. AI evaluating other AI as a second-opinion layer.</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01 — Trust &amp; Guardrails</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4984700" cy="6358905"/>
          </a:xfrm>
          <a:prstGeom prst="rect">
            <a:avLst/>
          </a:prstGeom>
          <a:ln w="9525">
            <a:solidFill>
              <a:srgbClr val="FFFF00"/>
            </a:solidFill>
            <a:prstDash val="solid"/>
          </a:ln>
        </p:spPr>
        <p:txBody>
          <a:bodyPr/>
          <a:lstStyle/>
          <a:p>
            <a:endParaRPr lang="en-US"/>
          </a:p>
        </p:txBody>
      </p:sp>
      <p:sp>
        <p:nvSpPr>
          <p:cNvPr id="7" name="Text 5"/>
          <p:cNvSpPr/>
          <p:nvPr/>
        </p:nvSpPr>
        <p:spPr>
          <a:xfrm>
            <a:off x="1733550" y="2804145"/>
            <a:ext cx="4525975"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DECISION</a:t>
            </a:r>
            <a:endParaRPr lang="en-US" sz="1500" dirty="0"/>
          </a:p>
        </p:txBody>
      </p:sp>
      <p:sp>
        <p:nvSpPr>
          <p:cNvPr id="8" name="Text 6"/>
          <p:cNvSpPr/>
          <p:nvPr/>
        </p:nvSpPr>
        <p:spPr>
          <a:xfrm>
            <a:off x="1733550" y="3232770"/>
            <a:ext cx="4525975"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Hosted or local </a:t>
            </a:r>
            <a:endParaRPr lang="en-US" sz="2250" dirty="0"/>
          </a:p>
        </p:txBody>
      </p:sp>
      <p:sp>
        <p:nvSpPr>
          <p:cNvPr id="9" name="Text 7"/>
          <p:cNvSpPr/>
          <p:nvPr/>
        </p:nvSpPr>
        <p:spPr>
          <a:xfrm>
            <a:off x="1733550" y="3809033"/>
            <a:ext cx="4525975" cy="1295400"/>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Pick. Or accept that your security team has already picked for you, this determines your next step.</a:t>
            </a:r>
            <a:endParaRPr lang="en-US" sz="2000" dirty="0"/>
          </a:p>
        </p:txBody>
      </p:sp>
      <p:sp>
        <p:nvSpPr>
          <p:cNvPr id="13" name="Shape 11"/>
          <p:cNvSpPr/>
          <p:nvPr/>
        </p:nvSpPr>
        <p:spPr>
          <a:xfrm>
            <a:off x="6651575" y="2527920"/>
            <a:ext cx="4984775" cy="6358905"/>
          </a:xfrm>
          <a:prstGeom prst="rect">
            <a:avLst/>
          </a:prstGeom>
          <a:ln w="9525">
            <a:solidFill>
              <a:srgbClr val="FFFF00"/>
            </a:solidFill>
            <a:prstDash val="solid"/>
          </a:ln>
        </p:spPr>
        <p:txBody>
          <a:bodyPr/>
          <a:lstStyle/>
          <a:p>
            <a:endParaRPr lang="en-US"/>
          </a:p>
        </p:txBody>
      </p:sp>
      <p:sp>
        <p:nvSpPr>
          <p:cNvPr id="14" name="Text 12"/>
          <p:cNvSpPr/>
          <p:nvPr/>
        </p:nvSpPr>
        <p:spPr>
          <a:xfrm>
            <a:off x="6946850" y="2804145"/>
            <a:ext cx="4526052"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PRACTICE</a:t>
            </a:r>
            <a:endParaRPr lang="en-US" sz="1500" dirty="0"/>
          </a:p>
        </p:txBody>
      </p:sp>
      <p:sp>
        <p:nvSpPr>
          <p:cNvPr id="15" name="Text 13"/>
          <p:cNvSpPr/>
          <p:nvPr/>
        </p:nvSpPr>
        <p:spPr>
          <a:xfrm>
            <a:off x="6946850" y="3232770"/>
            <a:ext cx="4526052"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Prompt hygiene &amp; Guardrails</a:t>
            </a:r>
            <a:endParaRPr lang="en-US" sz="2250" dirty="0"/>
          </a:p>
        </p:txBody>
      </p:sp>
      <p:sp>
        <p:nvSpPr>
          <p:cNvPr id="16" name="Text 14"/>
          <p:cNvSpPr/>
          <p:nvPr/>
        </p:nvSpPr>
        <p:spPr>
          <a:xfrm>
            <a:off x="6946850" y="3809033"/>
            <a:ext cx="4526052" cy="1609725"/>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What you put in. How it's structured. What never goes in. System prompt or other restriction files. </a:t>
            </a:r>
            <a:endParaRPr lang="en-US" sz="2000" dirty="0"/>
          </a:p>
        </p:txBody>
      </p:sp>
      <p:sp>
        <p:nvSpPr>
          <p:cNvPr id="21" name="Shape 19"/>
          <p:cNvSpPr/>
          <p:nvPr/>
        </p:nvSpPr>
        <p:spPr>
          <a:xfrm>
            <a:off x="11864950" y="2527920"/>
            <a:ext cx="4984700" cy="6358905"/>
          </a:xfrm>
          <a:prstGeom prst="rect">
            <a:avLst/>
          </a:prstGeom>
          <a:ln w="9525">
            <a:solidFill>
              <a:srgbClr val="FFFF00"/>
            </a:solidFill>
            <a:prstDash val="solid"/>
          </a:ln>
        </p:spPr>
        <p:txBody>
          <a:bodyPr/>
          <a:lstStyle/>
          <a:p>
            <a:endParaRPr lang="en-US"/>
          </a:p>
        </p:txBody>
      </p:sp>
      <p:sp>
        <p:nvSpPr>
          <p:cNvPr id="22" name="Text 20"/>
          <p:cNvSpPr/>
          <p:nvPr/>
        </p:nvSpPr>
        <p:spPr>
          <a:xfrm>
            <a:off x="12160225" y="2804145"/>
            <a:ext cx="4525975"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INSTRUMENTATION</a:t>
            </a:r>
            <a:endParaRPr lang="en-US" sz="1500" dirty="0"/>
          </a:p>
        </p:txBody>
      </p:sp>
      <p:sp>
        <p:nvSpPr>
          <p:cNvPr id="23" name="Text 21"/>
          <p:cNvSpPr/>
          <p:nvPr/>
        </p:nvSpPr>
        <p:spPr>
          <a:xfrm>
            <a:off x="12160225" y="3232770"/>
            <a:ext cx="4525975"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Visibility &amp; traces</a:t>
            </a:r>
            <a:endParaRPr lang="en-US" sz="2250" dirty="0"/>
          </a:p>
        </p:txBody>
      </p:sp>
      <p:sp>
        <p:nvSpPr>
          <p:cNvPr id="24" name="Text 22"/>
          <p:cNvSpPr/>
          <p:nvPr/>
        </p:nvSpPr>
        <p:spPr>
          <a:xfrm>
            <a:off x="12160225" y="3809033"/>
            <a:ext cx="4525975" cy="1609725"/>
          </a:xfrm>
          <a:prstGeom prst="rect">
            <a:avLst/>
          </a:prstGeom>
          <a:noFill/>
          <a:ln/>
        </p:spPr>
        <p:txBody>
          <a:bodyPr wrap="square" lIns="25400" tIns="25400" rIns="25400" bIns="25400" rtlCol="0" anchor="t">
            <a:norm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Log calls. Capture prompt, model, version, response, latency, cost. </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02 — Engineering</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15873794" cy="758130"/>
          </a:xfrm>
          <a:prstGeom prst="rect">
            <a:avLst/>
          </a:prstGeom>
          <a:noFill/>
          <a:ln/>
        </p:spPr>
        <p:txBody>
          <a:bodyPr wrap="square" lIns="25400" tIns="25400" rIns="25400" bIns="25400" rtlCol="0" anchor="t">
            <a:normAutofit/>
          </a:bodyPr>
          <a:lstStyle/>
          <a:p>
            <a:pPr marL="0" indent="0" algn="l">
              <a:lnSpc>
                <a:spcPct val="135000"/>
              </a:lnSpc>
              <a:buNone/>
            </a:pPr>
            <a:r>
              <a:rPr lang="en-US" sz="2100" dirty="0">
                <a:solidFill>
                  <a:srgbClr val="FFFFFF"/>
                </a:solidFill>
                <a:latin typeface="Courier New" pitchFamily="34" charset="0"/>
                <a:ea typeface="Courier New" pitchFamily="34" charset="-122"/>
                <a:cs typeface="Courier New" pitchFamily="34" charset="-120"/>
              </a:rPr>
              <a:t>Example: perfect your data and prompt (input).</a:t>
            </a:r>
            <a:endParaRPr lang="en-US" sz="2100" dirty="0"/>
          </a:p>
        </p:txBody>
      </p:sp>
      <p:sp>
        <p:nvSpPr>
          <p:cNvPr id="7" name="Shape 5"/>
          <p:cNvSpPr/>
          <p:nvPr/>
        </p:nvSpPr>
        <p:spPr>
          <a:xfrm>
            <a:off x="1438275" y="3476551"/>
            <a:ext cx="5022800" cy="5410274"/>
          </a:xfrm>
          <a:prstGeom prst="rect">
            <a:avLst/>
          </a:prstGeom>
          <a:ln w="9525">
            <a:solidFill>
              <a:srgbClr val="2A2A2A"/>
            </a:solidFill>
            <a:prstDash val="solid"/>
          </a:ln>
        </p:spPr>
        <p:txBody>
          <a:bodyPr/>
          <a:lstStyle/>
          <a:p>
            <a:endParaRPr lang="en-US"/>
          </a:p>
        </p:txBody>
      </p:sp>
      <p:sp>
        <p:nvSpPr>
          <p:cNvPr id="8" name="Text 6"/>
          <p:cNvSpPr/>
          <p:nvPr/>
        </p:nvSpPr>
        <p:spPr>
          <a:xfrm>
            <a:off x="1714500" y="3752776"/>
            <a:ext cx="4604461"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A</a:t>
            </a:r>
            <a:endParaRPr lang="en-US" sz="1500" dirty="0"/>
          </a:p>
        </p:txBody>
      </p:sp>
      <p:sp>
        <p:nvSpPr>
          <p:cNvPr id="9" name="Text 7"/>
          <p:cNvSpPr/>
          <p:nvPr/>
        </p:nvSpPr>
        <p:spPr>
          <a:xfrm>
            <a:off x="1714500" y="4181401"/>
            <a:ext cx="460446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dirty="0">
                <a:solidFill>
                  <a:srgbClr val="FFFFFF"/>
                </a:solidFill>
                <a:latin typeface="Courier New" pitchFamily="34" charset="0"/>
                <a:ea typeface="Courier New" pitchFamily="34" charset="-122"/>
                <a:cs typeface="Courier New" pitchFamily="34" charset="-120"/>
              </a:rPr>
              <a:t>Zero-shot</a:t>
            </a:r>
            <a:endParaRPr lang="en-US" sz="2250" dirty="0"/>
          </a:p>
        </p:txBody>
      </p:sp>
      <p:sp>
        <p:nvSpPr>
          <p:cNvPr id="10" name="Text 8"/>
          <p:cNvSpPr/>
          <p:nvPr/>
        </p:nvSpPr>
        <p:spPr>
          <a:xfrm>
            <a:off x="1714500" y="4795763"/>
            <a:ext cx="4604461"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135" dirty="0">
                <a:solidFill>
                  <a:srgbClr val="6B6B6B"/>
                </a:solidFill>
                <a:latin typeface="Courier New" pitchFamily="34" charset="0"/>
                <a:ea typeface="Courier New" pitchFamily="34" charset="-122"/>
                <a:cs typeface="Courier New" pitchFamily="34" charset="-120"/>
              </a:rPr>
              <a:t>› TRIVIAL · STATELESS · GENERIC</a:t>
            </a:r>
            <a:endParaRPr lang="en-US" sz="1350" dirty="0"/>
          </a:p>
        </p:txBody>
      </p:sp>
      <p:sp>
        <p:nvSpPr>
          <p:cNvPr id="11" name="Shape 9"/>
          <p:cNvSpPr/>
          <p:nvPr/>
        </p:nvSpPr>
        <p:spPr>
          <a:xfrm>
            <a:off x="1714500" y="5194846"/>
            <a:ext cx="4470350" cy="1143000"/>
          </a:xfrm>
          <a:prstGeom prst="rect">
            <a:avLst/>
          </a:prstGeom>
          <a:solidFill>
            <a:srgbClr val="0F0F0F"/>
          </a:solidFill>
          <a:ln w="9525">
            <a:solidFill>
              <a:srgbClr val="2A2A2A"/>
            </a:solidFill>
            <a:prstDash val="dash"/>
          </a:ln>
        </p:spPr>
        <p:txBody>
          <a:bodyPr/>
          <a:lstStyle/>
          <a:p>
            <a:endParaRPr lang="en-US"/>
          </a:p>
        </p:txBody>
      </p:sp>
      <p:sp>
        <p:nvSpPr>
          <p:cNvPr id="12" name="Text 10"/>
          <p:cNvSpPr/>
          <p:nvPr/>
        </p:nvSpPr>
        <p:spPr>
          <a:xfrm>
            <a:off x="1876425" y="5337721"/>
            <a:ext cx="4280611" cy="8953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FFFF00"/>
                </a:solidFill>
                <a:latin typeface="Courier New" pitchFamily="34" charset="0"/>
                <a:ea typeface="Courier New" pitchFamily="34" charset="-122"/>
                <a:cs typeface="Courier New" pitchFamily="34" charset="-120"/>
              </a:rPr>
              <a:t>prompt: </a:t>
            </a:r>
            <a:r>
              <a:rPr lang="en-US" sz="1500" dirty="0">
                <a:solidFill>
                  <a:srgbClr val="CFCFCF"/>
                </a:solidFill>
                <a:highlight>
                  <a:srgbClr val="0F0F0F"/>
                </a:highlight>
                <a:latin typeface="Courier New" pitchFamily="34" charset="0"/>
                <a:ea typeface="Courier New" pitchFamily="34" charset="-122"/>
                <a:cs typeface="Courier New" pitchFamily="34" charset="-120"/>
              </a:rPr>
              <a:t> "Rewrite this</a:t>
            </a:r>
            <a:endParaRPr lang="en-US" sz="1500" dirty="0"/>
          </a:p>
          <a:p>
            <a:pPr marL="0" indent="0" algn="l">
              <a:lnSpc>
                <a:spcPct val="150000"/>
              </a:lnSpc>
              <a:buNone/>
            </a:pPr>
            <a:r>
              <a:rPr lang="en-US" sz="1500" dirty="0">
                <a:solidFill>
                  <a:srgbClr val="CFCFCF"/>
                </a:solidFill>
                <a:highlight>
                  <a:srgbClr val="0F0F0F"/>
                </a:highlight>
                <a:latin typeface="Courier New" pitchFamily="34" charset="0"/>
                <a:ea typeface="Courier New" pitchFamily="34" charset="-122"/>
                <a:cs typeface="Courier New" pitchFamily="34" charset="-120"/>
              </a:rPr>
              <a:t>interface description in</a:t>
            </a:r>
            <a:endParaRPr lang="en-US" sz="1500" dirty="0"/>
          </a:p>
          <a:p>
            <a:pPr marL="0" indent="0" algn="l">
              <a:lnSpc>
                <a:spcPct val="150000"/>
              </a:lnSpc>
              <a:buNone/>
            </a:pPr>
            <a:r>
              <a:rPr lang="en-US" sz="1500" dirty="0">
                <a:solidFill>
                  <a:srgbClr val="CFCFCF"/>
                </a:solidFill>
                <a:highlight>
                  <a:srgbClr val="0F0F0F"/>
                </a:highlight>
                <a:latin typeface="Courier New" pitchFamily="34" charset="0"/>
                <a:ea typeface="Courier New" pitchFamily="34" charset="-122"/>
                <a:cs typeface="Courier New" pitchFamily="34" charset="-120"/>
              </a:rPr>
              <a:t>plain English."</a:t>
            </a:r>
            <a:endParaRPr lang="en-US" sz="1500" dirty="0"/>
          </a:p>
        </p:txBody>
      </p:sp>
      <p:sp>
        <p:nvSpPr>
          <p:cNvPr id="14" name="Shape 12"/>
          <p:cNvSpPr/>
          <p:nvPr/>
        </p:nvSpPr>
        <p:spPr>
          <a:xfrm>
            <a:off x="6632525" y="3476551"/>
            <a:ext cx="5022875" cy="5410274"/>
          </a:xfrm>
          <a:prstGeom prst="rect">
            <a:avLst/>
          </a:prstGeom>
          <a:ln w="9525">
            <a:solidFill>
              <a:srgbClr val="2A2A2A"/>
            </a:solidFill>
            <a:prstDash val="solid"/>
          </a:ln>
        </p:spPr>
        <p:txBody>
          <a:bodyPr/>
          <a:lstStyle/>
          <a:p>
            <a:endParaRPr lang="en-US"/>
          </a:p>
        </p:txBody>
      </p:sp>
      <p:sp>
        <p:nvSpPr>
          <p:cNvPr id="15" name="Text 13"/>
          <p:cNvSpPr/>
          <p:nvPr/>
        </p:nvSpPr>
        <p:spPr>
          <a:xfrm>
            <a:off x="6908750" y="3752776"/>
            <a:ext cx="4604538"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B</a:t>
            </a:r>
            <a:endParaRPr lang="en-US" sz="1500" dirty="0"/>
          </a:p>
        </p:txBody>
      </p:sp>
      <p:sp>
        <p:nvSpPr>
          <p:cNvPr id="16" name="Text 14"/>
          <p:cNvSpPr/>
          <p:nvPr/>
        </p:nvSpPr>
        <p:spPr>
          <a:xfrm>
            <a:off x="6908750" y="4181401"/>
            <a:ext cx="4604538"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dirty="0">
                <a:solidFill>
                  <a:srgbClr val="FFFFFF"/>
                </a:solidFill>
                <a:latin typeface="Courier New" pitchFamily="34" charset="0"/>
                <a:ea typeface="Courier New" pitchFamily="34" charset="-122"/>
                <a:cs typeface="Courier New" pitchFamily="34" charset="-120"/>
              </a:rPr>
              <a:t>Few-shot</a:t>
            </a:r>
            <a:endParaRPr lang="en-US" sz="2250" dirty="0"/>
          </a:p>
        </p:txBody>
      </p:sp>
      <p:sp>
        <p:nvSpPr>
          <p:cNvPr id="17" name="Text 15"/>
          <p:cNvSpPr/>
          <p:nvPr/>
        </p:nvSpPr>
        <p:spPr>
          <a:xfrm>
            <a:off x="6908750" y="4795763"/>
            <a:ext cx="4604538" cy="318120"/>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350" kern="0" spc="135" dirty="0">
                <a:solidFill>
                  <a:srgbClr val="6B6B6B"/>
                </a:solidFill>
                <a:latin typeface="Courier New" pitchFamily="34" charset="0"/>
                <a:ea typeface="Courier New" pitchFamily="34" charset="-122"/>
                <a:cs typeface="Courier New" pitchFamily="34" charset="-120"/>
              </a:rPr>
              <a:t>› YOU HAVE </a:t>
            </a:r>
            <a:r>
              <a:rPr lang="en-US" sz="1350" b="1" kern="0" spc="135" dirty="0">
                <a:solidFill>
                  <a:srgbClr val="FFFF00"/>
                </a:solidFill>
                <a:latin typeface="Courier New" pitchFamily="34" charset="0"/>
                <a:ea typeface="Courier New" pitchFamily="34" charset="-122"/>
                <a:cs typeface="Courier New" pitchFamily="34" charset="-120"/>
              </a:rPr>
              <a:t>5 EXAMPLES </a:t>
            </a:r>
            <a:r>
              <a:rPr lang="en-US" sz="1350" kern="0" spc="135" dirty="0">
                <a:solidFill>
                  <a:srgbClr val="6B6B6B"/>
                </a:solidFill>
                <a:latin typeface="Courier New" pitchFamily="34" charset="0"/>
                <a:ea typeface="Courier New" pitchFamily="34" charset="-122"/>
                <a:cs typeface="Courier New" pitchFamily="34" charset="-120"/>
              </a:rPr>
              <a:t>OF RIGHT</a:t>
            </a:r>
            <a:endParaRPr lang="en-US" sz="1350" dirty="0"/>
          </a:p>
        </p:txBody>
      </p:sp>
      <p:sp>
        <p:nvSpPr>
          <p:cNvPr id="18" name="Shape 16"/>
          <p:cNvSpPr/>
          <p:nvPr/>
        </p:nvSpPr>
        <p:spPr>
          <a:xfrm>
            <a:off x="6908750" y="5209133"/>
            <a:ext cx="4470425" cy="2000250"/>
          </a:xfrm>
          <a:prstGeom prst="rect">
            <a:avLst/>
          </a:prstGeom>
          <a:solidFill>
            <a:srgbClr val="0F0F0F"/>
          </a:solidFill>
          <a:ln w="9525">
            <a:solidFill>
              <a:srgbClr val="2A2A2A"/>
            </a:solidFill>
            <a:prstDash val="dash"/>
          </a:ln>
        </p:spPr>
        <p:txBody>
          <a:bodyPr/>
          <a:lstStyle/>
          <a:p>
            <a:endParaRPr lang="en-US"/>
          </a:p>
        </p:txBody>
      </p:sp>
      <p:sp>
        <p:nvSpPr>
          <p:cNvPr id="19" name="Text 17"/>
          <p:cNvSpPr/>
          <p:nvPr/>
        </p:nvSpPr>
        <p:spPr>
          <a:xfrm>
            <a:off x="7070675" y="5352008"/>
            <a:ext cx="4280688" cy="17526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FFFF00"/>
                </a:solidFill>
                <a:latin typeface="Courier New" pitchFamily="34" charset="0"/>
                <a:ea typeface="Courier New" pitchFamily="34" charset="-122"/>
                <a:cs typeface="Courier New" pitchFamily="34" charset="-120"/>
              </a:rPr>
              <a:t>examples: </a:t>
            </a:r>
            <a:r>
              <a:rPr lang="en-US" sz="1500" dirty="0">
                <a:solidFill>
                  <a:srgbClr val="CFCFCF"/>
                </a:solidFill>
                <a:highlight>
                  <a:srgbClr val="0F0F0F"/>
                </a:highlight>
                <a:latin typeface="Courier New" pitchFamily="34" charset="0"/>
                <a:ea typeface="Courier New" pitchFamily="34" charset="-122"/>
                <a:cs typeface="Courier New" pitchFamily="34" charset="-120"/>
              </a:rPr>
              <a:t>  - input:  …</a:t>
            </a:r>
            <a:endParaRPr lang="en-US" sz="1500" dirty="0"/>
          </a:p>
          <a:p>
            <a:pPr marL="0" indent="0" algn="l">
              <a:lnSpc>
                <a:spcPct val="150000"/>
              </a:lnSpc>
              <a:buNone/>
            </a:pPr>
            <a:r>
              <a:rPr lang="en-US" sz="1500" dirty="0">
                <a:solidFill>
                  <a:srgbClr val="CFCFCF"/>
                </a:solidFill>
                <a:highlight>
                  <a:srgbClr val="0F0F0F"/>
                </a:highlight>
                <a:latin typeface="Courier New" pitchFamily="34" charset="0"/>
                <a:ea typeface="Courier New" pitchFamily="34" charset="-122"/>
                <a:cs typeface="Courier New" pitchFamily="34" charset="-120"/>
              </a:rPr>
              <a:t>    output: …</a:t>
            </a:r>
            <a:endParaRPr lang="en-US" sz="1500" dirty="0"/>
          </a:p>
          <a:p>
            <a:pPr marL="0" indent="0" algn="l">
              <a:lnSpc>
                <a:spcPct val="150000"/>
              </a:lnSpc>
              <a:buNone/>
            </a:pPr>
            <a:r>
              <a:rPr lang="en-US" sz="1500" dirty="0">
                <a:solidFill>
                  <a:srgbClr val="CFCFCF"/>
                </a:solidFill>
                <a:highlight>
                  <a:srgbClr val="0F0F0F"/>
                </a:highlight>
                <a:latin typeface="Courier New" pitchFamily="34" charset="0"/>
                <a:ea typeface="Courier New" pitchFamily="34" charset="-122"/>
                <a:cs typeface="Courier New" pitchFamily="34" charset="-120"/>
              </a:rPr>
              <a:t>  - input:  …</a:t>
            </a:r>
            <a:endParaRPr lang="en-US" sz="1500" dirty="0"/>
          </a:p>
          <a:p>
            <a:pPr marL="0" indent="0" algn="l">
              <a:lnSpc>
                <a:spcPct val="150000"/>
              </a:lnSpc>
              <a:buNone/>
            </a:pPr>
            <a:r>
              <a:rPr lang="en-US" sz="1500" dirty="0">
                <a:solidFill>
                  <a:srgbClr val="CFCFCF"/>
                </a:solidFill>
                <a:highlight>
                  <a:srgbClr val="0F0F0F"/>
                </a:highlight>
                <a:latin typeface="Courier New" pitchFamily="34" charset="0"/>
                <a:ea typeface="Courier New" pitchFamily="34" charset="-122"/>
                <a:cs typeface="Courier New" pitchFamily="34" charset="-120"/>
              </a:rPr>
              <a:t>    output: … </a:t>
            </a:r>
            <a:endParaRPr lang="en-US" sz="1500" dirty="0"/>
          </a:p>
          <a:p>
            <a:pPr marL="0" indent="0" algn="l">
              <a:lnSpc>
                <a:spcPct val="150000"/>
              </a:lnSpc>
              <a:buNone/>
            </a:pPr>
            <a:r>
              <a:rPr lang="en-US" sz="1500" dirty="0">
                <a:solidFill>
                  <a:srgbClr val="FFFF00"/>
                </a:solidFill>
                <a:latin typeface="Courier New" pitchFamily="34" charset="0"/>
                <a:ea typeface="Courier New" pitchFamily="34" charset="-122"/>
                <a:cs typeface="Courier New" pitchFamily="34" charset="-120"/>
              </a:rPr>
              <a:t>now do:</a:t>
            </a:r>
            <a:r>
              <a:rPr lang="en-US" sz="1500" dirty="0">
                <a:solidFill>
                  <a:srgbClr val="CFCFCF"/>
                </a:solidFill>
                <a:highlight>
                  <a:srgbClr val="0F0F0F"/>
                </a:highlight>
                <a:latin typeface="Courier New" pitchFamily="34" charset="0"/>
                <a:ea typeface="Courier New" pitchFamily="34" charset="-122"/>
                <a:cs typeface="Courier New" pitchFamily="34" charset="-120"/>
              </a:rPr>
              <a:t> …</a:t>
            </a:r>
            <a:endParaRPr lang="en-US" sz="1500" dirty="0"/>
          </a:p>
        </p:txBody>
      </p:sp>
      <p:sp>
        <p:nvSpPr>
          <p:cNvPr id="21" name="Shape 19"/>
          <p:cNvSpPr/>
          <p:nvPr/>
        </p:nvSpPr>
        <p:spPr>
          <a:xfrm>
            <a:off x="11826850" y="3476551"/>
            <a:ext cx="5022800" cy="5410274"/>
          </a:xfrm>
          <a:prstGeom prst="rect">
            <a:avLst/>
          </a:prstGeom>
          <a:ln w="9525">
            <a:solidFill>
              <a:srgbClr val="2A2A2A"/>
            </a:solidFill>
            <a:prstDash val="solid"/>
          </a:ln>
        </p:spPr>
        <p:txBody>
          <a:bodyPr/>
          <a:lstStyle/>
          <a:p>
            <a:endParaRPr lang="en-US"/>
          </a:p>
        </p:txBody>
      </p:sp>
      <p:sp>
        <p:nvSpPr>
          <p:cNvPr id="22" name="Text 20"/>
          <p:cNvSpPr/>
          <p:nvPr/>
        </p:nvSpPr>
        <p:spPr>
          <a:xfrm>
            <a:off x="12103075" y="3752776"/>
            <a:ext cx="4604461"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C</a:t>
            </a:r>
            <a:endParaRPr lang="en-US" sz="1500" dirty="0"/>
          </a:p>
        </p:txBody>
      </p:sp>
      <p:sp>
        <p:nvSpPr>
          <p:cNvPr id="23" name="Text 21"/>
          <p:cNvSpPr/>
          <p:nvPr/>
        </p:nvSpPr>
        <p:spPr>
          <a:xfrm>
            <a:off x="12103075" y="4181401"/>
            <a:ext cx="4604461" cy="481012"/>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2250" b="1" dirty="0">
                <a:solidFill>
                  <a:srgbClr val="FFFFFF"/>
                </a:solidFill>
                <a:latin typeface="Courier New" pitchFamily="34" charset="0"/>
                <a:ea typeface="Courier New" pitchFamily="34" charset="-122"/>
                <a:cs typeface="Courier New" pitchFamily="34" charset="-120"/>
              </a:rPr>
              <a:t>RAG</a:t>
            </a:r>
            <a:endParaRPr lang="en-US" sz="2250" dirty="0"/>
          </a:p>
        </p:txBody>
      </p:sp>
      <p:sp>
        <p:nvSpPr>
          <p:cNvPr id="24" name="Text 22"/>
          <p:cNvSpPr/>
          <p:nvPr/>
        </p:nvSpPr>
        <p:spPr>
          <a:xfrm>
            <a:off x="12103075" y="4795763"/>
            <a:ext cx="4604461" cy="318120"/>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350" kern="0" spc="135" dirty="0">
                <a:solidFill>
                  <a:srgbClr val="6B6B6B"/>
                </a:solidFill>
                <a:latin typeface="Courier New" pitchFamily="34" charset="0"/>
                <a:ea typeface="Courier New" pitchFamily="34" charset="-122"/>
                <a:cs typeface="Courier New" pitchFamily="34" charset="-120"/>
              </a:rPr>
              <a:t>› ANSWER LIVES IN YOUR </a:t>
            </a:r>
            <a:r>
              <a:rPr lang="en-US" sz="1350" b="1" kern="0" spc="135" dirty="0">
                <a:solidFill>
                  <a:srgbClr val="FFFF00"/>
                </a:solidFill>
                <a:latin typeface="Courier New" pitchFamily="34" charset="0"/>
                <a:ea typeface="Courier New" pitchFamily="34" charset="-122"/>
                <a:cs typeface="Courier New" pitchFamily="34" charset="-120"/>
              </a:rPr>
              <a:t>DOCS </a:t>
            </a:r>
            <a:r>
              <a:rPr lang="en-US" sz="1350" kern="0" spc="135" dirty="0">
                <a:solidFill>
                  <a:srgbClr val="6B6B6B"/>
                </a:solidFill>
                <a:latin typeface="Courier New" pitchFamily="34" charset="0"/>
                <a:ea typeface="Courier New" pitchFamily="34" charset="-122"/>
                <a:cs typeface="Courier New" pitchFamily="34" charset="-120"/>
              </a:rPr>
              <a:t>/ CMDB</a:t>
            </a:r>
            <a:endParaRPr lang="en-US" sz="1350" dirty="0"/>
          </a:p>
        </p:txBody>
      </p:sp>
      <p:sp>
        <p:nvSpPr>
          <p:cNvPr id="25" name="Shape 23"/>
          <p:cNvSpPr/>
          <p:nvPr/>
        </p:nvSpPr>
        <p:spPr>
          <a:xfrm>
            <a:off x="12103075" y="5209133"/>
            <a:ext cx="4470350" cy="1428750"/>
          </a:xfrm>
          <a:prstGeom prst="rect">
            <a:avLst/>
          </a:prstGeom>
          <a:solidFill>
            <a:srgbClr val="0F0F0F"/>
          </a:solidFill>
          <a:ln w="9525">
            <a:solidFill>
              <a:srgbClr val="2A2A2A"/>
            </a:solidFill>
            <a:prstDash val="dash"/>
          </a:ln>
        </p:spPr>
        <p:txBody>
          <a:bodyPr/>
          <a:lstStyle/>
          <a:p>
            <a:endParaRPr lang="en-US"/>
          </a:p>
        </p:txBody>
      </p:sp>
      <p:sp>
        <p:nvSpPr>
          <p:cNvPr id="26" name="Text 24"/>
          <p:cNvSpPr/>
          <p:nvPr/>
        </p:nvSpPr>
        <p:spPr>
          <a:xfrm>
            <a:off x="12265000" y="5352008"/>
            <a:ext cx="4280611" cy="11811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FFFF00"/>
                </a:solidFill>
                <a:latin typeface="Courier New" pitchFamily="34" charset="0"/>
                <a:ea typeface="Courier New" pitchFamily="34" charset="-122"/>
                <a:cs typeface="Courier New" pitchFamily="34" charset="-120"/>
              </a:rPr>
              <a:t>retrieve:</a:t>
            </a:r>
            <a:r>
              <a:rPr lang="en-US" sz="1500" dirty="0">
                <a:solidFill>
                  <a:srgbClr val="CFCFCF"/>
                </a:solidFill>
                <a:highlight>
                  <a:srgbClr val="0F0F0F"/>
                </a:highlight>
                <a:latin typeface="Courier New" pitchFamily="34" charset="0"/>
                <a:ea typeface="Courier New" pitchFamily="34" charset="-122"/>
                <a:cs typeface="Courier New" pitchFamily="34" charset="-120"/>
              </a:rPr>
              <a:t> top-k chunks </a:t>
            </a:r>
            <a:r>
              <a:rPr lang="en-US" sz="1500" dirty="0">
                <a:solidFill>
                  <a:srgbClr val="FFFF00"/>
                </a:solidFill>
                <a:latin typeface="Courier New" pitchFamily="34" charset="0"/>
                <a:ea typeface="Courier New" pitchFamily="34" charset="-122"/>
                <a:cs typeface="Courier New" pitchFamily="34" charset="-120"/>
              </a:rPr>
              <a:t>stuff:</a:t>
            </a:r>
            <a:r>
              <a:rPr lang="en-US" sz="1500" dirty="0">
                <a:solidFill>
                  <a:srgbClr val="CFCFCF"/>
                </a:solidFill>
                <a:highlight>
                  <a:srgbClr val="0F0F0F"/>
                </a:highlight>
                <a:latin typeface="Courier New" pitchFamily="34" charset="0"/>
                <a:ea typeface="Courier New" pitchFamily="34" charset="-122"/>
                <a:cs typeface="Courier New" pitchFamily="34" charset="-120"/>
              </a:rPr>
              <a:t> into context </a:t>
            </a:r>
            <a:r>
              <a:rPr lang="en-US" sz="1500" dirty="0">
                <a:solidFill>
                  <a:srgbClr val="FFFF00"/>
                </a:solidFill>
                <a:latin typeface="Courier New" pitchFamily="34" charset="0"/>
                <a:ea typeface="Courier New" pitchFamily="34" charset="-122"/>
                <a:cs typeface="Courier New" pitchFamily="34" charset="-120"/>
              </a:rPr>
              <a:t>ask:</a:t>
            </a:r>
            <a:r>
              <a:rPr lang="en-US" sz="1500" dirty="0">
                <a:solidFill>
                  <a:srgbClr val="CFCFCF"/>
                </a:solidFill>
                <a:highlight>
                  <a:srgbClr val="0F0F0F"/>
                </a:highlight>
                <a:latin typeface="Courier New" pitchFamily="34" charset="0"/>
                <a:ea typeface="Courier New" pitchFamily="34" charset="-122"/>
                <a:cs typeface="Courier New" pitchFamily="34" charset="-120"/>
              </a:rPr>
              <a:t> grounded question </a:t>
            </a:r>
            <a:r>
              <a:rPr lang="en-US" sz="1500" dirty="0">
                <a:solidFill>
                  <a:srgbClr val="FFFF00"/>
                </a:solidFill>
                <a:latin typeface="Courier New" pitchFamily="34" charset="0"/>
                <a:ea typeface="Courier New" pitchFamily="34" charset="-122"/>
                <a:cs typeface="Courier New" pitchFamily="34" charset="-120"/>
              </a:rPr>
              <a:t>cite:</a:t>
            </a:r>
            <a:r>
              <a:rPr lang="en-US" sz="1500" dirty="0">
                <a:solidFill>
                  <a:srgbClr val="CFCFCF"/>
                </a:solidFill>
                <a:highlight>
                  <a:srgbClr val="0F0F0F"/>
                </a:highlight>
                <a:latin typeface="Courier New" pitchFamily="34" charset="0"/>
                <a:ea typeface="Courier New" pitchFamily="34" charset="-122"/>
                <a:cs typeface="Courier New" pitchFamily="34" charset="-120"/>
              </a:rPr>
              <a:t> sources back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02b — More Engineering</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7969625" cy="39238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kern="0" spc="360" dirty="0">
                <a:solidFill>
                  <a:srgbClr val="FFFF00"/>
                </a:solidFill>
                <a:latin typeface="Courier New" pitchFamily="34" charset="0"/>
                <a:ea typeface="Courier New" pitchFamily="34" charset="-122"/>
                <a:cs typeface="Courier New" pitchFamily="34" charset="-120"/>
              </a:rPr>
              <a:t>Data Input and Output</a:t>
            </a:r>
            <a:endParaRPr lang="en-US" sz="1800" dirty="0"/>
          </a:p>
        </p:txBody>
      </p:sp>
      <p:sp>
        <p:nvSpPr>
          <p:cNvPr id="7" name="Text 5"/>
          <p:cNvSpPr/>
          <p:nvPr/>
        </p:nvSpPr>
        <p:spPr>
          <a:xfrm>
            <a:off x="1438275" y="3225105"/>
            <a:ext cx="7969625" cy="981135"/>
          </a:xfrm>
          <a:prstGeom prst="rect">
            <a:avLst/>
          </a:prstGeom>
          <a:noFill/>
          <a:ln/>
        </p:spPr>
        <p:txBody>
          <a:bodyPr wrap="square" lIns="25400" tIns="25400" rIns="25400" bIns="25400" rtlCol="0" anchor="t">
            <a:normAutofit/>
          </a:bodyPr>
          <a:lstStyle/>
          <a:p>
            <a:pPr marL="0" indent="0" algn="l">
              <a:lnSpc>
                <a:spcPct val="135000"/>
              </a:lnSpc>
              <a:buNone/>
            </a:pPr>
            <a:r>
              <a:rPr lang="en-US" sz="2850" dirty="0">
                <a:solidFill>
                  <a:srgbClr val="FFFFFF"/>
                </a:solidFill>
                <a:latin typeface="Courier New" pitchFamily="34" charset="0"/>
                <a:ea typeface="Courier New" pitchFamily="34" charset="-122"/>
                <a:cs typeface="Courier New" pitchFamily="34" charset="-120"/>
              </a:rPr>
              <a:t>Focus on data and results (output)</a:t>
            </a:r>
            <a:endParaRPr lang="en-US" sz="2850" dirty="0"/>
          </a:p>
        </p:txBody>
      </p:sp>
      <p:sp>
        <p:nvSpPr>
          <p:cNvPr id="8" name="Text 6"/>
          <p:cNvSpPr/>
          <p:nvPr/>
        </p:nvSpPr>
        <p:spPr>
          <a:xfrm>
            <a:off x="1450800" y="4229517"/>
            <a:ext cx="7626725" cy="804862"/>
          </a:xfrm>
          <a:prstGeom prst="rect">
            <a:avLst/>
          </a:prstGeom>
          <a:noFill/>
          <a:ln/>
        </p:spPr>
        <p:txBody>
          <a:bodyPr wrap="square" lIns="25400" tIns="25400" rIns="25400" bIns="25400" rtlCol="0" anchor="t">
            <a:normAutofit/>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Structured output mode </a:t>
            </a:r>
            <a:r>
              <a:rPr lang="en-US" sz="1950" dirty="0">
                <a:solidFill>
                  <a:srgbClr val="FFFFFF"/>
                </a:solidFill>
                <a:latin typeface="Courier New" pitchFamily="34" charset="0"/>
                <a:ea typeface="Courier New" pitchFamily="34" charset="-122"/>
                <a:cs typeface="Courier New" pitchFamily="34" charset="-120"/>
              </a:rPr>
              <a:t>— ingestible data output</a:t>
            </a:r>
            <a:endParaRPr lang="en-US" sz="1950" dirty="0"/>
          </a:p>
        </p:txBody>
      </p:sp>
      <p:sp>
        <p:nvSpPr>
          <p:cNvPr id="9" name="Text 7"/>
          <p:cNvSpPr/>
          <p:nvPr/>
        </p:nvSpPr>
        <p:spPr>
          <a:xfrm>
            <a:off x="1438275" y="6122932"/>
            <a:ext cx="7626725"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Schema-validate </a:t>
            </a:r>
            <a:r>
              <a:rPr lang="en-US" sz="1950" dirty="0">
                <a:solidFill>
                  <a:srgbClr val="FFFFFF"/>
                </a:solidFill>
                <a:latin typeface="Courier New" pitchFamily="34" charset="0"/>
                <a:ea typeface="Courier New" pitchFamily="34" charset="-122"/>
                <a:cs typeface="Courier New" pitchFamily="34" charset="-120"/>
              </a:rPr>
              <a:t>Reject malformed responses; retry with a stricter prompt.</a:t>
            </a:r>
            <a:endParaRPr lang="en-US" sz="1950" dirty="0"/>
          </a:p>
        </p:txBody>
      </p:sp>
      <p:sp>
        <p:nvSpPr>
          <p:cNvPr id="10" name="Text 8"/>
          <p:cNvSpPr/>
          <p:nvPr/>
        </p:nvSpPr>
        <p:spPr>
          <a:xfrm>
            <a:off x="9345525" y="4896916"/>
            <a:ext cx="7626725"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Sanity checks </a:t>
            </a:r>
            <a:r>
              <a:rPr lang="en-US" sz="1950" dirty="0">
                <a:solidFill>
                  <a:srgbClr val="FFFFFF"/>
                </a:solidFill>
                <a:latin typeface="Courier New" pitchFamily="34" charset="0"/>
                <a:ea typeface="Courier New" pitchFamily="34" charset="-122"/>
                <a:cs typeface="Courier New" pitchFamily="34" charset="-120"/>
              </a:rPr>
              <a:t>on values — IP in subnet? Interface exists? VLAN in range?</a:t>
            </a:r>
            <a:endParaRPr lang="en-US" sz="1950" dirty="0"/>
          </a:p>
        </p:txBody>
      </p:sp>
      <p:sp>
        <p:nvSpPr>
          <p:cNvPr id="11" name="Text 9"/>
          <p:cNvSpPr/>
          <p:nvPr/>
        </p:nvSpPr>
        <p:spPr>
          <a:xfrm>
            <a:off x="9144000" y="7306643"/>
            <a:ext cx="7626725" cy="804862"/>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b="1" dirty="0">
                <a:solidFill>
                  <a:srgbClr val="FFFF00"/>
                </a:solidFill>
                <a:latin typeface="Courier New" pitchFamily="34" charset="0"/>
                <a:ea typeface="Courier New" pitchFamily="34" charset="-122"/>
                <a:cs typeface="Courier New" pitchFamily="34" charset="-120"/>
              </a:rPr>
              <a:t>Confidence scoring </a:t>
            </a:r>
            <a:r>
              <a:rPr lang="en-US" sz="1950" dirty="0">
                <a:solidFill>
                  <a:srgbClr val="FFFFFF"/>
                </a:solidFill>
                <a:latin typeface="Courier New" pitchFamily="34" charset="0"/>
                <a:ea typeface="Courier New" pitchFamily="34" charset="-122"/>
                <a:cs typeface="Courier New" pitchFamily="34" charset="-120"/>
              </a:rPr>
              <a:t>— evaluation. Below threshold ⇒ human.</a:t>
            </a:r>
            <a:endParaRPr lang="en-US" sz="1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03 — Integration with Tools</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4984700" cy="6358905"/>
          </a:xfrm>
          <a:prstGeom prst="rect">
            <a:avLst/>
          </a:prstGeom>
          <a:ln w="9525">
            <a:solidFill>
              <a:srgbClr val="2A2A2A"/>
            </a:solidFill>
            <a:prstDash val="solid"/>
          </a:ln>
        </p:spPr>
        <p:txBody>
          <a:bodyPr/>
          <a:lstStyle/>
          <a:p>
            <a:endParaRPr lang="en-US"/>
          </a:p>
        </p:txBody>
      </p:sp>
      <p:sp>
        <p:nvSpPr>
          <p:cNvPr id="7" name="Text 5"/>
          <p:cNvSpPr/>
          <p:nvPr/>
        </p:nvSpPr>
        <p:spPr>
          <a:xfrm>
            <a:off x="1733550" y="2804145"/>
            <a:ext cx="4525975"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GLUE</a:t>
            </a:r>
            <a:endParaRPr lang="en-US" sz="1500" dirty="0"/>
          </a:p>
        </p:txBody>
      </p:sp>
      <p:sp>
        <p:nvSpPr>
          <p:cNvPr id="8" name="Text 6"/>
          <p:cNvSpPr/>
          <p:nvPr/>
        </p:nvSpPr>
        <p:spPr>
          <a:xfrm>
            <a:off x="1733550" y="3232770"/>
            <a:ext cx="4525975" cy="923925"/>
          </a:xfrm>
          <a:prstGeom prst="rect">
            <a:avLst/>
          </a:prstGeom>
          <a:noFill/>
          <a:ln/>
        </p:spPr>
        <p:txBody>
          <a:bodyPr wrap="square" lIns="25400" tIns="25400" rIns="25400" bIns="25400" rtlCol="0" anchor="t">
            <a:normAutofit/>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LangChain </a:t>
            </a:r>
            <a:r>
              <a:rPr lang="en-US" sz="1350" kern="0" spc="-22" dirty="0">
                <a:solidFill>
                  <a:srgbClr val="6B6B6B"/>
                </a:solidFill>
                <a:latin typeface="Courier New" pitchFamily="34" charset="0"/>
                <a:ea typeface="Courier New" pitchFamily="34" charset="-122"/>
                <a:cs typeface="Courier New" pitchFamily="34" charset="-120"/>
              </a:rPr>
              <a:t>…or plain Python. </a:t>
            </a:r>
            <a:endParaRPr lang="en-US" sz="2250" dirty="0"/>
          </a:p>
        </p:txBody>
      </p:sp>
      <p:sp>
        <p:nvSpPr>
          <p:cNvPr id="9" name="Text 7"/>
          <p:cNvSpPr/>
          <p:nvPr/>
        </p:nvSpPr>
        <p:spPr>
          <a:xfrm>
            <a:off x="1733550" y="4251945"/>
            <a:ext cx="4525975" cy="12954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CFCFCF"/>
                </a:solidFill>
                <a:latin typeface="Courier New" pitchFamily="34" charset="0"/>
                <a:ea typeface="Courier New" pitchFamily="34" charset="-122"/>
                <a:cs typeface="Courier New" pitchFamily="34" charset="-120"/>
              </a:rPr>
              <a:t>Chain calls. Manage memory. Tool-use. Whatever framework lets you describe a pipeline as a pipeline instead of nested if-statements.</a:t>
            </a:r>
            <a:endParaRPr lang="en-US" sz="1650" dirty="0"/>
          </a:p>
        </p:txBody>
      </p:sp>
      <p:sp>
        <p:nvSpPr>
          <p:cNvPr id="13" name="Shape 11"/>
          <p:cNvSpPr/>
          <p:nvPr/>
        </p:nvSpPr>
        <p:spPr>
          <a:xfrm>
            <a:off x="6651575" y="2527920"/>
            <a:ext cx="4984775" cy="6358905"/>
          </a:xfrm>
          <a:prstGeom prst="rect">
            <a:avLst/>
          </a:prstGeom>
          <a:ln w="9525">
            <a:solidFill>
              <a:srgbClr val="2A2A2A"/>
            </a:solidFill>
            <a:prstDash val="solid"/>
          </a:ln>
        </p:spPr>
        <p:txBody>
          <a:bodyPr/>
          <a:lstStyle/>
          <a:p>
            <a:endParaRPr lang="en-US"/>
          </a:p>
        </p:txBody>
      </p:sp>
      <p:sp>
        <p:nvSpPr>
          <p:cNvPr id="14" name="Text 12"/>
          <p:cNvSpPr/>
          <p:nvPr/>
        </p:nvSpPr>
        <p:spPr>
          <a:xfrm>
            <a:off x="6946850" y="2804145"/>
            <a:ext cx="4526052"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FRONTEND</a:t>
            </a:r>
            <a:endParaRPr lang="en-US" sz="1500" dirty="0"/>
          </a:p>
        </p:txBody>
      </p:sp>
      <p:sp>
        <p:nvSpPr>
          <p:cNvPr id="15" name="Text 13"/>
          <p:cNvSpPr/>
          <p:nvPr/>
        </p:nvSpPr>
        <p:spPr>
          <a:xfrm>
            <a:off x="6946850" y="3232770"/>
            <a:ext cx="4526052" cy="923925"/>
          </a:xfrm>
          <a:prstGeom prst="rect">
            <a:avLst/>
          </a:prstGeom>
          <a:noFill/>
          <a:ln/>
        </p:spPr>
        <p:txBody>
          <a:bodyPr wrap="square" lIns="25400" tIns="25400" rIns="25400" bIns="25400" rtlCol="0" anchor="t">
            <a:normAutofit/>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Streamlit </a:t>
            </a:r>
            <a:r>
              <a:rPr lang="en-US" sz="1350" kern="0" spc="-22" dirty="0">
                <a:solidFill>
                  <a:srgbClr val="6B6B6B"/>
                </a:solidFill>
                <a:latin typeface="Courier New" pitchFamily="34" charset="0"/>
                <a:ea typeface="Courier New" pitchFamily="34" charset="-122"/>
                <a:cs typeface="Courier New" pitchFamily="34" charset="-120"/>
              </a:rPr>
              <a:t>…or Gradio, or a quick web UI.</a:t>
            </a:r>
            <a:endParaRPr lang="en-US" sz="2250" dirty="0"/>
          </a:p>
        </p:txBody>
      </p:sp>
      <p:sp>
        <p:nvSpPr>
          <p:cNvPr id="16" name="Text 14"/>
          <p:cNvSpPr/>
          <p:nvPr/>
        </p:nvSpPr>
        <p:spPr>
          <a:xfrm>
            <a:off x="6946850" y="4251945"/>
            <a:ext cx="4526052" cy="1628775"/>
          </a:xfrm>
          <a:prstGeom prst="rect">
            <a:avLst/>
          </a:prstGeom>
          <a:noFill/>
          <a:ln/>
        </p:spPr>
        <p:txBody>
          <a:bodyPr wrap="square" lIns="25400" tIns="25400" rIns="25400" bIns="25400" rtlCol="0" anchor="t">
            <a:normAutofit/>
          </a:bodyPr>
          <a:lstStyle/>
          <a:p>
            <a:pPr marL="0" indent="0" algn="l">
              <a:lnSpc>
                <a:spcPct val="150000"/>
              </a:lnSpc>
              <a:buNone/>
            </a:pPr>
            <a:r>
              <a:rPr lang="en-US" sz="1650" dirty="0">
                <a:solidFill>
                  <a:srgbClr val="CFCFCF"/>
                </a:solidFill>
                <a:latin typeface="Courier New" pitchFamily="34" charset="0"/>
                <a:ea typeface="Courier New" pitchFamily="34" charset="-122"/>
                <a:cs typeface="Courier New" pitchFamily="34" charset="-120"/>
              </a:rPr>
              <a:t>Humans need somewhere to see what the thing is doing. The goal is not beautiful — the goal is </a:t>
            </a:r>
            <a:r>
              <a:rPr lang="en-US" sz="1650" b="1" dirty="0">
                <a:solidFill>
                  <a:srgbClr val="CFCFCF"/>
                </a:solidFill>
                <a:latin typeface="Courier New" pitchFamily="34" charset="0"/>
                <a:ea typeface="Courier New" pitchFamily="34" charset="-122"/>
                <a:cs typeface="Courier New" pitchFamily="34" charset="-120"/>
              </a:rPr>
              <a:t>legible </a:t>
            </a:r>
            <a:r>
              <a:rPr lang="en-US" sz="1650" dirty="0">
                <a:solidFill>
                  <a:srgbClr val="CFCFCF"/>
                </a:solidFill>
                <a:latin typeface="Courier New" pitchFamily="34" charset="0"/>
                <a:ea typeface="Courier New" pitchFamily="34" charset="-122"/>
                <a:cs typeface="Courier New" pitchFamily="34" charset="-120"/>
              </a:rPr>
              <a:t>. A textarea, a diff, a button.</a:t>
            </a:r>
            <a:endParaRPr lang="en-US" sz="1650" dirty="0"/>
          </a:p>
        </p:txBody>
      </p:sp>
      <p:sp>
        <p:nvSpPr>
          <p:cNvPr id="21" name="Text 19"/>
          <p:cNvSpPr/>
          <p:nvPr/>
        </p:nvSpPr>
        <p:spPr>
          <a:xfrm>
            <a:off x="12160225" y="2804145"/>
            <a:ext cx="4525975" cy="33337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kern="0" spc="300" dirty="0">
                <a:solidFill>
                  <a:srgbClr val="FFFF00"/>
                </a:solidFill>
                <a:latin typeface="Courier New" pitchFamily="34" charset="0"/>
                <a:ea typeface="Courier New" pitchFamily="34" charset="-122"/>
                <a:cs typeface="Courier New" pitchFamily="34" charset="-120"/>
              </a:rPr>
              <a:t>GOAL</a:t>
            </a:r>
            <a:endParaRPr lang="en-US" sz="1500" dirty="0"/>
          </a:p>
        </p:txBody>
      </p:sp>
      <p:sp>
        <p:nvSpPr>
          <p:cNvPr id="22" name="Text 20"/>
          <p:cNvSpPr/>
          <p:nvPr/>
        </p:nvSpPr>
        <p:spPr>
          <a:xfrm>
            <a:off x="12160225" y="3232770"/>
            <a:ext cx="4525975" cy="923925"/>
          </a:xfrm>
          <a:prstGeom prst="rect">
            <a:avLst/>
          </a:prstGeom>
          <a:noFill/>
          <a:ln/>
        </p:spPr>
        <p:txBody>
          <a:bodyPr wrap="square" lIns="25400" tIns="25400" rIns="25400" bIns="25400" rtlCol="0" anchor="t">
            <a:normAutofit/>
          </a:bodyPr>
          <a:lstStyle/>
          <a:p>
            <a:pPr marL="0" indent="0" algn="l">
              <a:lnSpc>
                <a:spcPct val="155000"/>
              </a:lnSpc>
              <a:buNone/>
            </a:pPr>
            <a:r>
              <a:rPr lang="en-US" sz="2250" b="1" kern="0" spc="-22" dirty="0">
                <a:solidFill>
                  <a:srgbClr val="FFFFFF"/>
                </a:solidFill>
                <a:latin typeface="Courier New" pitchFamily="34" charset="0"/>
                <a:ea typeface="Courier New" pitchFamily="34" charset="-122"/>
                <a:cs typeface="Courier New" pitchFamily="34" charset="-120"/>
              </a:rPr>
              <a:t>A Network Co-Pilot</a:t>
            </a:r>
            <a:endParaRPr lang="en-US" sz="2250" dirty="0"/>
          </a:p>
        </p:txBody>
      </p:sp>
      <p:sp>
        <p:nvSpPr>
          <p:cNvPr id="23" name="Text 21"/>
          <p:cNvSpPr/>
          <p:nvPr/>
        </p:nvSpPr>
        <p:spPr>
          <a:xfrm>
            <a:off x="12160225" y="4251945"/>
            <a:ext cx="4525975" cy="1647825"/>
          </a:xfrm>
          <a:prstGeom prst="rect">
            <a:avLst/>
          </a:prstGeom>
          <a:noFill/>
          <a:ln/>
        </p:spPr>
        <p:txBody>
          <a:bodyPr wrap="square" lIns="25400" tIns="25400" rIns="25400" bIns="25400" rtlCol="0" anchor="t">
            <a:normAutofit/>
          </a:bodyPr>
          <a:lstStyle/>
          <a:p>
            <a:pPr marL="0" indent="0" algn="l">
              <a:lnSpc>
                <a:spcPct val="150000"/>
              </a:lnSpc>
              <a:buNone/>
            </a:pPr>
            <a:r>
              <a:rPr lang="en-US" sz="1650" dirty="0">
                <a:solidFill>
                  <a:srgbClr val="CFCFCF"/>
                </a:solidFill>
                <a:latin typeface="Courier New" pitchFamily="34" charset="0"/>
                <a:ea typeface="Courier New" pitchFamily="34" charset="-122"/>
                <a:cs typeface="Courier New" pitchFamily="34" charset="-120"/>
              </a:rPr>
              <a:t>A human sits next to it.</a:t>
            </a:r>
            <a:r>
              <a:rPr lang="en-US" sz="1650" b="1" dirty="0">
                <a:solidFill>
                  <a:srgbClr val="FFFF00"/>
                </a:solidFill>
                <a:latin typeface="Courier New" pitchFamily="34" charset="0"/>
                <a:ea typeface="Courier New" pitchFamily="34" charset="-122"/>
                <a:cs typeface="Courier New" pitchFamily="34" charset="-120"/>
              </a:rPr>
              <a:t> </a:t>
            </a:r>
            <a:endParaRPr lang="en-US" sz="1650" dirty="0"/>
          </a:p>
        </p:txBody>
      </p:sp>
      <p:sp>
        <p:nvSpPr>
          <p:cNvPr id="28" name="Shape 11">
            <a:extLst>
              <a:ext uri="{FF2B5EF4-FFF2-40B4-BE49-F238E27FC236}">
                <a16:creationId xmlns:a16="http://schemas.microsoft.com/office/drawing/2014/main" id="{9FDF6C99-448F-6604-9143-F6624C26B897}"/>
              </a:ext>
            </a:extLst>
          </p:cNvPr>
          <p:cNvSpPr/>
          <p:nvPr/>
        </p:nvSpPr>
        <p:spPr>
          <a:xfrm>
            <a:off x="11864950" y="2527920"/>
            <a:ext cx="4984775" cy="6358905"/>
          </a:xfrm>
          <a:prstGeom prst="rect">
            <a:avLst/>
          </a:prstGeom>
          <a:ln w="9525">
            <a:solidFill>
              <a:srgbClr val="2A2A2A"/>
            </a:solidFill>
            <a:prstDash val="solid"/>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04b — Integration with Process</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Text 4"/>
          <p:cNvSpPr/>
          <p:nvPr/>
        </p:nvSpPr>
        <p:spPr>
          <a:xfrm>
            <a:off x="1438275" y="2527920"/>
            <a:ext cx="15873794" cy="372368"/>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FFFFFF"/>
                </a:solidFill>
                <a:latin typeface="Courier New" pitchFamily="34" charset="0"/>
                <a:ea typeface="Courier New" pitchFamily="34" charset="-122"/>
                <a:cs typeface="Courier New" pitchFamily="34" charset="-120"/>
              </a:rPr>
              <a:t>Don't trust. </a:t>
            </a:r>
            <a:r>
              <a:rPr lang="en-US" sz="1950" dirty="0">
                <a:solidFill>
                  <a:srgbClr val="FFFF00"/>
                </a:solidFill>
                <a:latin typeface="Courier New" pitchFamily="34" charset="0"/>
                <a:ea typeface="Courier New" pitchFamily="34" charset="-122"/>
                <a:cs typeface="Courier New" pitchFamily="34" charset="-120"/>
              </a:rPr>
              <a:t>Always validate. </a:t>
            </a:r>
            <a:endParaRPr lang="en-US" sz="1950" dirty="0"/>
          </a:p>
        </p:txBody>
      </p:sp>
      <p:sp>
        <p:nvSpPr>
          <p:cNvPr id="7" name="Shape 5"/>
          <p:cNvSpPr/>
          <p:nvPr/>
        </p:nvSpPr>
        <p:spPr>
          <a:xfrm>
            <a:off x="1438275" y="3166988"/>
            <a:ext cx="2960340" cy="2343150"/>
          </a:xfrm>
          <a:prstGeom prst="rect">
            <a:avLst/>
          </a:prstGeom>
          <a:ln w="9525">
            <a:solidFill>
              <a:srgbClr val="2A2A2A"/>
            </a:solidFill>
            <a:prstDash val="solid"/>
          </a:ln>
        </p:spPr>
        <p:txBody>
          <a:bodyPr/>
          <a:lstStyle/>
          <a:p>
            <a:endParaRPr lang="en-US"/>
          </a:p>
        </p:txBody>
      </p:sp>
      <p:sp>
        <p:nvSpPr>
          <p:cNvPr id="8" name="Text 6"/>
          <p:cNvSpPr/>
          <p:nvPr/>
        </p:nvSpPr>
        <p:spPr>
          <a:xfrm>
            <a:off x="1619250" y="3386063"/>
            <a:ext cx="2676342"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270" dirty="0">
                <a:solidFill>
                  <a:srgbClr val="FFFF00"/>
                </a:solidFill>
                <a:latin typeface="Courier New" pitchFamily="34" charset="0"/>
                <a:ea typeface="Courier New" pitchFamily="34" charset="-122"/>
                <a:cs typeface="Courier New" pitchFamily="34" charset="-120"/>
              </a:rPr>
              <a:t>› AI</a:t>
            </a:r>
            <a:endParaRPr lang="en-US" sz="1350" dirty="0"/>
          </a:p>
        </p:txBody>
      </p:sp>
      <p:sp>
        <p:nvSpPr>
          <p:cNvPr id="9" name="Text 7"/>
          <p:cNvSpPr/>
          <p:nvPr/>
        </p:nvSpPr>
        <p:spPr>
          <a:xfrm>
            <a:off x="1619250" y="3747046"/>
            <a:ext cx="2676342" cy="31239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b="1" dirty="0">
                <a:solidFill>
                  <a:srgbClr val="FFFFFF"/>
                </a:solidFill>
                <a:latin typeface="Courier New" pitchFamily="34" charset="0"/>
                <a:ea typeface="Courier New" pitchFamily="34" charset="-122"/>
                <a:cs typeface="Courier New" pitchFamily="34" charset="-120"/>
              </a:rPr>
              <a:t>Ideation</a:t>
            </a:r>
            <a:endParaRPr lang="en-US" sz="1800" dirty="0"/>
          </a:p>
        </p:txBody>
      </p:sp>
      <p:sp>
        <p:nvSpPr>
          <p:cNvPr id="10" name="Text 8"/>
          <p:cNvSpPr/>
          <p:nvPr/>
        </p:nvSpPr>
        <p:spPr>
          <a:xfrm>
            <a:off x="1619250" y="4116586"/>
            <a:ext cx="2676342" cy="6381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125" dirty="0">
                <a:solidFill>
                  <a:srgbClr val="CFCFCF"/>
                </a:solidFill>
                <a:latin typeface="Courier New" pitchFamily="34" charset="0"/>
                <a:ea typeface="Courier New" pitchFamily="34" charset="-122"/>
                <a:cs typeface="Courier New" pitchFamily="34" charset="-120"/>
              </a:rPr>
              <a:t>Model proposes. Schema-validated JSON, candidate intents, candidate config.</a:t>
            </a:r>
            <a:endParaRPr lang="en-US" sz="1125" dirty="0"/>
          </a:p>
        </p:txBody>
      </p:sp>
      <p:sp>
        <p:nvSpPr>
          <p:cNvPr id="12" name="Shape 10"/>
          <p:cNvSpPr/>
          <p:nvPr/>
        </p:nvSpPr>
        <p:spPr>
          <a:xfrm>
            <a:off x="4551015" y="3166988"/>
            <a:ext cx="2960340" cy="2343150"/>
          </a:xfrm>
          <a:prstGeom prst="rect">
            <a:avLst/>
          </a:prstGeom>
          <a:ln w="9525">
            <a:solidFill>
              <a:srgbClr val="5AD17C"/>
            </a:solidFill>
            <a:prstDash val="solid"/>
          </a:ln>
        </p:spPr>
        <p:txBody>
          <a:bodyPr/>
          <a:lstStyle/>
          <a:p>
            <a:endParaRPr lang="en-US"/>
          </a:p>
        </p:txBody>
      </p:sp>
      <p:sp>
        <p:nvSpPr>
          <p:cNvPr id="13" name="Text 11"/>
          <p:cNvSpPr/>
          <p:nvPr/>
        </p:nvSpPr>
        <p:spPr>
          <a:xfrm>
            <a:off x="4731990" y="3386063"/>
            <a:ext cx="2676342"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270" dirty="0">
                <a:solidFill>
                  <a:srgbClr val="5AD17C"/>
                </a:solidFill>
                <a:latin typeface="Courier New" pitchFamily="34" charset="0"/>
                <a:ea typeface="Courier New" pitchFamily="34" charset="-122"/>
                <a:cs typeface="Courier New" pitchFamily="34" charset="-120"/>
              </a:rPr>
              <a:t>› HUMAN</a:t>
            </a:r>
            <a:endParaRPr lang="en-US" sz="1350" dirty="0"/>
          </a:p>
        </p:txBody>
      </p:sp>
      <p:sp>
        <p:nvSpPr>
          <p:cNvPr id="14" name="Text 12"/>
          <p:cNvSpPr/>
          <p:nvPr/>
        </p:nvSpPr>
        <p:spPr>
          <a:xfrm>
            <a:off x="4731990" y="3747046"/>
            <a:ext cx="2676342" cy="31239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b="1" dirty="0">
                <a:solidFill>
                  <a:srgbClr val="FFFFFF"/>
                </a:solidFill>
                <a:latin typeface="Courier New" pitchFamily="34" charset="0"/>
                <a:ea typeface="Courier New" pitchFamily="34" charset="-122"/>
                <a:cs typeface="Courier New" pitchFamily="34" charset="-120"/>
              </a:rPr>
              <a:t>Review</a:t>
            </a:r>
            <a:endParaRPr lang="en-US" sz="1800" dirty="0"/>
          </a:p>
        </p:txBody>
      </p:sp>
      <p:sp>
        <p:nvSpPr>
          <p:cNvPr id="15" name="Text 13"/>
          <p:cNvSpPr/>
          <p:nvPr/>
        </p:nvSpPr>
        <p:spPr>
          <a:xfrm>
            <a:off x="4731990" y="4116586"/>
            <a:ext cx="2676342" cy="4381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125" dirty="0">
                <a:solidFill>
                  <a:srgbClr val="CFCFCF"/>
                </a:solidFill>
                <a:latin typeface="Courier New" pitchFamily="34" charset="0"/>
                <a:ea typeface="Courier New" pitchFamily="34" charset="-122"/>
                <a:cs typeface="Courier New" pitchFamily="34" charset="-120"/>
              </a:rPr>
              <a:t>An engineer reads it. Eyes on the diff. First sanity check.</a:t>
            </a:r>
            <a:endParaRPr lang="en-US" sz="1125" dirty="0"/>
          </a:p>
        </p:txBody>
      </p:sp>
      <p:sp>
        <p:nvSpPr>
          <p:cNvPr id="17" name="Shape 15"/>
          <p:cNvSpPr/>
          <p:nvPr/>
        </p:nvSpPr>
        <p:spPr>
          <a:xfrm>
            <a:off x="7663755" y="3166988"/>
            <a:ext cx="2960415" cy="2343150"/>
          </a:xfrm>
          <a:prstGeom prst="rect">
            <a:avLst/>
          </a:prstGeom>
          <a:ln w="9525">
            <a:solidFill>
              <a:srgbClr val="2A2A2A"/>
            </a:solidFill>
            <a:prstDash val="solid"/>
          </a:ln>
        </p:spPr>
        <p:txBody>
          <a:bodyPr/>
          <a:lstStyle/>
          <a:p>
            <a:endParaRPr lang="en-US"/>
          </a:p>
        </p:txBody>
      </p:sp>
      <p:sp>
        <p:nvSpPr>
          <p:cNvPr id="18" name="Text 16"/>
          <p:cNvSpPr/>
          <p:nvPr/>
        </p:nvSpPr>
        <p:spPr>
          <a:xfrm>
            <a:off x="7844730" y="3386063"/>
            <a:ext cx="2676419"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270" dirty="0">
                <a:solidFill>
                  <a:srgbClr val="FFFF00"/>
                </a:solidFill>
                <a:latin typeface="Courier New" pitchFamily="34" charset="0"/>
                <a:ea typeface="Courier New" pitchFamily="34" charset="-122"/>
                <a:cs typeface="Courier New" pitchFamily="34" charset="-120"/>
              </a:rPr>
              <a:t>› SYSTEM</a:t>
            </a:r>
            <a:endParaRPr lang="en-US" sz="1350" dirty="0"/>
          </a:p>
        </p:txBody>
      </p:sp>
      <p:sp>
        <p:nvSpPr>
          <p:cNvPr id="19" name="Text 17"/>
          <p:cNvSpPr/>
          <p:nvPr/>
        </p:nvSpPr>
        <p:spPr>
          <a:xfrm>
            <a:off x="7844730" y="3747046"/>
            <a:ext cx="2676419" cy="31239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b="1" dirty="0">
                <a:solidFill>
                  <a:srgbClr val="FFFFFF"/>
                </a:solidFill>
                <a:latin typeface="Courier New" pitchFamily="34" charset="0"/>
                <a:ea typeface="Courier New" pitchFamily="34" charset="-122"/>
                <a:cs typeface="Courier New" pitchFamily="34" charset="-120"/>
              </a:rPr>
              <a:t>Validation</a:t>
            </a:r>
            <a:endParaRPr lang="en-US" sz="1800" dirty="0"/>
          </a:p>
        </p:txBody>
      </p:sp>
      <p:sp>
        <p:nvSpPr>
          <p:cNvPr id="20" name="Text 18"/>
          <p:cNvSpPr/>
          <p:nvPr/>
        </p:nvSpPr>
        <p:spPr>
          <a:xfrm>
            <a:off x="7844730" y="4116586"/>
            <a:ext cx="2676419" cy="6381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125" dirty="0">
                <a:solidFill>
                  <a:srgbClr val="CFCFCF"/>
                </a:solidFill>
                <a:latin typeface="Courier New" pitchFamily="34" charset="0"/>
                <a:ea typeface="Courier New" pitchFamily="34" charset="-122"/>
                <a:cs typeface="Courier New" pitchFamily="34" charset="-120"/>
              </a:rPr>
              <a:t>Linter. Schema check. Dry-run. Diff against intent. Policy engine.</a:t>
            </a:r>
            <a:endParaRPr lang="en-US" sz="1125" dirty="0"/>
          </a:p>
        </p:txBody>
      </p:sp>
      <p:sp>
        <p:nvSpPr>
          <p:cNvPr id="22" name="Shape 20"/>
          <p:cNvSpPr/>
          <p:nvPr/>
        </p:nvSpPr>
        <p:spPr>
          <a:xfrm>
            <a:off x="10776570" y="3166988"/>
            <a:ext cx="2960340" cy="2343150"/>
          </a:xfrm>
          <a:prstGeom prst="rect">
            <a:avLst/>
          </a:prstGeom>
          <a:ln w="9525">
            <a:solidFill>
              <a:srgbClr val="5AD17C"/>
            </a:solidFill>
            <a:prstDash val="solid"/>
          </a:ln>
        </p:spPr>
        <p:txBody>
          <a:bodyPr/>
          <a:lstStyle/>
          <a:p>
            <a:endParaRPr lang="en-US"/>
          </a:p>
        </p:txBody>
      </p:sp>
      <p:sp>
        <p:nvSpPr>
          <p:cNvPr id="23" name="Text 21"/>
          <p:cNvSpPr/>
          <p:nvPr/>
        </p:nvSpPr>
        <p:spPr>
          <a:xfrm>
            <a:off x="10957545" y="3386063"/>
            <a:ext cx="2676342"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270" dirty="0">
                <a:solidFill>
                  <a:srgbClr val="5AD17C"/>
                </a:solidFill>
                <a:latin typeface="Courier New" pitchFamily="34" charset="0"/>
                <a:ea typeface="Courier New" pitchFamily="34" charset="-122"/>
                <a:cs typeface="Courier New" pitchFamily="34" charset="-120"/>
              </a:rPr>
              <a:t>› HUMAN</a:t>
            </a:r>
            <a:endParaRPr lang="en-US" sz="1350" dirty="0"/>
          </a:p>
        </p:txBody>
      </p:sp>
      <p:sp>
        <p:nvSpPr>
          <p:cNvPr id="24" name="Text 22"/>
          <p:cNvSpPr/>
          <p:nvPr/>
        </p:nvSpPr>
        <p:spPr>
          <a:xfrm>
            <a:off x="10957545" y="3747046"/>
            <a:ext cx="2676342" cy="31239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b="1" dirty="0">
                <a:solidFill>
                  <a:srgbClr val="FFFFFF"/>
                </a:solidFill>
                <a:latin typeface="Courier New" pitchFamily="34" charset="0"/>
                <a:ea typeface="Courier New" pitchFamily="34" charset="-122"/>
                <a:cs typeface="Courier New" pitchFamily="34" charset="-120"/>
              </a:rPr>
              <a:t>Approval</a:t>
            </a:r>
            <a:endParaRPr lang="en-US" sz="1800" dirty="0"/>
          </a:p>
        </p:txBody>
      </p:sp>
      <p:sp>
        <p:nvSpPr>
          <p:cNvPr id="25" name="Text 23"/>
          <p:cNvSpPr/>
          <p:nvPr/>
        </p:nvSpPr>
        <p:spPr>
          <a:xfrm>
            <a:off x="10957545" y="4116586"/>
            <a:ext cx="2676342" cy="638175"/>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125" dirty="0">
                <a:solidFill>
                  <a:srgbClr val="CFCFCF"/>
                </a:solidFill>
                <a:latin typeface="Courier New" pitchFamily="34" charset="0"/>
                <a:ea typeface="Courier New" pitchFamily="34" charset="-122"/>
                <a:cs typeface="Courier New" pitchFamily="34" charset="-120"/>
              </a:rPr>
              <a:t>A named person clicks the button. Their name on the change ticket.</a:t>
            </a:r>
            <a:endParaRPr lang="en-US" sz="1125" dirty="0"/>
          </a:p>
        </p:txBody>
      </p:sp>
      <p:sp>
        <p:nvSpPr>
          <p:cNvPr id="27" name="Shape 25"/>
          <p:cNvSpPr/>
          <p:nvPr/>
        </p:nvSpPr>
        <p:spPr>
          <a:xfrm>
            <a:off x="13889310" y="3166988"/>
            <a:ext cx="2960340" cy="2343150"/>
          </a:xfrm>
          <a:prstGeom prst="rect">
            <a:avLst/>
          </a:prstGeom>
          <a:ln w="9525">
            <a:solidFill>
              <a:srgbClr val="FF6B35"/>
            </a:solidFill>
            <a:prstDash val="solid"/>
          </a:ln>
        </p:spPr>
        <p:txBody>
          <a:bodyPr/>
          <a:lstStyle/>
          <a:p>
            <a:endParaRPr lang="en-US"/>
          </a:p>
        </p:txBody>
      </p:sp>
      <p:sp>
        <p:nvSpPr>
          <p:cNvPr id="28" name="Text 26"/>
          <p:cNvSpPr/>
          <p:nvPr/>
        </p:nvSpPr>
        <p:spPr>
          <a:xfrm>
            <a:off x="14070285" y="3386063"/>
            <a:ext cx="2676342" cy="30383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kern="0" spc="270" dirty="0">
                <a:solidFill>
                  <a:srgbClr val="FF6B35"/>
                </a:solidFill>
                <a:latin typeface="Courier New" pitchFamily="34" charset="0"/>
                <a:ea typeface="Courier New" pitchFamily="34" charset="-122"/>
                <a:cs typeface="Courier New" pitchFamily="34" charset="-120"/>
              </a:rPr>
              <a:t>› SYSTEM</a:t>
            </a:r>
            <a:endParaRPr lang="en-US" sz="1350" dirty="0"/>
          </a:p>
        </p:txBody>
      </p:sp>
      <p:sp>
        <p:nvSpPr>
          <p:cNvPr id="29" name="Text 27"/>
          <p:cNvSpPr/>
          <p:nvPr/>
        </p:nvSpPr>
        <p:spPr>
          <a:xfrm>
            <a:off x="14070285" y="3747046"/>
            <a:ext cx="2676342" cy="31239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b="1" dirty="0">
                <a:solidFill>
                  <a:srgbClr val="FFFFFF"/>
                </a:solidFill>
                <a:latin typeface="Courier New" pitchFamily="34" charset="0"/>
                <a:ea typeface="Courier New" pitchFamily="34" charset="-122"/>
                <a:cs typeface="Courier New" pitchFamily="34" charset="-120"/>
              </a:rPr>
              <a:t>Execution</a:t>
            </a:r>
            <a:endParaRPr lang="en-US" sz="1800" dirty="0"/>
          </a:p>
        </p:txBody>
      </p:sp>
      <p:sp>
        <p:nvSpPr>
          <p:cNvPr id="30" name="Text 28"/>
          <p:cNvSpPr/>
          <p:nvPr/>
        </p:nvSpPr>
        <p:spPr>
          <a:xfrm>
            <a:off x="14070285" y="4116586"/>
            <a:ext cx="2676342" cy="6381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125" dirty="0">
                <a:solidFill>
                  <a:srgbClr val="CFCFCF"/>
                </a:solidFill>
                <a:latin typeface="Courier New" pitchFamily="34" charset="0"/>
                <a:ea typeface="Courier New" pitchFamily="34" charset="-122"/>
                <a:cs typeface="Courier New" pitchFamily="34" charset="-120"/>
              </a:rPr>
              <a:t>And only now does anything touch a device. Push. Verify. Roll back if drift.</a:t>
            </a:r>
            <a:endParaRPr lang="en-US" sz="1125" dirty="0"/>
          </a:p>
        </p:txBody>
      </p:sp>
      <p:sp>
        <p:nvSpPr>
          <p:cNvPr id="32" name="Shape 30"/>
          <p:cNvSpPr/>
          <p:nvPr/>
        </p:nvSpPr>
        <p:spPr>
          <a:xfrm>
            <a:off x="1438275" y="5776838"/>
            <a:ext cx="7610475" cy="952500"/>
          </a:xfrm>
          <a:prstGeom prst="rect">
            <a:avLst/>
          </a:prstGeom>
          <a:ln w="9525">
            <a:solidFill>
              <a:srgbClr val="5AD17C"/>
            </a:solidFill>
            <a:prstDash val="solid"/>
          </a:ln>
        </p:spPr>
        <p:txBody>
          <a:bodyPr/>
          <a:lstStyle/>
          <a:p>
            <a:endParaRPr lang="en-US"/>
          </a:p>
        </p:txBody>
      </p:sp>
      <p:sp>
        <p:nvSpPr>
          <p:cNvPr id="33" name="Text 31"/>
          <p:cNvSpPr/>
          <p:nvPr/>
        </p:nvSpPr>
        <p:spPr>
          <a:xfrm>
            <a:off x="1657350" y="5957813"/>
            <a:ext cx="7400639" cy="628650"/>
          </a:xfrm>
          <a:prstGeom prst="rect">
            <a:avLst/>
          </a:prstGeom>
          <a:noFill/>
          <a:ln/>
        </p:spPr>
        <p:txBody>
          <a:bodyPr wrap="square" lIns="25400" tIns="25400" rIns="25400" bIns="25400" rtlCol="0" anchor="t">
            <a:normAutofit/>
          </a:bodyPr>
          <a:lstStyle/>
          <a:p>
            <a:pPr marL="0" indent="0" algn="l">
              <a:lnSpc>
                <a:spcPct val="155000"/>
              </a:lnSpc>
              <a:buNone/>
            </a:pPr>
            <a:r>
              <a:rPr lang="en-US" sz="1500" dirty="0">
                <a:solidFill>
                  <a:srgbClr val="5AD17C"/>
                </a:solidFill>
                <a:latin typeface="Courier New" pitchFamily="34" charset="0"/>
                <a:ea typeface="Courier New" pitchFamily="34" charset="-122"/>
                <a:cs typeface="Courier New" pitchFamily="34" charset="-120"/>
              </a:rPr>
              <a:t>▣ Two human gates. Both required. Both named.</a:t>
            </a:r>
            <a:endParaRPr lang="en-US" sz="1500" dirty="0"/>
          </a:p>
        </p:txBody>
      </p:sp>
      <p:sp>
        <p:nvSpPr>
          <p:cNvPr id="34" name="Shape 32"/>
          <p:cNvSpPr/>
          <p:nvPr/>
        </p:nvSpPr>
        <p:spPr>
          <a:xfrm>
            <a:off x="9239250" y="5776838"/>
            <a:ext cx="7610475" cy="952500"/>
          </a:xfrm>
          <a:prstGeom prst="rect">
            <a:avLst/>
          </a:prstGeom>
          <a:ln w="9525">
            <a:solidFill>
              <a:srgbClr val="FF6B35"/>
            </a:solidFill>
            <a:prstDash val="solid"/>
          </a:ln>
        </p:spPr>
        <p:txBody>
          <a:bodyPr/>
          <a:lstStyle/>
          <a:p>
            <a:endParaRPr lang="en-US"/>
          </a:p>
        </p:txBody>
      </p:sp>
      <p:sp>
        <p:nvSpPr>
          <p:cNvPr id="35" name="Text 33"/>
          <p:cNvSpPr/>
          <p:nvPr/>
        </p:nvSpPr>
        <p:spPr>
          <a:xfrm>
            <a:off x="9458325" y="5957813"/>
            <a:ext cx="7400639" cy="628650"/>
          </a:xfrm>
          <a:prstGeom prst="rect">
            <a:avLst/>
          </a:prstGeom>
          <a:noFill/>
          <a:ln/>
        </p:spPr>
        <p:txBody>
          <a:bodyPr wrap="square" lIns="25400" tIns="25400" rIns="25400" bIns="25400" rtlCol="0" anchor="t">
            <a:normAutofit/>
          </a:bodyPr>
          <a:lstStyle/>
          <a:p>
            <a:pPr marL="0" indent="0" algn="l">
              <a:lnSpc>
                <a:spcPct val="155000"/>
              </a:lnSpc>
              <a:buNone/>
            </a:pPr>
            <a:r>
              <a:rPr lang="en-US" sz="1500" dirty="0">
                <a:solidFill>
                  <a:srgbClr val="FF6B35"/>
                </a:solidFill>
                <a:latin typeface="Courier New" pitchFamily="34" charset="0"/>
                <a:ea typeface="Courier New" pitchFamily="34" charset="-122"/>
                <a:cs typeface="Courier New" pitchFamily="34" charset="-120"/>
              </a:rPr>
              <a:t>▲ Execution is the last 10% of the pipeline and 90% of the risk.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STEP 04 — evolution &amp; feedback</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7" name="Text 5"/>
          <p:cNvSpPr/>
          <p:nvPr/>
        </p:nvSpPr>
        <p:spPr>
          <a:xfrm>
            <a:off x="1438275" y="3362360"/>
            <a:ext cx="7608472" cy="1175570"/>
          </a:xfrm>
          <a:prstGeom prst="rect">
            <a:avLst/>
          </a:prstGeom>
          <a:noFill/>
          <a:ln/>
        </p:spPr>
        <p:txBody>
          <a:bodyPr wrap="square" lIns="25400" tIns="25400" rIns="25400" bIns="25400" rtlCol="0" anchor="t">
            <a:normAutofit/>
          </a:bodyPr>
          <a:lstStyle/>
          <a:p>
            <a:pPr marL="0" indent="0" algn="l">
              <a:lnSpc>
                <a:spcPct val="135000"/>
              </a:lnSpc>
              <a:buNone/>
            </a:pPr>
            <a:r>
              <a:rPr lang="en-US" sz="2850" dirty="0">
                <a:solidFill>
                  <a:srgbClr val="FFFFFF"/>
                </a:solidFill>
                <a:latin typeface="Courier New" pitchFamily="34" charset="0"/>
                <a:ea typeface="Courier New" pitchFamily="34" charset="-122"/>
                <a:cs typeface="Courier New" pitchFamily="34" charset="-120"/>
              </a:rPr>
              <a:t>…you layer on the </a:t>
            </a:r>
            <a:r>
              <a:rPr lang="en-US" sz="2850" dirty="0">
                <a:solidFill>
                  <a:srgbClr val="FFFF00"/>
                </a:solidFill>
                <a:latin typeface="Courier New" pitchFamily="34" charset="0"/>
                <a:ea typeface="Courier New" pitchFamily="34" charset="-122"/>
                <a:cs typeface="Courier New" pitchFamily="34" charset="-120"/>
              </a:rPr>
              <a:t>feedback loop </a:t>
            </a:r>
            <a:endParaRPr lang="en-US" sz="2850" dirty="0"/>
          </a:p>
        </p:txBody>
      </p:sp>
      <p:sp>
        <p:nvSpPr>
          <p:cNvPr id="8" name="Text 6"/>
          <p:cNvSpPr/>
          <p:nvPr/>
        </p:nvSpPr>
        <p:spPr>
          <a:xfrm>
            <a:off x="1362075" y="4567610"/>
            <a:ext cx="7437025" cy="804862"/>
          </a:xfrm>
          <a:prstGeom prst="rect">
            <a:avLst/>
          </a:prstGeom>
          <a:noFill/>
          <a:ln/>
        </p:spPr>
        <p:txBody>
          <a:bodyPr wrap="square" lIns="25400" tIns="25400" rIns="25400" bIns="25400" rtlCol="0" anchor="t">
            <a:normAutofit/>
          </a:bodyPr>
          <a:lstStyle/>
          <a:p>
            <a:pPr marL="0" indent="0" algn="l">
              <a:lnSpc>
                <a:spcPct val="150000"/>
              </a:lnSpc>
              <a:buNone/>
            </a:pPr>
            <a:r>
              <a:rPr lang="en-US" sz="2400" b="1" dirty="0">
                <a:solidFill>
                  <a:srgbClr val="FFFF00"/>
                </a:solidFill>
                <a:latin typeface="Courier New" pitchFamily="34" charset="0"/>
                <a:ea typeface="Courier New" pitchFamily="34" charset="-122"/>
                <a:cs typeface="Courier New" pitchFamily="34" charset="-120"/>
              </a:rPr>
              <a:t>Human expert </a:t>
            </a:r>
            <a:r>
              <a:rPr lang="en-US" sz="2400" dirty="0">
                <a:solidFill>
                  <a:srgbClr val="FFFFFF"/>
                </a:solidFill>
                <a:latin typeface="Courier New" pitchFamily="34" charset="0"/>
                <a:ea typeface="Courier New" pitchFamily="34" charset="-122"/>
                <a:cs typeface="Courier New" pitchFamily="34" charset="-120"/>
              </a:rPr>
              <a:t>reviews the misses. </a:t>
            </a:r>
            <a:endParaRPr lang="en-US" sz="2400" dirty="0"/>
          </a:p>
        </p:txBody>
      </p:sp>
      <p:sp>
        <p:nvSpPr>
          <p:cNvPr id="9" name="Text 7"/>
          <p:cNvSpPr/>
          <p:nvPr/>
        </p:nvSpPr>
        <p:spPr>
          <a:xfrm>
            <a:off x="8453340" y="5414612"/>
            <a:ext cx="7437025" cy="1176338"/>
          </a:xfrm>
          <a:prstGeom prst="rect">
            <a:avLst/>
          </a:prstGeom>
          <a:noFill/>
          <a:ln/>
        </p:spPr>
        <p:txBody>
          <a:bodyPr wrap="square" lIns="25400" tIns="25400" rIns="25400" bIns="25400" rtlCol="0" anchor="t">
            <a:normAutofit/>
          </a:bodyPr>
          <a:lstStyle/>
          <a:p>
            <a:pPr marL="0" indent="0" algn="l">
              <a:lnSpc>
                <a:spcPct val="150000"/>
              </a:lnSpc>
              <a:buNone/>
            </a:pPr>
            <a:r>
              <a:rPr lang="en-US" sz="2400" b="1" dirty="0">
                <a:solidFill>
                  <a:srgbClr val="FFFF00"/>
                </a:solidFill>
                <a:latin typeface="Courier New" pitchFamily="34" charset="0"/>
                <a:ea typeface="Courier New" pitchFamily="34" charset="-122"/>
                <a:cs typeface="Courier New" pitchFamily="34" charset="-120"/>
              </a:rPr>
              <a:t>Code &amp; system validation </a:t>
            </a:r>
            <a:r>
              <a:rPr lang="en-US" sz="2400" dirty="0">
                <a:solidFill>
                  <a:srgbClr val="FFFFFF"/>
                </a:solidFill>
                <a:latin typeface="Courier New" pitchFamily="34" charset="0"/>
                <a:ea typeface="Courier New" pitchFamily="34" charset="-122"/>
                <a:cs typeface="Courier New" pitchFamily="34" charset="-120"/>
              </a:rPr>
              <a:t>test cases, digital twin, etc..</a:t>
            </a:r>
            <a:endParaRPr lang="en-US" sz="2400" dirty="0"/>
          </a:p>
        </p:txBody>
      </p:sp>
      <p:sp>
        <p:nvSpPr>
          <p:cNvPr id="10" name="Text 8"/>
          <p:cNvSpPr/>
          <p:nvPr/>
        </p:nvSpPr>
        <p:spPr>
          <a:xfrm>
            <a:off x="1362073" y="7118375"/>
            <a:ext cx="7437025" cy="1176338"/>
          </a:xfrm>
          <a:prstGeom prst="rect">
            <a:avLst/>
          </a:prstGeom>
          <a:noFill/>
          <a:ln/>
        </p:spPr>
        <p:txBody>
          <a:bodyPr wrap="square" lIns="25400" tIns="25400" rIns="25400" bIns="25400" rtlCol="0" anchor="t">
            <a:normAutofit/>
          </a:bodyPr>
          <a:lstStyle/>
          <a:p>
            <a:pPr>
              <a:lnSpc>
                <a:spcPct val="150000"/>
              </a:lnSpc>
            </a:pPr>
            <a:r>
              <a:rPr lang="en-US" sz="2400" b="1" dirty="0">
                <a:solidFill>
                  <a:srgbClr val="FFFF00"/>
                </a:solidFill>
                <a:latin typeface="Courier New" pitchFamily="34" charset="0"/>
                <a:ea typeface="Courier New" pitchFamily="34" charset="-122"/>
                <a:cs typeface="Courier New" pitchFamily="34" charset="-120"/>
              </a:rPr>
              <a:t>AI Evaluation </a:t>
            </a:r>
            <a:r>
              <a:rPr lang="en-US" sz="2400" dirty="0">
                <a:solidFill>
                  <a:srgbClr val="FFFFFF"/>
                </a:solidFill>
                <a:latin typeface="Courier New" pitchFamily="34" charset="0"/>
                <a:ea typeface="Courier New" pitchFamily="34" charset="-122"/>
                <a:cs typeface="Courier New" pitchFamily="34" charset="-120"/>
              </a:rPr>
              <a:t>optimized for speed, cost, or accuracy. </a:t>
            </a:r>
            <a:endParaRPr lang="en-US" sz="2400" dirty="0"/>
          </a:p>
        </p:txBody>
      </p:sp>
      <p:sp>
        <p:nvSpPr>
          <p:cNvPr id="14" name="Text 12"/>
          <p:cNvSpPr/>
          <p:nvPr/>
        </p:nvSpPr>
        <p:spPr>
          <a:xfrm>
            <a:off x="9534525" y="3425130"/>
            <a:ext cx="304800" cy="451470"/>
          </a:xfrm>
          <a:prstGeom prst="rect">
            <a:avLst/>
          </a:prstGeom>
          <a:noFill/>
          <a:ln/>
        </p:spPr>
        <p:txBody>
          <a:bodyPr wrap="square" lIns="25400" tIns="25400" rIns="25400" bIns="25400" rtlCol="0" anchor="t">
            <a:normAutofit fontScale="92500"/>
          </a:bodyPr>
          <a:lstStyle/>
          <a:p>
            <a:pPr marL="0" indent="0" algn="l">
              <a:lnSpc>
                <a:spcPct val="155000"/>
              </a:lnSpc>
              <a:buNone/>
            </a:pPr>
            <a:endParaRPr lang="en-US" sz="2100" dirty="0"/>
          </a:p>
        </p:txBody>
      </p:sp>
      <p:sp>
        <p:nvSpPr>
          <p:cNvPr id="22" name="Text 20"/>
          <p:cNvSpPr/>
          <p:nvPr/>
        </p:nvSpPr>
        <p:spPr>
          <a:xfrm>
            <a:off x="9534525" y="5612011"/>
            <a:ext cx="304800" cy="451470"/>
          </a:xfrm>
          <a:prstGeom prst="rect">
            <a:avLst/>
          </a:prstGeom>
          <a:noFill/>
          <a:ln/>
        </p:spPr>
        <p:txBody>
          <a:bodyPr wrap="square" lIns="25400" tIns="25400" rIns="25400" bIns="25400" rtlCol="0" anchor="t">
            <a:normAutofit fontScale="92500"/>
          </a:bodyPr>
          <a:lstStyle/>
          <a:p>
            <a:pPr marL="0" indent="0" algn="l">
              <a:lnSpc>
                <a:spcPct val="155000"/>
              </a:lnSpc>
              <a:buNone/>
            </a:pPr>
            <a:endParaRPr lang="en-US" sz="2100" dirty="0"/>
          </a:p>
        </p:txBody>
      </p:sp>
      <p:sp>
        <p:nvSpPr>
          <p:cNvPr id="24" name="Shape 22"/>
          <p:cNvSpPr/>
          <p:nvPr/>
        </p:nvSpPr>
        <p:spPr>
          <a:xfrm>
            <a:off x="9296400" y="9160966"/>
            <a:ext cx="7553325" cy="933450"/>
          </a:xfrm>
          <a:prstGeom prst="rect">
            <a:avLst/>
          </a:prstGeom>
          <a:ln w="9525">
            <a:solidFill>
              <a:srgbClr val="2A2A2A"/>
            </a:solidFill>
            <a:prstDash val="dash"/>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4" name="Text 2"/>
          <p:cNvSpPr/>
          <p:nvPr/>
        </p:nvSpPr>
        <p:spPr>
          <a:xfrm>
            <a:off x="1047750" y="838200"/>
            <a:ext cx="16678275" cy="342900"/>
          </a:xfrm>
          <a:prstGeom prst="rect">
            <a:avLst/>
          </a:prstGeom>
          <a:noFill/>
          <a:ln/>
        </p:spPr>
        <p:txBody>
          <a:bodyPr wrap="square" lIns="25400" tIns="25400" rIns="25400" bIns="25400" rtlCol="0" anchor="t">
            <a:normAutofit fontScale="92500"/>
          </a:bodyPr>
          <a:lstStyle/>
          <a:p>
            <a:pPr marL="0" indent="0" algn="l">
              <a:buNone/>
            </a:pPr>
            <a:r>
              <a:rPr lang="en-US" sz="2100" kern="0" spc="420" dirty="0">
                <a:solidFill>
                  <a:srgbClr val="FFFF00"/>
                </a:solidFill>
                <a:latin typeface="Courier New" pitchFamily="34" charset="0"/>
                <a:ea typeface="Courier New" pitchFamily="34" charset="-122"/>
                <a:cs typeface="Courier New" pitchFamily="34" charset="-120"/>
              </a:rPr>
              <a:t>›› §4 / SUMMARY</a:t>
            </a:r>
            <a:endParaRPr lang="en-US" sz="2100" dirty="0"/>
          </a:p>
        </p:txBody>
      </p:sp>
      <p:sp>
        <p:nvSpPr>
          <p:cNvPr id="5" name="Text 3"/>
          <p:cNvSpPr/>
          <p:nvPr/>
        </p:nvSpPr>
        <p:spPr>
          <a:xfrm>
            <a:off x="1047750" y="1447800"/>
            <a:ext cx="14716125" cy="2705100"/>
          </a:xfrm>
          <a:prstGeom prst="rect">
            <a:avLst/>
          </a:prstGeom>
          <a:noFill/>
          <a:ln/>
        </p:spPr>
        <p:txBody>
          <a:bodyPr wrap="square" lIns="25400" tIns="25400" rIns="25400" bIns="25400" rtlCol="0" anchor="t">
            <a:normAutofit fontScale="77500" lnSpcReduction="20000"/>
          </a:bodyPr>
          <a:lstStyle/>
          <a:p>
            <a:pPr marL="0" indent="0" algn="l">
              <a:lnSpc>
                <a:spcPct val="100000"/>
              </a:lnSpc>
              <a:buNone/>
            </a:pPr>
            <a:r>
              <a:rPr lang="en-US" sz="10500" b="1" kern="0" spc="-315" dirty="0">
                <a:solidFill>
                  <a:srgbClr val="FFFFFF"/>
                </a:solidFill>
                <a:latin typeface="Courier New" pitchFamily="34" charset="0"/>
                <a:ea typeface="Courier New" pitchFamily="34" charset="-122"/>
                <a:cs typeface="Courier New" pitchFamily="34" charset="-120"/>
              </a:rPr>
              <a:t>3-Step Decision Framework. </a:t>
            </a:r>
            <a:r>
              <a:rPr lang="en-US" sz="10500" b="1" kern="0" spc="-315" dirty="0">
                <a:solidFill>
                  <a:srgbClr val="FFFF00"/>
                </a:solidFill>
                <a:latin typeface="Courier New" pitchFamily="34" charset="0"/>
                <a:ea typeface="Courier New" pitchFamily="34" charset="-122"/>
                <a:cs typeface="Courier New" pitchFamily="34" charset="-120"/>
              </a:rPr>
              <a:t>And 2 Rules.</a:t>
            </a:r>
            <a:endParaRPr lang="en-US" sz="10500" dirty="0"/>
          </a:p>
        </p:txBody>
      </p:sp>
      <p:sp>
        <p:nvSpPr>
          <p:cNvPr id="6" name="Shape 4"/>
          <p:cNvSpPr/>
          <p:nvPr/>
        </p:nvSpPr>
        <p:spPr>
          <a:xfrm>
            <a:off x="1047750" y="4495800"/>
            <a:ext cx="10477500" cy="9525"/>
          </a:xfrm>
          <a:prstGeom prst="rect">
            <a:avLst/>
          </a:prstGeom>
          <a:solidFill>
            <a:srgbClr val="FFFF00"/>
          </a:solidFill>
          <a:ln/>
        </p:spPr>
        <p:txBody>
          <a:bodyPr/>
          <a:lstStyle/>
          <a:p>
            <a:endParaRPr lang="en-US"/>
          </a:p>
        </p:txBody>
      </p:sp>
      <p:sp>
        <p:nvSpPr>
          <p:cNvPr id="7" name="Text 5"/>
          <p:cNvSpPr/>
          <p:nvPr/>
        </p:nvSpPr>
        <p:spPr>
          <a:xfrm>
            <a:off x="1047750" y="4733924"/>
            <a:ext cx="15649194" cy="2260853"/>
          </a:xfrm>
          <a:prstGeom prst="rect">
            <a:avLst/>
          </a:prstGeom>
          <a:noFill/>
          <a:ln/>
        </p:spPr>
        <p:txBody>
          <a:bodyPr wrap="square" lIns="25400" tIns="25400" rIns="25400" bIns="25400" rtlCol="0" anchor="t">
            <a:noAutofit/>
          </a:bodyPr>
          <a:lstStyle/>
          <a:p>
            <a:pPr marL="0" indent="0" algn="l">
              <a:lnSpc>
                <a:spcPct val="150000"/>
              </a:lnSpc>
              <a:buNone/>
            </a:pPr>
            <a:r>
              <a:rPr lang="en-US" sz="2800" dirty="0">
                <a:solidFill>
                  <a:srgbClr val="FFFF00"/>
                </a:solidFill>
                <a:latin typeface="Courier New" pitchFamily="34" charset="0"/>
                <a:ea typeface="Courier New" pitchFamily="34" charset="-122"/>
                <a:cs typeface="Courier New" pitchFamily="34" charset="-120"/>
              </a:rPr>
              <a:t>A 3-step decision framework, and the two rule to live by.</a:t>
            </a:r>
            <a:endParaRPr lang="en-US"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./decide --in-three-questions</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7553325" cy="3349823"/>
          </a:xfrm>
          <a:prstGeom prst="rect">
            <a:avLst/>
          </a:prstGeom>
          <a:ln w="9525">
            <a:solidFill>
              <a:srgbClr val="FFFF00"/>
            </a:solidFill>
            <a:prstDash val="solid"/>
          </a:ln>
        </p:spPr>
        <p:txBody>
          <a:bodyPr/>
          <a:lstStyle/>
          <a:p>
            <a:endParaRPr lang="en-US"/>
          </a:p>
        </p:txBody>
      </p:sp>
      <p:sp>
        <p:nvSpPr>
          <p:cNvPr id="7" name="Text 5"/>
          <p:cNvSpPr/>
          <p:nvPr/>
        </p:nvSpPr>
        <p:spPr>
          <a:xfrm>
            <a:off x="1752600" y="2842245"/>
            <a:ext cx="7132415"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Q1</a:t>
            </a:r>
            <a:endParaRPr lang="en-US" sz="1650" dirty="0"/>
          </a:p>
        </p:txBody>
      </p:sp>
      <p:sp>
        <p:nvSpPr>
          <p:cNvPr id="8" name="Text 6"/>
          <p:cNvSpPr/>
          <p:nvPr/>
        </p:nvSpPr>
        <p:spPr>
          <a:xfrm>
            <a:off x="1752600" y="3338438"/>
            <a:ext cx="7132415" cy="815280"/>
          </a:xfrm>
          <a:prstGeom prst="rect">
            <a:avLst/>
          </a:prstGeom>
          <a:noFill/>
          <a:ln/>
        </p:spPr>
        <p:txBody>
          <a:bodyPr wrap="square" lIns="25400" tIns="25400" rIns="25400" bIns="25400" rtlCol="0" anchor="t">
            <a:normAutofit/>
          </a:bodyPr>
          <a:lstStyle/>
          <a:p>
            <a:pPr marL="0" indent="0" algn="l">
              <a:lnSpc>
                <a:spcPct val="120000"/>
              </a:lnSpc>
              <a:buNone/>
            </a:pPr>
            <a:r>
              <a:rPr lang="en-US" sz="2800" b="1" dirty="0">
                <a:solidFill>
                  <a:srgbClr val="FFFFFF"/>
                </a:solidFill>
                <a:latin typeface="Courier New" pitchFamily="34" charset="0"/>
                <a:ea typeface="Courier New" pitchFamily="34" charset="-122"/>
                <a:cs typeface="Courier New" pitchFamily="34" charset="-120"/>
              </a:rPr>
              <a:t>Where does the data have to live?</a:t>
            </a:r>
            <a:endParaRPr lang="en-US" sz="2800" dirty="0"/>
          </a:p>
        </p:txBody>
      </p:sp>
      <p:sp>
        <p:nvSpPr>
          <p:cNvPr id="9" name="Text 7"/>
          <p:cNvSpPr/>
          <p:nvPr/>
        </p:nvSpPr>
        <p:spPr>
          <a:xfrm>
            <a:off x="1752600" y="4287069"/>
            <a:ext cx="7132415" cy="13144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650" dirty="0">
                <a:solidFill>
                  <a:srgbClr val="CFCFCF"/>
                </a:solidFill>
                <a:latin typeface="Courier New" pitchFamily="34" charset="0"/>
                <a:ea typeface="Courier New" pitchFamily="34" charset="-122"/>
                <a:cs typeface="Courier New" pitchFamily="34" charset="-120"/>
              </a:rPr>
              <a:t>Picks </a:t>
            </a:r>
            <a:r>
              <a:rPr lang="en-US" sz="1650" b="1" dirty="0">
                <a:solidFill>
                  <a:srgbClr val="FFFF00"/>
                </a:solidFill>
                <a:latin typeface="Courier New" pitchFamily="34" charset="0"/>
                <a:ea typeface="Courier New" pitchFamily="34" charset="-122"/>
                <a:cs typeface="Courier New" pitchFamily="34" charset="-120"/>
              </a:rPr>
              <a:t>hosted</a:t>
            </a:r>
            <a:r>
              <a:rPr lang="en-US" sz="1650" dirty="0">
                <a:solidFill>
                  <a:srgbClr val="CFCFCF"/>
                </a:solidFill>
                <a:latin typeface="Courier New" pitchFamily="34" charset="0"/>
                <a:ea typeface="Courier New" pitchFamily="34" charset="-122"/>
                <a:cs typeface="Courier New" pitchFamily="34" charset="-120"/>
              </a:rPr>
              <a:t>, </a:t>
            </a:r>
            <a:r>
              <a:rPr lang="en-US" sz="1650" b="1" dirty="0">
                <a:solidFill>
                  <a:srgbClr val="FFFF00"/>
                </a:solidFill>
                <a:latin typeface="Courier New" pitchFamily="34" charset="0"/>
                <a:ea typeface="Courier New" pitchFamily="34" charset="-122"/>
                <a:cs typeface="Courier New" pitchFamily="34" charset="-120"/>
              </a:rPr>
              <a:t>local</a:t>
            </a:r>
            <a:r>
              <a:rPr lang="en-US" sz="1650" dirty="0">
                <a:solidFill>
                  <a:srgbClr val="CFCFCF"/>
                </a:solidFill>
                <a:latin typeface="Courier New" pitchFamily="34" charset="0"/>
                <a:ea typeface="Courier New" pitchFamily="34" charset="-122"/>
                <a:cs typeface="Courier New" pitchFamily="34" charset="-120"/>
              </a:rPr>
              <a:t>, or </a:t>
            </a:r>
            <a:r>
              <a:rPr lang="en-US" sz="1650" b="1" dirty="0">
                <a:solidFill>
                  <a:srgbClr val="FFFF00"/>
                </a:solidFill>
                <a:latin typeface="Courier New" pitchFamily="34" charset="0"/>
                <a:ea typeface="Courier New" pitchFamily="34" charset="-122"/>
                <a:cs typeface="Courier New" pitchFamily="34" charset="-120"/>
              </a:rPr>
              <a:t>hybrid </a:t>
            </a:r>
            <a:r>
              <a:rPr lang="en-US" sz="1650" dirty="0">
                <a:solidFill>
                  <a:srgbClr val="CFCFCF"/>
                </a:solidFill>
                <a:latin typeface="Courier New" pitchFamily="34" charset="0"/>
                <a:ea typeface="Courier New" pitchFamily="34" charset="-122"/>
                <a:cs typeface="Courier New" pitchFamily="34" charset="-120"/>
              </a:rPr>
              <a:t>. If your security team has an opinion, this is already answered. Be honest about regulation and sovereignty before you negotiate with yourself about cost.</a:t>
            </a:r>
            <a:endParaRPr lang="en-US" sz="1650" dirty="0"/>
          </a:p>
        </p:txBody>
      </p:sp>
      <p:sp>
        <p:nvSpPr>
          <p:cNvPr id="10" name="Shape 8"/>
          <p:cNvSpPr/>
          <p:nvPr/>
        </p:nvSpPr>
        <p:spPr>
          <a:xfrm>
            <a:off x="9296400" y="2527920"/>
            <a:ext cx="7553325" cy="3349823"/>
          </a:xfrm>
          <a:prstGeom prst="rect">
            <a:avLst/>
          </a:prstGeom>
          <a:ln w="9525">
            <a:solidFill>
              <a:srgbClr val="FFFF00"/>
            </a:solidFill>
            <a:prstDash val="solid"/>
          </a:ln>
        </p:spPr>
        <p:txBody>
          <a:bodyPr/>
          <a:lstStyle/>
          <a:p>
            <a:endParaRPr lang="en-US"/>
          </a:p>
        </p:txBody>
      </p:sp>
      <p:sp>
        <p:nvSpPr>
          <p:cNvPr id="11" name="Text 9"/>
          <p:cNvSpPr/>
          <p:nvPr/>
        </p:nvSpPr>
        <p:spPr>
          <a:xfrm>
            <a:off x="9610725" y="2842245"/>
            <a:ext cx="7132415"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Q2</a:t>
            </a:r>
            <a:endParaRPr lang="en-US" sz="1650" dirty="0"/>
          </a:p>
        </p:txBody>
      </p:sp>
      <p:sp>
        <p:nvSpPr>
          <p:cNvPr id="12" name="Text 10"/>
          <p:cNvSpPr/>
          <p:nvPr/>
        </p:nvSpPr>
        <p:spPr>
          <a:xfrm>
            <a:off x="9610725" y="3338438"/>
            <a:ext cx="7132415" cy="815280"/>
          </a:xfrm>
          <a:prstGeom prst="rect">
            <a:avLst/>
          </a:prstGeom>
          <a:noFill/>
          <a:ln/>
        </p:spPr>
        <p:txBody>
          <a:bodyPr wrap="square" lIns="25400" tIns="25400" rIns="25400" bIns="25400" rtlCol="0" anchor="t">
            <a:normAutofit fontScale="85000" lnSpcReduction="20000"/>
          </a:bodyPr>
          <a:lstStyle/>
          <a:p>
            <a:pPr marL="0" indent="0" algn="l">
              <a:lnSpc>
                <a:spcPct val="120000"/>
              </a:lnSpc>
              <a:buNone/>
            </a:pPr>
            <a:r>
              <a:rPr lang="en-US" sz="2800" b="1" dirty="0">
                <a:solidFill>
                  <a:srgbClr val="FFFFFF"/>
                </a:solidFill>
                <a:latin typeface="Courier New" pitchFamily="34" charset="0"/>
                <a:ea typeface="Courier New" pitchFamily="34" charset="-122"/>
                <a:cs typeface="Courier New" pitchFamily="34" charset="-120"/>
              </a:rPr>
              <a:t>How complex is the task? Is it a complicated or complex problem?</a:t>
            </a:r>
            <a:endParaRPr lang="en-US" sz="2800" dirty="0"/>
          </a:p>
        </p:txBody>
      </p:sp>
      <p:sp>
        <p:nvSpPr>
          <p:cNvPr id="13" name="Text 11"/>
          <p:cNvSpPr/>
          <p:nvPr/>
        </p:nvSpPr>
        <p:spPr>
          <a:xfrm>
            <a:off x="9610725" y="4287069"/>
            <a:ext cx="7132415" cy="1314450"/>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Picks </a:t>
            </a:r>
            <a:r>
              <a:rPr lang="en-US" sz="2000" b="1" dirty="0">
                <a:solidFill>
                  <a:srgbClr val="FFFF00"/>
                </a:solidFill>
                <a:latin typeface="Courier New" pitchFamily="34" charset="0"/>
                <a:ea typeface="Courier New" pitchFamily="34" charset="-122"/>
                <a:cs typeface="Courier New" pitchFamily="34" charset="-120"/>
              </a:rPr>
              <a:t>zero-shot</a:t>
            </a:r>
            <a:r>
              <a:rPr lang="en-US" sz="2000" dirty="0">
                <a:solidFill>
                  <a:srgbClr val="CFCFCF"/>
                </a:solidFill>
                <a:latin typeface="Courier New" pitchFamily="34" charset="0"/>
                <a:ea typeface="Courier New" pitchFamily="34" charset="-122"/>
                <a:cs typeface="Courier New" pitchFamily="34" charset="-120"/>
              </a:rPr>
              <a:t>, </a:t>
            </a:r>
            <a:r>
              <a:rPr lang="en-US" sz="2000" b="1" dirty="0">
                <a:solidFill>
                  <a:srgbClr val="FFFF00"/>
                </a:solidFill>
                <a:latin typeface="Courier New" pitchFamily="34" charset="0"/>
                <a:ea typeface="Courier New" pitchFamily="34" charset="-122"/>
                <a:cs typeface="Courier New" pitchFamily="34" charset="-120"/>
              </a:rPr>
              <a:t>few-shot</a:t>
            </a:r>
            <a:r>
              <a:rPr lang="en-US" sz="2000" dirty="0">
                <a:solidFill>
                  <a:srgbClr val="CFCFCF"/>
                </a:solidFill>
                <a:latin typeface="Courier New" pitchFamily="34" charset="0"/>
                <a:ea typeface="Courier New" pitchFamily="34" charset="-122"/>
                <a:cs typeface="Courier New" pitchFamily="34" charset="-120"/>
              </a:rPr>
              <a:t>, or </a:t>
            </a:r>
            <a:r>
              <a:rPr lang="en-US" sz="2000" b="1" dirty="0">
                <a:solidFill>
                  <a:srgbClr val="FFFF00"/>
                </a:solidFill>
                <a:latin typeface="Courier New" pitchFamily="34" charset="0"/>
                <a:ea typeface="Courier New" pitchFamily="34" charset="-122"/>
                <a:cs typeface="Courier New" pitchFamily="34" charset="-120"/>
              </a:rPr>
              <a:t>RAG </a:t>
            </a:r>
            <a:r>
              <a:rPr lang="en-US" sz="2000" dirty="0">
                <a:solidFill>
                  <a:srgbClr val="CFCFCF"/>
                </a:solidFill>
                <a:latin typeface="Courier New" pitchFamily="34" charset="0"/>
                <a:ea typeface="Courier New" pitchFamily="34" charset="-122"/>
                <a:cs typeface="Courier New" pitchFamily="34" charset="-120"/>
              </a:rPr>
              <a:t>. Default to the simplest one that works. </a:t>
            </a:r>
          </a:p>
          <a:p>
            <a:pPr>
              <a:lnSpc>
                <a:spcPct val="150000"/>
              </a:lnSpc>
            </a:pPr>
            <a:r>
              <a:rPr lang="en-US" sz="2000" b="1" dirty="0">
                <a:solidFill>
                  <a:srgbClr val="FFFF00"/>
                </a:solidFill>
                <a:latin typeface="Courier New" pitchFamily="34" charset="0"/>
                <a:cs typeface="Courier New" pitchFamily="34" charset="-120"/>
              </a:rPr>
              <a:t>Trust</a:t>
            </a:r>
            <a:r>
              <a:rPr lang="en-US" sz="2000" dirty="0">
                <a:solidFill>
                  <a:srgbClr val="CFCFCF"/>
                </a:solidFill>
                <a:latin typeface="Courier New" pitchFamily="34" charset="0"/>
                <a:cs typeface="Courier New" pitchFamily="34" charset="-120"/>
              </a:rPr>
              <a:t>, </a:t>
            </a:r>
            <a:r>
              <a:rPr lang="en-US" sz="2000" b="1" dirty="0">
                <a:solidFill>
                  <a:srgbClr val="FFFF00"/>
                </a:solidFill>
                <a:latin typeface="Courier New" pitchFamily="34" charset="0"/>
                <a:cs typeface="Courier New" pitchFamily="34" charset="-120"/>
              </a:rPr>
              <a:t>Engineering</a:t>
            </a:r>
            <a:r>
              <a:rPr lang="en-US" sz="2000" dirty="0">
                <a:solidFill>
                  <a:srgbClr val="CFCFCF"/>
                </a:solidFill>
                <a:latin typeface="Courier New" pitchFamily="34" charset="0"/>
                <a:cs typeface="Courier New" pitchFamily="34" charset="-120"/>
              </a:rPr>
              <a:t>, </a:t>
            </a:r>
            <a:r>
              <a:rPr lang="en-US" sz="2000" b="1" dirty="0">
                <a:solidFill>
                  <a:srgbClr val="FFFF00"/>
                </a:solidFill>
                <a:latin typeface="Courier New" pitchFamily="34" charset="0"/>
                <a:cs typeface="Courier New" pitchFamily="34" charset="-120"/>
              </a:rPr>
              <a:t>Integration</a:t>
            </a:r>
            <a:r>
              <a:rPr lang="en-US" sz="2000" dirty="0">
                <a:solidFill>
                  <a:srgbClr val="CFCFCF"/>
                </a:solidFill>
                <a:latin typeface="Courier New" pitchFamily="34" charset="0"/>
                <a:cs typeface="Courier New" pitchFamily="34" charset="-120"/>
              </a:rPr>
              <a:t>, </a:t>
            </a:r>
            <a:r>
              <a:rPr lang="en-US" sz="2000" b="1" dirty="0">
                <a:solidFill>
                  <a:srgbClr val="FFFF00"/>
                </a:solidFill>
                <a:latin typeface="Courier New" pitchFamily="34" charset="0"/>
                <a:cs typeface="Courier New" pitchFamily="34" charset="-120"/>
              </a:rPr>
              <a:t>Evolution</a:t>
            </a:r>
            <a:endParaRPr lang="en-US" sz="2000" b="1" dirty="0">
              <a:solidFill>
                <a:srgbClr val="FFC000"/>
              </a:solidFill>
            </a:endParaRPr>
          </a:p>
        </p:txBody>
      </p:sp>
      <p:sp>
        <p:nvSpPr>
          <p:cNvPr id="14" name="Shape 12"/>
          <p:cNvSpPr/>
          <p:nvPr/>
        </p:nvSpPr>
        <p:spPr>
          <a:xfrm>
            <a:off x="1438275" y="6182544"/>
            <a:ext cx="15411450" cy="3056706"/>
          </a:xfrm>
          <a:prstGeom prst="rect">
            <a:avLst/>
          </a:prstGeom>
          <a:ln w="9525">
            <a:solidFill>
              <a:srgbClr val="FFFF00"/>
            </a:solidFill>
            <a:prstDash val="solid"/>
          </a:ln>
        </p:spPr>
        <p:txBody>
          <a:bodyPr/>
          <a:lstStyle/>
          <a:p>
            <a:endParaRPr lang="en-US"/>
          </a:p>
        </p:txBody>
      </p:sp>
      <p:sp>
        <p:nvSpPr>
          <p:cNvPr id="15" name="Text 13"/>
          <p:cNvSpPr/>
          <p:nvPr/>
        </p:nvSpPr>
        <p:spPr>
          <a:xfrm>
            <a:off x="1752600" y="6496869"/>
            <a:ext cx="15226284" cy="362843"/>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650" kern="0" spc="330" dirty="0">
                <a:solidFill>
                  <a:srgbClr val="FFFF00"/>
                </a:solidFill>
                <a:latin typeface="Courier New" pitchFamily="34" charset="0"/>
                <a:ea typeface="Courier New" pitchFamily="34" charset="-122"/>
                <a:cs typeface="Courier New" pitchFamily="34" charset="-120"/>
              </a:rPr>
              <a:t>Q3</a:t>
            </a:r>
            <a:endParaRPr lang="en-US" sz="1650" dirty="0"/>
          </a:p>
        </p:txBody>
      </p:sp>
      <p:sp>
        <p:nvSpPr>
          <p:cNvPr id="16" name="Text 14"/>
          <p:cNvSpPr/>
          <p:nvPr/>
        </p:nvSpPr>
        <p:spPr>
          <a:xfrm>
            <a:off x="1752600" y="6993062"/>
            <a:ext cx="15226284" cy="426690"/>
          </a:xfrm>
          <a:prstGeom prst="rect">
            <a:avLst/>
          </a:prstGeom>
          <a:noFill/>
          <a:ln/>
        </p:spPr>
        <p:txBody>
          <a:bodyPr wrap="square" lIns="25400" tIns="25400" rIns="25400" bIns="25400" rtlCol="0" anchor="t">
            <a:noAutofit/>
          </a:bodyPr>
          <a:lstStyle/>
          <a:p>
            <a:pPr marL="0" indent="0" algn="l">
              <a:lnSpc>
                <a:spcPct val="120000"/>
              </a:lnSpc>
              <a:buNone/>
            </a:pPr>
            <a:r>
              <a:rPr lang="en-US" sz="2800" b="1" dirty="0">
                <a:solidFill>
                  <a:srgbClr val="FFFFFF"/>
                </a:solidFill>
                <a:latin typeface="Courier New" pitchFamily="34" charset="0"/>
                <a:ea typeface="Courier New" pitchFamily="34" charset="-122"/>
                <a:cs typeface="Courier New" pitchFamily="34" charset="-120"/>
              </a:rPr>
              <a:t>What's the blast radius if it's wrong?</a:t>
            </a:r>
            <a:endParaRPr lang="en-US" sz="2800" dirty="0"/>
          </a:p>
        </p:txBody>
      </p:sp>
      <p:sp>
        <p:nvSpPr>
          <p:cNvPr id="17" name="Text 15"/>
          <p:cNvSpPr/>
          <p:nvPr/>
        </p:nvSpPr>
        <p:spPr>
          <a:xfrm>
            <a:off x="1752600" y="7553102"/>
            <a:ext cx="15226284" cy="685800"/>
          </a:xfrm>
          <a:prstGeom prst="rect">
            <a:avLst/>
          </a:prstGeom>
          <a:noFill/>
          <a:ln/>
        </p:spPr>
        <p:txBody>
          <a:bodyPr wrap="square" lIns="25400" tIns="25400" rIns="25400" bIns="25400" rtlCol="0" anchor="t">
            <a:noAutofit/>
          </a:bodyPr>
          <a:lstStyle/>
          <a:p>
            <a:pPr marL="0" indent="0" algn="l">
              <a:lnSpc>
                <a:spcPct val="150000"/>
              </a:lnSpc>
              <a:buNone/>
            </a:pPr>
            <a:r>
              <a:rPr lang="en-US" sz="2000" dirty="0">
                <a:solidFill>
                  <a:srgbClr val="CFCFCF"/>
                </a:solidFill>
                <a:latin typeface="Courier New" pitchFamily="34" charset="0"/>
                <a:ea typeface="Courier New" pitchFamily="34" charset="-122"/>
                <a:cs typeface="Courier New" pitchFamily="34" charset="-120"/>
              </a:rPr>
              <a:t>Picks how many </a:t>
            </a:r>
            <a:r>
              <a:rPr lang="en-US" sz="2000" b="1" dirty="0">
                <a:solidFill>
                  <a:srgbClr val="FFFF00"/>
                </a:solidFill>
                <a:latin typeface="Courier New" pitchFamily="34" charset="0"/>
                <a:ea typeface="Courier New" pitchFamily="34" charset="-122"/>
                <a:cs typeface="Courier New" pitchFamily="34" charset="-120"/>
              </a:rPr>
              <a:t>humans </a:t>
            </a:r>
            <a:r>
              <a:rPr lang="en-US" sz="2000" dirty="0">
                <a:solidFill>
                  <a:srgbClr val="CFCFCF"/>
                </a:solidFill>
                <a:latin typeface="Courier New" pitchFamily="34" charset="0"/>
                <a:ea typeface="Courier New" pitchFamily="34" charset="-122"/>
                <a:cs typeface="Courier New" pitchFamily="34" charset="-120"/>
              </a:rPr>
              <a:t>and how much </a:t>
            </a:r>
            <a:r>
              <a:rPr lang="en-US" sz="2000" b="1" dirty="0">
                <a:solidFill>
                  <a:srgbClr val="FFFF00"/>
                </a:solidFill>
                <a:latin typeface="Courier New" pitchFamily="34" charset="0"/>
                <a:ea typeface="Courier New" pitchFamily="34" charset="-122"/>
                <a:cs typeface="Courier New" pitchFamily="34" charset="-120"/>
              </a:rPr>
              <a:t>system validation and evaluation. </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57200" y="342900"/>
            <a:ext cx="17373600" cy="9601200"/>
          </a:xfrm>
          <a:prstGeom prst="rect">
            <a:avLst/>
          </a:prstGeom>
          <a:ln w="9525">
            <a:solidFill>
              <a:srgbClr val="1A1A1A"/>
            </a:solidFill>
            <a:prstDash val="solid"/>
          </a:ln>
        </p:spPr>
        <p:txBody>
          <a:bodyPr/>
          <a:lstStyle/>
          <a:p>
            <a:endParaRPr lang="en-US"/>
          </a:p>
        </p:txBody>
      </p:sp>
      <p:sp>
        <p:nvSpPr>
          <p:cNvPr id="3" name="Shape 1"/>
          <p:cNvSpPr/>
          <p:nvPr/>
        </p:nvSpPr>
        <p:spPr>
          <a:xfrm>
            <a:off x="1047750" y="762000"/>
            <a:ext cx="16192500" cy="1146795"/>
          </a:xfrm>
          <a:prstGeom prst="rect">
            <a:avLst/>
          </a:prstGeom>
          <a:ln w="9525">
            <a:solidFill>
              <a:srgbClr val="FFFF00"/>
            </a:solidFill>
            <a:prstDash val="solid"/>
          </a:ln>
        </p:spPr>
        <p:txBody>
          <a:bodyPr/>
          <a:lstStyle/>
          <a:p>
            <a:endParaRPr lang="en-US"/>
          </a:p>
        </p:txBody>
      </p:sp>
      <p:sp>
        <p:nvSpPr>
          <p:cNvPr id="4" name="Text 2"/>
          <p:cNvSpPr/>
          <p:nvPr/>
        </p:nvSpPr>
        <p:spPr>
          <a:xfrm>
            <a:off x="1362075" y="1000125"/>
            <a:ext cx="16049625" cy="7086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4800" b="1" kern="0" spc="-48" dirty="0">
                <a:solidFill>
                  <a:srgbClr val="FFFF00"/>
                </a:solidFill>
                <a:latin typeface="Courier New" pitchFamily="34" charset="0"/>
                <a:ea typeface="Courier New" pitchFamily="34" charset="-122"/>
                <a:cs typeface="Courier New" pitchFamily="34" charset="-120"/>
              </a:rPr>
              <a:t>$ cat ~/.rules</a:t>
            </a:r>
            <a:endParaRPr lang="en-US" sz="4800" dirty="0"/>
          </a:p>
        </p:txBody>
      </p:sp>
      <p:sp>
        <p:nvSpPr>
          <p:cNvPr id="5" name="Shape 3"/>
          <p:cNvSpPr/>
          <p:nvPr/>
        </p:nvSpPr>
        <p:spPr>
          <a:xfrm>
            <a:off x="1047750" y="2175495"/>
            <a:ext cx="16192500" cy="7063755"/>
          </a:xfrm>
          <a:prstGeom prst="rect">
            <a:avLst/>
          </a:prstGeom>
          <a:ln w="9525">
            <a:solidFill>
              <a:srgbClr val="2A2A2A"/>
            </a:solidFill>
            <a:prstDash val="solid"/>
          </a:ln>
        </p:spPr>
        <p:txBody>
          <a:bodyPr/>
          <a:lstStyle/>
          <a:p>
            <a:endParaRPr lang="en-US"/>
          </a:p>
        </p:txBody>
      </p:sp>
      <p:sp>
        <p:nvSpPr>
          <p:cNvPr id="6" name="Shape 4"/>
          <p:cNvSpPr/>
          <p:nvPr/>
        </p:nvSpPr>
        <p:spPr>
          <a:xfrm>
            <a:off x="1438275" y="2527920"/>
            <a:ext cx="7534275" cy="5089922"/>
          </a:xfrm>
          <a:prstGeom prst="rect">
            <a:avLst/>
          </a:prstGeom>
          <a:ln w="9525">
            <a:solidFill>
              <a:srgbClr val="FFFF00"/>
            </a:solidFill>
            <a:prstDash val="solid"/>
          </a:ln>
        </p:spPr>
        <p:txBody>
          <a:bodyPr/>
          <a:lstStyle/>
          <a:p>
            <a:endParaRPr lang="en-US"/>
          </a:p>
        </p:txBody>
      </p:sp>
      <p:sp>
        <p:nvSpPr>
          <p:cNvPr id="7" name="Text 5"/>
          <p:cNvSpPr/>
          <p:nvPr/>
        </p:nvSpPr>
        <p:spPr>
          <a:xfrm>
            <a:off x="1828800" y="2918445"/>
            <a:ext cx="6955822" cy="1276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750" b="1" dirty="0">
                <a:solidFill>
                  <a:srgbClr val="FFFF00"/>
                </a:solidFill>
                <a:latin typeface="Courier New" pitchFamily="34" charset="0"/>
                <a:ea typeface="Courier New" pitchFamily="34" charset="-122"/>
                <a:cs typeface="Courier New" pitchFamily="34" charset="-120"/>
              </a:rPr>
              <a:t>01</a:t>
            </a:r>
            <a:endParaRPr lang="en-US" sz="9750" dirty="0"/>
          </a:p>
        </p:txBody>
      </p:sp>
      <p:sp>
        <p:nvSpPr>
          <p:cNvPr id="8" name="Text 6"/>
          <p:cNvSpPr/>
          <p:nvPr/>
        </p:nvSpPr>
        <p:spPr>
          <a:xfrm>
            <a:off x="1828800" y="4347195"/>
            <a:ext cx="6955822" cy="1409700"/>
          </a:xfrm>
          <a:prstGeom prst="rect">
            <a:avLst/>
          </a:prstGeom>
          <a:noFill/>
          <a:ln/>
        </p:spPr>
        <p:txBody>
          <a:bodyPr wrap="square" lIns="25400" tIns="25400" rIns="25400" bIns="25400" rtlCol="0" anchor="t">
            <a:noAutofit/>
          </a:bodyPr>
          <a:lstStyle/>
          <a:p>
            <a:pPr marL="0" indent="0" algn="l">
              <a:lnSpc>
                <a:spcPct val="120000"/>
              </a:lnSpc>
              <a:buNone/>
            </a:pPr>
            <a:r>
              <a:rPr lang="en-US" sz="3200" b="1" dirty="0">
                <a:solidFill>
                  <a:srgbClr val="FFFFFF"/>
                </a:solidFill>
                <a:latin typeface="Courier New" pitchFamily="34" charset="0"/>
                <a:ea typeface="Courier New" pitchFamily="34" charset="-122"/>
                <a:cs typeface="Courier New" pitchFamily="34" charset="-120"/>
              </a:rPr>
              <a:t>No AI-generated anything touches production without a human approval.</a:t>
            </a:r>
            <a:endParaRPr lang="en-US" sz="3200" dirty="0"/>
          </a:p>
        </p:txBody>
      </p:sp>
      <p:sp>
        <p:nvSpPr>
          <p:cNvPr id="9" name="Text 7"/>
          <p:cNvSpPr/>
          <p:nvPr/>
        </p:nvSpPr>
        <p:spPr>
          <a:xfrm>
            <a:off x="1828800" y="5909295"/>
            <a:ext cx="6955822" cy="1356122"/>
          </a:xfrm>
          <a:prstGeom prst="rect">
            <a:avLst/>
          </a:prstGeom>
          <a:noFill/>
          <a:ln/>
        </p:spPr>
        <p:txBody>
          <a:bodyPr wrap="square" lIns="25400" tIns="25400" rIns="25400" bIns="25400" rtlCol="0" anchor="t">
            <a:normAutofit/>
          </a:bodyPr>
          <a:lstStyle/>
          <a:p>
            <a:pPr marL="0" indent="0" algn="l">
              <a:lnSpc>
                <a:spcPct val="155000"/>
              </a:lnSpc>
              <a:buNone/>
            </a:pPr>
            <a:endParaRPr lang="en-US" sz="1650" dirty="0"/>
          </a:p>
        </p:txBody>
      </p:sp>
      <p:sp>
        <p:nvSpPr>
          <p:cNvPr id="10" name="Shape 8"/>
          <p:cNvSpPr/>
          <p:nvPr/>
        </p:nvSpPr>
        <p:spPr>
          <a:xfrm>
            <a:off x="9315450" y="2527920"/>
            <a:ext cx="7534275" cy="5089922"/>
          </a:xfrm>
          <a:prstGeom prst="rect">
            <a:avLst/>
          </a:prstGeom>
          <a:ln w="9525">
            <a:solidFill>
              <a:srgbClr val="FFFF00"/>
            </a:solidFill>
            <a:prstDash val="solid"/>
          </a:ln>
        </p:spPr>
        <p:txBody>
          <a:bodyPr/>
          <a:lstStyle/>
          <a:p>
            <a:endParaRPr lang="en-US"/>
          </a:p>
        </p:txBody>
      </p:sp>
      <p:sp>
        <p:nvSpPr>
          <p:cNvPr id="11" name="Text 9"/>
          <p:cNvSpPr/>
          <p:nvPr/>
        </p:nvSpPr>
        <p:spPr>
          <a:xfrm>
            <a:off x="9705975" y="2918445"/>
            <a:ext cx="6955822" cy="1276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750" b="1" dirty="0">
                <a:solidFill>
                  <a:srgbClr val="FFFF00"/>
                </a:solidFill>
                <a:latin typeface="Courier New" pitchFamily="34" charset="0"/>
                <a:ea typeface="Courier New" pitchFamily="34" charset="-122"/>
                <a:cs typeface="Courier New" pitchFamily="34" charset="-120"/>
              </a:rPr>
              <a:t>02</a:t>
            </a:r>
            <a:endParaRPr lang="en-US" sz="9750" dirty="0"/>
          </a:p>
        </p:txBody>
      </p:sp>
      <p:sp>
        <p:nvSpPr>
          <p:cNvPr id="12" name="Text 10"/>
          <p:cNvSpPr/>
          <p:nvPr/>
        </p:nvSpPr>
        <p:spPr>
          <a:xfrm>
            <a:off x="9705975" y="4347195"/>
            <a:ext cx="6955822" cy="952500"/>
          </a:xfrm>
          <a:prstGeom prst="rect">
            <a:avLst/>
          </a:prstGeom>
          <a:noFill/>
          <a:ln/>
        </p:spPr>
        <p:txBody>
          <a:bodyPr wrap="square" lIns="25400" tIns="25400" rIns="25400" bIns="25400" rtlCol="0" anchor="t">
            <a:normAutofit/>
          </a:bodyPr>
          <a:lstStyle/>
          <a:p>
            <a:pPr marL="0" indent="0" algn="l">
              <a:lnSpc>
                <a:spcPct val="120000"/>
              </a:lnSpc>
              <a:buNone/>
            </a:pPr>
            <a:r>
              <a:rPr lang="en-US" sz="3200" b="1" dirty="0">
                <a:solidFill>
                  <a:srgbClr val="FFFFFF"/>
                </a:solidFill>
                <a:latin typeface="Courier New" pitchFamily="34" charset="0"/>
                <a:ea typeface="Courier New" pitchFamily="34" charset="-122"/>
                <a:cs typeface="Courier New" pitchFamily="34" charset="-120"/>
              </a:rPr>
              <a:t>Start small. Iterate.</a:t>
            </a:r>
            <a:endParaRPr lang="en-US" sz="3200" dirty="0"/>
          </a:p>
        </p:txBody>
      </p:sp>
      <p:sp>
        <p:nvSpPr>
          <p:cNvPr id="13" name="Text 11"/>
          <p:cNvSpPr/>
          <p:nvPr/>
        </p:nvSpPr>
        <p:spPr>
          <a:xfrm>
            <a:off x="9705975" y="5452095"/>
            <a:ext cx="6955822" cy="1356122"/>
          </a:xfrm>
          <a:prstGeom prst="rect">
            <a:avLst/>
          </a:prstGeom>
          <a:noFill/>
          <a:ln/>
        </p:spPr>
        <p:txBody>
          <a:bodyPr wrap="square" lIns="25400" tIns="25400" rIns="25400" bIns="25400" rtlCol="0" anchor="t">
            <a:normAutofit/>
          </a:bodyPr>
          <a:lstStyle/>
          <a:p>
            <a:pPr marL="0" indent="0" algn="l">
              <a:lnSpc>
                <a:spcPct val="155000"/>
              </a:lnSpc>
              <a:buNone/>
            </a:pPr>
            <a:endParaRPr lang="en-US" sz="1650" dirty="0"/>
          </a:p>
        </p:txBody>
      </p:sp>
      <p:sp>
        <p:nvSpPr>
          <p:cNvPr id="14" name="Text 12"/>
          <p:cNvSpPr/>
          <p:nvPr/>
        </p:nvSpPr>
        <p:spPr>
          <a:xfrm>
            <a:off x="1047750" y="9844088"/>
            <a:ext cx="3428704" cy="214313"/>
          </a:xfrm>
          <a:prstGeom prst="rect">
            <a:avLst/>
          </a:prstGeom>
          <a:noFill/>
          <a:ln/>
        </p:spPr>
        <p:txBody>
          <a:bodyPr wrap="square" lIns="25400" tIns="25400" rIns="25400" bIns="25400" rtlCol="0" anchor="t">
            <a:normAutofit fontScale="92500" lnSpcReduction="10000"/>
          </a:bodyPr>
          <a:lstStyle/>
          <a:p>
            <a:pPr marL="0" indent="0" algn="l">
              <a:buNone/>
            </a:pPr>
            <a:r>
              <a:rPr lang="en-US" sz="1200" kern="0" spc="216" dirty="0">
                <a:solidFill>
                  <a:srgbClr val="6B6B6B"/>
                </a:solidFill>
                <a:latin typeface="Courier New" pitchFamily="34" charset="0"/>
                <a:ea typeface="Courier New" pitchFamily="34" charset="-122"/>
                <a:cs typeface="Courier New" pitchFamily="34" charset="-120"/>
              </a:rPr>
              <a:t>CHOOSE YOUR OWN AI ADVENTURE</a:t>
            </a:r>
            <a:endParaRPr lang="en-US" sz="1200" dirty="0"/>
          </a:p>
        </p:txBody>
      </p:sp>
      <p:sp>
        <p:nvSpPr>
          <p:cNvPr id="15" name="Text 13"/>
          <p:cNvSpPr/>
          <p:nvPr/>
        </p:nvSpPr>
        <p:spPr>
          <a:xfrm>
            <a:off x="16051337" y="9844088"/>
            <a:ext cx="1265113" cy="214313"/>
          </a:xfrm>
          <a:prstGeom prst="rect">
            <a:avLst/>
          </a:prstGeom>
          <a:noFill/>
          <a:ln/>
        </p:spPr>
        <p:txBody>
          <a:bodyPr wrap="square" lIns="25400" tIns="25400" rIns="25400" bIns="25400" rtlCol="0" anchor="t">
            <a:normAutofit fontScale="92500" lnSpcReduction="10000"/>
          </a:bodyPr>
          <a:lstStyle/>
          <a:p>
            <a:pPr marL="0" indent="0" algn="l">
              <a:buNone/>
            </a:pPr>
            <a:r>
              <a:rPr lang="en-US" sz="1200" kern="0" spc="216" dirty="0">
                <a:solidFill>
                  <a:srgbClr val="6B6B6B"/>
                </a:solidFill>
                <a:latin typeface="Courier New" pitchFamily="34" charset="0"/>
                <a:ea typeface="Courier New" pitchFamily="34" charset="-122"/>
                <a:cs typeface="Courier New" pitchFamily="34" charset="-120"/>
              </a:rPr>
              <a:t>24 · RULES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0" y="0"/>
            <a:ext cx="18288000" cy="10287000"/>
          </a:xfrm>
          <a:prstGeom prst="rect">
            <a:avLst/>
          </a:prstGeom>
          <a:solidFill>
            <a:srgbClr val="000000">
              <a:alpha val="55000"/>
            </a:srgbClr>
          </a:solidFill>
          <a:ln/>
        </p:spPr>
        <p:txBody>
          <a:bodyPr/>
          <a:lstStyle/>
          <a:p>
            <a:endParaRPr lang="en-US" dirty="0"/>
          </a:p>
        </p:txBody>
      </p:sp>
      <p:pic>
        <p:nvPicPr>
          <p:cNvPr id="4" name="Image 1" descr="preencoded.png"/>
          <p:cNvPicPr>
            <a:picLocks noChangeAspect="1"/>
          </p:cNvPicPr>
          <p:nvPr/>
        </p:nvPicPr>
        <p:blipFill>
          <a:blip r:embed="rId4"/>
          <a:stretch>
            <a:fillRect/>
          </a:stretch>
        </p:blipFill>
        <p:spPr>
          <a:xfrm>
            <a:off x="857250" y="533400"/>
            <a:ext cx="3619500" cy="721296"/>
          </a:xfrm>
          <a:prstGeom prst="rect">
            <a:avLst/>
          </a:prstGeom>
        </p:spPr>
      </p:pic>
      <p:sp>
        <p:nvSpPr>
          <p:cNvPr id="5" name="Text 1"/>
          <p:cNvSpPr/>
          <p:nvPr/>
        </p:nvSpPr>
        <p:spPr>
          <a:xfrm>
            <a:off x="1047750" y="4900761"/>
            <a:ext cx="12734200" cy="2028825"/>
          </a:xfrm>
          <a:prstGeom prst="rect">
            <a:avLst/>
          </a:prstGeom>
          <a:noFill/>
          <a:ln/>
          <a:effectLst>
            <a:outerShdw blurRad="381000" dist="57150" dir="5400000" algn="bl" rotWithShape="0">
              <a:srgbClr val="000000">
                <a:alpha val="60000"/>
              </a:srgbClr>
            </a:outerShdw>
          </a:effectLst>
        </p:spPr>
        <p:txBody>
          <a:bodyPr wrap="square" lIns="25400" tIns="25400" rIns="25400" bIns="25400" rtlCol="0" anchor="t">
            <a:normAutofit fontScale="92500" lnSpcReduction="20000"/>
          </a:bodyPr>
          <a:lstStyle/>
          <a:p>
            <a:pPr marL="0" indent="0" algn="l">
              <a:lnSpc>
                <a:spcPct val="95000"/>
              </a:lnSpc>
              <a:buNone/>
            </a:pPr>
            <a:r>
              <a:rPr lang="en-US" sz="16500" kern="0" spc="-165" dirty="0">
                <a:solidFill>
                  <a:srgbClr val="FFFF00"/>
                </a:solidFill>
                <a:latin typeface="Courier New" pitchFamily="34" charset="0"/>
                <a:ea typeface="Courier New" pitchFamily="34" charset="-122"/>
                <a:cs typeface="Courier New" pitchFamily="34" charset="-120"/>
              </a:rPr>
              <a:t>Questions?</a:t>
            </a:r>
            <a:endParaRPr lang="en-US" sz="16500" dirty="0"/>
          </a:p>
        </p:txBody>
      </p:sp>
      <p:sp>
        <p:nvSpPr>
          <p:cNvPr id="6" name="Shape 2"/>
          <p:cNvSpPr/>
          <p:nvPr/>
        </p:nvSpPr>
        <p:spPr>
          <a:xfrm>
            <a:off x="857250" y="7259621"/>
            <a:ext cx="15878175" cy="2309664"/>
          </a:xfrm>
          <a:prstGeom prst="rect">
            <a:avLst/>
          </a:prstGeom>
          <a:solidFill>
            <a:srgbClr val="000000">
              <a:alpha val="60000"/>
            </a:srgbClr>
          </a:solidFill>
          <a:ln w="9525">
            <a:solidFill>
              <a:srgbClr val="FFFF00"/>
            </a:solidFill>
            <a:prstDash val="solid"/>
          </a:ln>
        </p:spPr>
        <p:txBody>
          <a:bodyPr/>
          <a:lstStyle/>
          <a:p>
            <a:endParaRPr lang="en-US"/>
          </a:p>
        </p:txBody>
      </p:sp>
      <p:sp>
        <p:nvSpPr>
          <p:cNvPr id="7" name="Text 3"/>
          <p:cNvSpPr/>
          <p:nvPr/>
        </p:nvSpPr>
        <p:spPr>
          <a:xfrm>
            <a:off x="2098166" y="7633454"/>
            <a:ext cx="13396341" cy="972443"/>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FFF00"/>
                </a:solidFill>
                <a:latin typeface="Courier New" pitchFamily="34" charset="0"/>
                <a:ea typeface="Courier New" pitchFamily="34" charset="-122"/>
                <a:cs typeface="Courier New" pitchFamily="34" charset="-120"/>
              </a:rPr>
              <a:t>Eric Chou </a:t>
            </a:r>
            <a:r>
              <a:rPr lang="en-US" sz="2400" dirty="0">
                <a:solidFill>
                  <a:srgbClr val="FFFFFF"/>
                </a:solidFill>
                <a:latin typeface="Courier New" pitchFamily="34" charset="0"/>
                <a:ea typeface="Courier New" pitchFamily="34" charset="-122"/>
                <a:cs typeface="Courier New" pitchFamily="34" charset="-120"/>
              </a:rPr>
              <a:t>— Network Automation Advocate, Network to Code</a:t>
            </a:r>
            <a:endParaRPr lang="en-US" sz="2400" dirty="0"/>
          </a:p>
        </p:txBody>
      </p:sp>
      <p:sp>
        <p:nvSpPr>
          <p:cNvPr id="10" name="Text 6"/>
          <p:cNvSpPr/>
          <p:nvPr/>
        </p:nvSpPr>
        <p:spPr>
          <a:xfrm>
            <a:off x="2098166" y="8414453"/>
            <a:ext cx="4398645" cy="501900"/>
          </a:xfrm>
          <a:prstGeom prst="rect">
            <a:avLst/>
          </a:prstGeom>
          <a:noFill/>
          <a:ln/>
        </p:spPr>
        <p:txBody>
          <a:bodyPr wrap="square" lIns="25400" tIns="25400" rIns="25400" bIns="25400" rtlCol="0" anchor="t">
            <a:noAutofit/>
          </a:bodyPr>
          <a:lstStyle/>
          <a:p>
            <a:pPr marL="0" indent="0" algn="l">
              <a:lnSpc>
                <a:spcPct val="155000"/>
              </a:lnSpc>
              <a:buNone/>
            </a:pPr>
            <a:r>
              <a:rPr lang="en-US" sz="2400" dirty="0">
                <a:solidFill>
                  <a:srgbClr val="FFFF00"/>
                </a:solidFill>
                <a:latin typeface="Courier New" pitchFamily="34" charset="0"/>
                <a:ea typeface="Courier New" pitchFamily="34" charset="-122"/>
                <a:cs typeface="Courier New" pitchFamily="34" charset="-120"/>
              </a:rPr>
              <a:t>› LinkedIn</a:t>
            </a:r>
            <a:endParaRPr lang="en-US" sz="2400" dirty="0"/>
          </a:p>
        </p:txBody>
      </p:sp>
      <p:sp>
        <p:nvSpPr>
          <p:cNvPr id="11" name="Text 7"/>
          <p:cNvSpPr/>
          <p:nvPr/>
        </p:nvSpPr>
        <p:spPr>
          <a:xfrm>
            <a:off x="6377941" y="8414453"/>
            <a:ext cx="9811893" cy="611416"/>
          </a:xfrm>
          <a:prstGeom prst="rect">
            <a:avLst/>
          </a:prstGeom>
          <a:noFill/>
          <a:ln/>
        </p:spPr>
        <p:txBody>
          <a:bodyPr wrap="square" lIns="25400" tIns="25400" rIns="25400" bIns="25400" rtlCol="0" anchor="t">
            <a:noAutofit/>
          </a:bodyPr>
          <a:lstStyle/>
          <a:p>
            <a:pPr>
              <a:lnSpc>
                <a:spcPct val="155000"/>
              </a:lnSpc>
            </a:pPr>
            <a:r>
              <a:rPr lang="en-US" sz="2400" dirty="0">
                <a:solidFill>
                  <a:srgbClr val="FFFFFF"/>
                </a:solidFill>
                <a:latin typeface="Courier New" pitchFamily="34" charset="0"/>
                <a:ea typeface="Courier New" pitchFamily="34" charset="-122"/>
                <a:cs typeface="Courier New" pitchFamily="34" charset="-120"/>
              </a:rPr>
              <a:t>https://</a:t>
            </a:r>
            <a:r>
              <a:rPr lang="en-US" sz="2400" dirty="0" err="1">
                <a:solidFill>
                  <a:srgbClr val="FFFFFF"/>
                </a:solidFill>
                <a:latin typeface="Courier New" pitchFamily="34" charset="0"/>
                <a:ea typeface="Courier New" pitchFamily="34" charset="-122"/>
                <a:cs typeface="Courier New" pitchFamily="34" charset="-120"/>
              </a:rPr>
              <a:t>www.linkedin.com</a:t>
            </a:r>
            <a:r>
              <a:rPr lang="en-US" sz="2400" dirty="0">
                <a:solidFill>
                  <a:srgbClr val="FFFFFF"/>
                </a:solidFill>
                <a:latin typeface="Courier New" pitchFamily="34" charset="0"/>
                <a:ea typeface="Courier New" pitchFamily="34" charset="-122"/>
                <a:cs typeface="Courier New" pitchFamily="34" charset="-120"/>
              </a:rPr>
              <a:t>/in/</a:t>
            </a:r>
            <a:r>
              <a:rPr lang="en-US" sz="2400" dirty="0" err="1">
                <a:solidFill>
                  <a:srgbClr val="FFFFFF"/>
                </a:solidFill>
                <a:latin typeface="Courier New" pitchFamily="34" charset="0"/>
                <a:ea typeface="Courier New" pitchFamily="34" charset="-122"/>
                <a:cs typeface="Courier New" pitchFamily="34" charset="-120"/>
              </a:rPr>
              <a:t>choueric</a:t>
            </a:r>
            <a:r>
              <a:rPr lang="en-US" sz="2400" dirty="0">
                <a:solidFill>
                  <a:srgbClr val="FFFFFF"/>
                </a:solidFill>
                <a:latin typeface="Courier New" pitchFamily="34" charset="0"/>
                <a:ea typeface="Courier New" pitchFamily="34" charset="-122"/>
                <a:cs typeface="Courier New" pitchFamily="34" charset="-120"/>
              </a:rPr>
              <a:t>/</a:t>
            </a:r>
            <a:endParaRPr lang="en-US" sz="2400" dirty="0"/>
          </a:p>
        </p:txBody>
      </p:sp>
      <p:sp>
        <p:nvSpPr>
          <p:cNvPr id="8" name="TextBox 7">
            <a:extLst>
              <a:ext uri="{FF2B5EF4-FFF2-40B4-BE49-F238E27FC236}">
                <a16:creationId xmlns:a16="http://schemas.microsoft.com/office/drawing/2014/main" id="{65B4A369-D4F6-37B9-5DAF-00866049BFC5}"/>
              </a:ext>
            </a:extLst>
          </p:cNvPr>
          <p:cNvSpPr txBox="1"/>
          <p:nvPr/>
        </p:nvSpPr>
        <p:spPr>
          <a:xfrm>
            <a:off x="2098166" y="2204193"/>
            <a:ext cx="13556796" cy="2376035"/>
          </a:xfrm>
          <a:prstGeom prst="rect">
            <a:avLst/>
          </a:prstGeom>
          <a:noFill/>
        </p:spPr>
        <p:txBody>
          <a:bodyPr wrap="square" rtlCol="0">
            <a:spAutoFit/>
          </a:bodyPr>
          <a:lstStyle/>
          <a:p>
            <a:pPr>
              <a:lnSpc>
                <a:spcPct val="135000"/>
              </a:lnSpc>
            </a:pPr>
            <a:r>
              <a:rPr lang="en-US" sz="4000" b="1" dirty="0">
                <a:solidFill>
                  <a:srgbClr val="FFFFFF"/>
                </a:solidFill>
                <a:latin typeface="Courier New" pitchFamily="34" charset="0"/>
                <a:ea typeface="Courier New" pitchFamily="34" charset="-122"/>
                <a:cs typeface="Courier New" pitchFamily="34" charset="-120"/>
              </a:rPr>
              <a:t>“The opposite of fragile is not resilience, it is antifragile.” </a:t>
            </a:r>
          </a:p>
          <a:p>
            <a:pPr algn="r">
              <a:lnSpc>
                <a:spcPct val="135000"/>
              </a:lnSpc>
            </a:pPr>
            <a:r>
              <a:rPr lang="en-US" sz="3200" dirty="0">
                <a:solidFill>
                  <a:srgbClr val="FFFFFF"/>
                </a:solidFill>
                <a:latin typeface="Courier New" pitchFamily="34" charset="0"/>
                <a:ea typeface="Courier New" pitchFamily="34" charset="-122"/>
                <a:cs typeface="Courier New" pitchFamily="34" charset="-120"/>
              </a:rPr>
              <a:t>– Dr. Nassim Taleb   </a:t>
            </a: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1598</TotalTime>
  <Words>2609</Words>
  <Application>Microsoft Macintosh PowerPoint</Application>
  <PresentationFormat>Custom</PresentationFormat>
  <Paragraphs>338</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Eric Chou</cp:lastModifiedBy>
  <cp:revision>129</cp:revision>
  <dcterms:created xsi:type="dcterms:W3CDTF">2026-05-15T13:32:56Z</dcterms:created>
  <dcterms:modified xsi:type="dcterms:W3CDTF">2026-05-29T18:21:07Z</dcterms:modified>
</cp:coreProperties>
</file>