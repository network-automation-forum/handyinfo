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9"/>
  </p:notesMasterIdLst>
  <p:sldIdLst>
    <p:sldId id="256" r:id="rId2"/>
    <p:sldId id="257" r:id="rId3"/>
    <p:sldId id="261" r:id="rId4"/>
    <p:sldId id="259" r:id="rId5"/>
    <p:sldId id="284" r:id="rId6"/>
    <p:sldId id="263" r:id="rId7"/>
    <p:sldId id="265" r:id="rId8"/>
    <p:sldId id="267" r:id="rId9"/>
    <p:sldId id="269" r:id="rId10"/>
    <p:sldId id="271" r:id="rId11"/>
    <p:sldId id="273" r:id="rId12"/>
    <p:sldId id="275" r:id="rId13"/>
    <p:sldId id="281" r:id="rId14"/>
    <p:sldId id="282" r:id="rId15"/>
    <p:sldId id="283" r:id="rId16"/>
    <p:sldId id="279" r:id="rId17"/>
    <p:sldId id="280" r:id="rId18"/>
  </p:sldIdLst>
  <p:sldSz cx="9144000" cy="5143500" type="screen16x9"/>
  <p:notesSz cx="6858000" cy="9144000"/>
  <p:embeddedFontLst>
    <p:embeddedFont>
      <p:font typeface="Space Mono" panose="02010509030202000204" pitchFamily="49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9B9B"/>
    <a:srgbClr val="FFFF00"/>
    <a:srgbClr val="7030A0"/>
    <a:srgbClr val="00B050"/>
    <a:srgbClr val="0082EC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27"/>
    <p:restoredTop sz="69073"/>
  </p:normalViewPr>
  <p:slideViewPr>
    <p:cSldViewPr snapToGrid="0">
      <p:cViewPr>
        <p:scale>
          <a:sx n="116" d="100"/>
          <a:sy n="116" d="100"/>
        </p:scale>
        <p:origin x="5584" y="14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61" d="100"/>
          <a:sy n="161" d="100"/>
        </p:scale>
        <p:origin x="139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 b="1" dirty="0"/>
              <a:t>0:30 - 0:30 – 24:30</a:t>
            </a:r>
            <a:endParaRPr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New at Sony</a:t>
            </a:r>
          </a:p>
          <a:p>
            <a:pPr rtl="0" fontAlgn="base"/>
            <a:r>
              <a:rPr lang="en-A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StackOverflow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era</a:t>
            </a:r>
          </a:p>
          <a:p>
            <a:pPr rtl="0" fontAlgn="base"/>
            <a:endParaRPr lang="en-AU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Maintenance validation (DMNA)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 min → 30 sec</a:t>
            </a:r>
          </a:p>
          <a:p>
            <a:pPr rtl="0" fontAlgn="base"/>
            <a:endParaRPr lang="en-AU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Personal shortcut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Scaling problem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Reliability in outcome mattered more than the shortcut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04:30 – 04:00 – 20:30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7eb9d9d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7eb9d9d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dirty="0"/>
              <a:t>Different Time Horizons</a:t>
            </a:r>
          </a:p>
          <a:p>
            <a:r>
              <a:rPr lang="en-AU" dirty="0"/>
              <a:t>Broader automation matures different pace</a:t>
            </a:r>
          </a:p>
          <a:p>
            <a:r>
              <a:rPr lang="en-AU" dirty="0"/>
              <a:t>Ops pain today</a:t>
            </a:r>
          </a:p>
          <a:p>
            <a:r>
              <a:rPr lang="en-AU" dirty="0"/>
              <a:t>Network never stops</a:t>
            </a:r>
          </a:p>
          <a:p>
            <a:r>
              <a:rPr lang="en-AU" dirty="0"/>
              <a:t>Not and Either/Or decision</a:t>
            </a:r>
          </a:p>
          <a:p>
            <a:r>
              <a:rPr lang="en-AU" dirty="0"/>
              <a:t>Meet in middle</a:t>
            </a:r>
            <a:br>
              <a:rPr lang="en-AU" dirty="0"/>
            </a:br>
            <a:br>
              <a:rPr lang="en-AU" dirty="0"/>
            </a:br>
            <a:r>
              <a:rPr lang="en-AU" b="1" dirty="0"/>
              <a:t>POINT:</a:t>
            </a:r>
            <a:r>
              <a:rPr lang="en-AU" dirty="0"/>
              <a:t> Parallel progress, future convergence</a:t>
            </a:r>
            <a:br>
              <a:rPr lang="en-AU" dirty="0"/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07:00 – 02:30 – 18:00</a:t>
            </a:r>
            <a:endParaRPr lang="en-AU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7eb9d9d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7eb9d9d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15–20 laptops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Dependencies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Authentication/Security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Bug fixes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Everyone scripting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 common standard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Tool success creates scaling problems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08:00 – 01:00 – 17:00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7507408-C2A8-5605-0871-F4791D1C6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7eb9d9dc_0_6:notes">
            <a:extLst>
              <a:ext uri="{FF2B5EF4-FFF2-40B4-BE49-F238E27FC236}">
                <a16:creationId xmlns:a16="http://schemas.microsoft.com/office/drawing/2014/main" id="{F15E705D-22E6-0EC2-1CA5-1439B592B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7eb9d9dc_0_6:notes">
            <a:extLst>
              <a:ext uri="{FF2B5EF4-FFF2-40B4-BE49-F238E27FC236}">
                <a16:creationId xmlns:a16="http://schemas.microsoft.com/office/drawing/2014/main" id="{07DE0ED6-6915-204C-52E2-086C95FDD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15–20 laptops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Dependencies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Authentication/Security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Bug fixes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Everyone scripting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 common standard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Needed a solution to build pipeline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Tool success creates scaling problems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09:00 – 01:00 – 16:00</a:t>
            </a:r>
          </a:p>
        </p:txBody>
      </p:sp>
    </p:spTree>
    <p:extLst>
      <p:ext uri="{BB962C8B-B14F-4D97-AF65-F5344CB8AC3E}">
        <p14:creationId xmlns:p14="http://schemas.microsoft.com/office/powerpoint/2010/main" val="101751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7eb9d9d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97eb9d9d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Like a tradesperson’s toolbox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Incident tools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Task tools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Validation tools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Value explosion</a:t>
            </a:r>
          </a:p>
          <a:p>
            <a:pPr rtl="0" fontAlgn="base"/>
            <a:endParaRPr lang="en-AU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Governance gap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ATF formed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 role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Personal tools managed collectively became team capability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10:30 – 01:30 – 14:30</a:t>
            </a:r>
            <a:endParaRPr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7eb9d9d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7eb9d9d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Not linear perfection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Learn while moving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Existing tools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New expectations</a:t>
            </a:r>
          </a:p>
          <a:p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Keep delivering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Maturity came in stages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11:30 – 01:00 – 13:30</a:t>
            </a:r>
            <a:endParaRPr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7eb9d9d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97eb9d9d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Start with toil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Incident context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Task execution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State validation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Manual runbooks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Rapid value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Start where the pain is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13:00 – 01:30 – 12:00</a:t>
            </a:r>
            <a:endParaRPr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7eb9d9d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97eb9d9d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Tech debt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12-month refactor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Monolith scripts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 tests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Python package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Shared interfaces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Nobody noticed / we noticed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Scaling requires more software discipline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14:30 – 01:30 – 10:30</a:t>
            </a:r>
            <a:endParaRPr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97eb9d9d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97eb9d9d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Workflow layer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Off operator laptop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Signal → workflow → action → verify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Human-in-loop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Closed-loop when safe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 support only where safe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goal is end-to-end workflow automation, not more scripts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16:00 – 01:30 – 09:00</a:t>
            </a:r>
            <a:endParaRPr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97eb9d9d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97eb9d9d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AutoCon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Prague - 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Good data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Passionate people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Management support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Mentoring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Feedback loop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Not tooling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If people and foundations are solid, tooling comes more naturally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17:30 – 01:30 – 07:30</a:t>
            </a:r>
            <a:endParaRPr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7eb9d9d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97eb9d9d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Workflow orchestration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Security built in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Listen to engineers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Listen to business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Trusted execution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Scalable platform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Adoption happens when tools make shifts easier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19:00 – 01:30 – 06:00</a:t>
            </a:r>
            <a:endParaRPr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005197FD-3ADD-69F2-DF91-CCE659BE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97eb9d9dc_0_61:notes">
            <a:extLst>
              <a:ext uri="{FF2B5EF4-FFF2-40B4-BE49-F238E27FC236}">
                <a16:creationId xmlns:a16="http://schemas.microsoft.com/office/drawing/2014/main" id="{219637B1-64DA-FBA3-722B-6584C296A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97eb9d9dc_0_61:notes">
            <a:extLst>
              <a:ext uri="{FF2B5EF4-FFF2-40B4-BE49-F238E27FC236}">
                <a16:creationId xmlns:a16="http://schemas.microsoft.com/office/drawing/2014/main" id="{00DF994E-C838-A3E1-4C70-5F2D9963A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Ops automation is one layer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Workflow automation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Closed-loop automation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Operator tooling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Not the whole ecosystem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Ops automation fits into something larger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20:30 – 01:30 – 04:30</a:t>
            </a:r>
            <a:endParaRPr lang="en-AU" b="1" dirty="0">
              <a:effectLst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893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038E5718-BB29-1FC8-ACF5-D273E0CA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97eb9d9dc_0_61:notes">
            <a:extLst>
              <a:ext uri="{FF2B5EF4-FFF2-40B4-BE49-F238E27FC236}">
                <a16:creationId xmlns:a16="http://schemas.microsoft.com/office/drawing/2014/main" id="{BFB80B3A-9CE3-18F0-67B8-E38A556DE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97eb9d9dc_0_61:notes">
            <a:extLst>
              <a:ext uri="{FF2B5EF4-FFF2-40B4-BE49-F238E27FC236}">
                <a16:creationId xmlns:a16="http://schemas.microsoft.com/office/drawing/2014/main" id="{484DDF5C-FCDE-583B-45B9-01A5ACD3B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Metrics / health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Topology mapping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Config generation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Controllers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Resiliency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Forecasting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Integration is key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ecosystem needs to connect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21:30 – 01:00 – 03:30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924588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Start small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Solve real pain</a:t>
            </a:r>
          </a:p>
          <a:p>
            <a:pPr lvl="1"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Time-consuming</a:t>
            </a:r>
          </a:p>
          <a:p>
            <a:pPr lvl="1"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Repetitive</a:t>
            </a:r>
          </a:p>
          <a:p>
            <a:pPr lvl="1"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Important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Seek buy-in</a:t>
            </a:r>
          </a:p>
          <a:p>
            <a:pPr lvl="1"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Formalise the work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Develop people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Build people, not just code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23:30 – 02:00 – 01:30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5917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97eb9d9d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97eb9d9d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Didn’t wait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Started where we were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Solved visible problems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Built trust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Broader automation still matures</a:t>
            </a:r>
          </a:p>
          <a:p>
            <a:pPr rtl="0" fontAlgn="base"/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Converged over time 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POINT:</a:t>
            </a:r>
            <a: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NetOps automation can’t wait</a:t>
            </a:r>
            <a:br>
              <a:rPr lang="en-A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AU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24:30 – 01:00 – 00:30</a:t>
            </a:r>
            <a:endParaRPr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AU" b="1" dirty="0"/>
              <a:t>5 Min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89300"/>
            <a:ext cx="85206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44115"/>
            <a:ext cx="8520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AC5 dark-bg tagline.png"/>
          <p:cNvPicPr preferRelativeResize="0"/>
          <p:nvPr/>
        </p:nvPicPr>
        <p:blipFill rotWithShape="1">
          <a:blip r:embed="rId3">
            <a:alphaModFix/>
          </a:blip>
          <a:srcRect l="5583" t="31029" r="6350" b="34541"/>
          <a:stretch/>
        </p:blipFill>
        <p:spPr>
          <a:xfrm>
            <a:off x="124100" y="3665900"/>
            <a:ext cx="8897050" cy="139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12939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29906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  <a:defRPr sz="42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11700" y="39240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  <a:defRPr sz="4800">
                <a:solidFill>
                  <a:srgbClr val="FFFF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400" y="249325"/>
            <a:ext cx="2125249" cy="4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375" y="4828424"/>
            <a:ext cx="1374125" cy="2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572000" y="-3285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solidFill>
                  <a:schemeClr val="dk1"/>
                </a:solidFill>
              </a:defRPr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>
                <a:solidFill>
                  <a:schemeClr val="dk1"/>
                </a:solidFill>
              </a:defRPr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>
                <a:solidFill>
                  <a:schemeClr val="dk1"/>
                </a:solidFill>
              </a:defRPr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Mono"/>
              <a:buChar char="●"/>
              <a:defRPr sz="28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Char char="○"/>
              <a:defRPr sz="24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Space Mono"/>
              <a:buChar char="■"/>
              <a:defRPr sz="22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●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○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■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●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○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Mono"/>
              <a:buChar char="■"/>
              <a:defRPr sz="2000" b="0" i="0" u="none" strike="noStrike" cap="none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sv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12" Type="http://schemas.openxmlformats.org/officeDocument/2006/relationships/image" Target="../media/image5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svg"/><Relationship Id="rId14" Type="http://schemas.openxmlformats.org/officeDocument/2006/relationships/image" Target="../media/image5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ctrTitle"/>
          </p:nvPr>
        </p:nvSpPr>
        <p:spPr>
          <a:xfrm>
            <a:off x="311708" y="889300"/>
            <a:ext cx="85206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</a:pPr>
            <a:r>
              <a:rPr lang="en" sz="2920" dirty="0"/>
              <a:t>Meeting Automation in the Middle: </a:t>
            </a:r>
            <a:r>
              <a:rPr lang="en" sz="2920" i="1" dirty="0">
                <a:solidFill>
                  <a:schemeClr val="bg1"/>
                </a:solidFill>
              </a:rPr>
              <a:t>Why NetOps automation can’t wait</a:t>
            </a:r>
            <a:endParaRPr sz="2920" i="1" dirty="0">
              <a:solidFill>
                <a:schemeClr val="bg1"/>
              </a:solidFill>
            </a:endParaRPr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>
            <a:off x="311700" y="2844115"/>
            <a:ext cx="8520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 b="1" dirty="0">
                <a:solidFill>
                  <a:srgbClr val="FFFF00"/>
                </a:solidFill>
              </a:rPr>
              <a:t>Tim Sando</a:t>
            </a:r>
            <a:br>
              <a:rPr lang="en" sz="2100" dirty="0"/>
            </a:br>
            <a:r>
              <a:rPr lang="en" sz="2100" dirty="0"/>
              <a:t>Sony Interactive Entertainment</a:t>
            </a:r>
            <a:endParaRPr sz="2100" dirty="0"/>
          </a:p>
        </p:txBody>
      </p:sp>
      <p:pic>
        <p:nvPicPr>
          <p:cNvPr id="72" name="Google Shape;72;p16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5101" y="232675"/>
            <a:ext cx="1178829" cy="510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Incident to Insight</a:t>
            </a:r>
            <a:endParaRPr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3C7BAC4-974C-F401-0CAE-8D537C2A1942}"/>
              </a:ext>
            </a:extLst>
          </p:cNvPr>
          <p:cNvSpPr/>
          <p:nvPr/>
        </p:nvSpPr>
        <p:spPr>
          <a:xfrm>
            <a:off x="941832" y="2365171"/>
            <a:ext cx="2057400" cy="1097280"/>
          </a:xfrm>
          <a:prstGeom prst="roundRect">
            <a:avLst/>
          </a:prstGeom>
          <a:solidFill>
            <a:srgbClr val="121212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600" b="1" dirty="0">
                <a:solidFill>
                  <a:srgbClr val="D8F000"/>
                </a:solidFill>
                <a:latin typeface="Space Mono" panose="02010509030202000204" pitchFamily="49" charset="77"/>
              </a:rPr>
              <a:t>Manual checks</a:t>
            </a:r>
          </a:p>
          <a:p>
            <a:pPr algn="ctr">
              <a:spcBef>
                <a:spcPts val="400"/>
              </a:spcBef>
            </a:pP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login • parse • validate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C6C6E6-08D5-07C3-189B-94DF749799C4}"/>
              </a:ext>
            </a:extLst>
          </p:cNvPr>
          <p:cNvSpPr/>
          <p:nvPr/>
        </p:nvSpPr>
        <p:spPr>
          <a:xfrm>
            <a:off x="3319272" y="2365171"/>
            <a:ext cx="2057400" cy="1097280"/>
          </a:xfrm>
          <a:prstGeom prst="roundRect">
            <a:avLst/>
          </a:prstGeom>
          <a:solidFill>
            <a:srgbClr val="121212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600" b="1" dirty="0">
                <a:solidFill>
                  <a:srgbClr val="D8F000"/>
                </a:solidFill>
                <a:latin typeface="Space Mono" panose="02010509030202000204" pitchFamily="49" charset="77"/>
              </a:rPr>
              <a:t>Link</a:t>
            </a:r>
            <a:r>
              <a:rPr lang="en-AU" sz="1600" b="1" dirty="0">
                <a:solidFill>
                  <a:srgbClr val="D8F000"/>
                </a:solidFill>
                <a:latin typeface="Space Mono" panose="02010509030202000204" pitchFamily="49" charset="77"/>
              </a:rPr>
              <a:t>_</a:t>
            </a:r>
            <a:r>
              <a:rPr sz="1600" b="1" dirty="0">
                <a:solidFill>
                  <a:srgbClr val="D8F000"/>
                </a:solidFill>
                <a:latin typeface="Space Mono" panose="02010509030202000204" pitchFamily="49" charset="77"/>
              </a:rPr>
              <a:t>Check</a:t>
            </a:r>
          </a:p>
          <a:p>
            <a:pPr algn="ctr">
              <a:spcBef>
                <a:spcPts val="400"/>
              </a:spcBef>
            </a:pP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repeatable</a:t>
            </a:r>
            <a:r>
              <a:rPr lang="en-AU"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 link</a:t>
            </a: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 validation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85D2436-48CA-52D5-D693-9A077BCF4C30}"/>
              </a:ext>
            </a:extLst>
          </p:cNvPr>
          <p:cNvSpPr/>
          <p:nvPr/>
        </p:nvSpPr>
        <p:spPr>
          <a:xfrm>
            <a:off x="5696712" y="2365171"/>
            <a:ext cx="2331720" cy="1097280"/>
          </a:xfrm>
          <a:prstGeom prst="roundRect">
            <a:avLst/>
          </a:prstGeom>
          <a:solidFill>
            <a:srgbClr val="121212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lang="en-AU" sz="1600" b="1" dirty="0">
                <a:solidFill>
                  <a:srgbClr val="D8F000"/>
                </a:solidFill>
                <a:latin typeface="Space Mono" panose="02010509030202000204" pitchFamily="49" charset="77"/>
              </a:rPr>
              <a:t>Consistency</a:t>
            </a:r>
            <a:endParaRPr sz="1600" b="1" dirty="0">
              <a:solidFill>
                <a:srgbClr val="D8F000"/>
              </a:solidFill>
              <a:latin typeface="Space Mono" panose="02010509030202000204" pitchFamily="49" charset="77"/>
            </a:endParaRPr>
          </a:p>
          <a:p>
            <a:pPr algn="ctr">
              <a:spcBef>
                <a:spcPts val="400"/>
              </a:spcBef>
            </a:pP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same answer </a:t>
            </a:r>
            <a:r>
              <a:rPr lang="en-AU"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•</a:t>
            </a: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 same</a:t>
            </a:r>
            <a:r>
              <a:rPr lang="en-AU"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 </a:t>
            </a: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08AA6-CF9F-8E57-71E6-F688C709EB89}"/>
              </a:ext>
            </a:extLst>
          </p:cNvPr>
          <p:cNvSpPr txBox="1"/>
          <p:nvPr/>
        </p:nvSpPr>
        <p:spPr>
          <a:xfrm>
            <a:off x="685800" y="1097280"/>
            <a:ext cx="2891882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0" i="0" dirty="0">
                <a:solidFill>
                  <a:srgbClr val="F5F5F5"/>
                </a:solidFill>
                <a:latin typeface="Aptos"/>
              </a:rPr>
              <a:t>A </a:t>
            </a:r>
            <a:r>
              <a:rPr sz="15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maintenance</a:t>
            </a:r>
            <a:r>
              <a:rPr sz="1500" b="0" i="0" dirty="0">
                <a:solidFill>
                  <a:srgbClr val="F5F5F5"/>
                </a:solidFill>
                <a:latin typeface="Aptos"/>
              </a:rPr>
              <a:t> check went from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BE1E6F-E145-D1C5-5C96-95726C0D1811}"/>
              </a:ext>
            </a:extLst>
          </p:cNvPr>
          <p:cNvSpPr/>
          <p:nvPr/>
        </p:nvSpPr>
        <p:spPr>
          <a:xfrm>
            <a:off x="685800" y="4069080"/>
            <a:ext cx="1051560" cy="2560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900" b="1">
                <a:solidFill>
                  <a:srgbClr val="D8F000"/>
                </a:solidFill>
                <a:latin typeface="Space Mono" panose="02010509030202000204" pitchFamily="49" charset="77"/>
              </a:rPr>
              <a:t>origin story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F1E04-9A7F-8D3E-4646-A2798971524E}"/>
              </a:ext>
            </a:extLst>
          </p:cNvPr>
          <p:cNvSpPr txBox="1"/>
          <p:nvPr/>
        </p:nvSpPr>
        <p:spPr>
          <a:xfrm>
            <a:off x="1828800" y="4078224"/>
            <a:ext cx="6910610" cy="2369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00" b="0" i="0" dirty="0">
                <a:solidFill>
                  <a:srgbClr val="A0A0A0"/>
                </a:solidFill>
                <a:latin typeface="Space Mono" panose="02010509030202000204" pitchFamily="49" charset="77"/>
              </a:rPr>
              <a:t>Automating verification mattered more than automating the shortcut.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76240-762B-3CFD-BBFE-4F9CA4EEE8FC}"/>
              </a:ext>
            </a:extLst>
          </p:cNvPr>
          <p:cNvSpPr txBox="1"/>
          <p:nvPr/>
        </p:nvSpPr>
        <p:spPr>
          <a:xfrm>
            <a:off x="685800" y="1389888"/>
            <a:ext cx="4550989" cy="59093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3600" b="1" i="0" dirty="0">
                <a:solidFill>
                  <a:srgbClr val="D8F000"/>
                </a:solidFill>
                <a:latin typeface="Space Mono" panose="02010509030202000204" pitchFamily="49" charset="77"/>
              </a:rPr>
              <a:t>5 min  </a:t>
            </a:r>
            <a:r>
              <a:rPr lang="en-AU" sz="3600" b="1" i="0" dirty="0">
                <a:solidFill>
                  <a:srgbClr val="D8F000"/>
                </a:solidFill>
                <a:latin typeface="Space Mono" panose="02010509030202000204" pitchFamily="49" charset="77"/>
              </a:rPr>
              <a:t> </a:t>
            </a:r>
            <a:r>
              <a:rPr sz="3600" b="1" i="0" dirty="0">
                <a:solidFill>
                  <a:srgbClr val="D8F000"/>
                </a:solidFill>
                <a:latin typeface="Space Mono" panose="02010509030202000204" pitchFamily="49" charset="77"/>
              </a:rPr>
              <a:t>  30 sec</a:t>
            </a:r>
          </a:p>
        </p:txBody>
      </p:sp>
      <p:pic>
        <p:nvPicPr>
          <p:cNvPr id="7" name="Graphic 6" descr="Caret Right with solid fill">
            <a:extLst>
              <a:ext uri="{FF2B5EF4-FFF2-40B4-BE49-F238E27FC236}">
                <a16:creationId xmlns:a16="http://schemas.microsoft.com/office/drawing/2014/main" id="{0FC6F2E1-02EA-CE2C-2D21-A15ABA457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8301" y="1402077"/>
            <a:ext cx="590931" cy="590931"/>
          </a:xfrm>
          <a:prstGeom prst="rect">
            <a:avLst/>
          </a:prstGeom>
        </p:spPr>
      </p:pic>
      <p:pic>
        <p:nvPicPr>
          <p:cNvPr id="10" name="Graphic 9" descr="Caret Right with solid fill">
            <a:extLst>
              <a:ext uri="{FF2B5EF4-FFF2-40B4-BE49-F238E27FC236}">
                <a16:creationId xmlns:a16="http://schemas.microsoft.com/office/drawing/2014/main" id="{7AC05D4E-6656-E50B-BBB7-A7D83CD7D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701" y="1411256"/>
            <a:ext cx="590931" cy="590931"/>
          </a:xfrm>
          <a:prstGeom prst="rect">
            <a:avLst/>
          </a:prstGeom>
        </p:spPr>
      </p:pic>
      <p:pic>
        <p:nvPicPr>
          <p:cNvPr id="11" name="Graphic 10" descr="Caret Right with solid fill">
            <a:extLst>
              <a:ext uri="{FF2B5EF4-FFF2-40B4-BE49-F238E27FC236}">
                <a16:creationId xmlns:a16="http://schemas.microsoft.com/office/drawing/2014/main" id="{18E49854-A31F-6B2E-52F8-7AE508EA5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3101" y="1409418"/>
            <a:ext cx="590931" cy="5909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not just wait?</a:t>
            </a:r>
            <a:endParaRPr dirty="0"/>
          </a:p>
        </p:txBody>
      </p:sp>
      <p:pic>
        <p:nvPicPr>
          <p:cNvPr id="2" name="Graphic 1" descr="Compass outline">
            <a:extLst>
              <a:ext uri="{FF2B5EF4-FFF2-40B4-BE49-F238E27FC236}">
                <a16:creationId xmlns:a16="http://schemas.microsoft.com/office/drawing/2014/main" id="{416E5F24-DCF1-4659-F35C-3473E713D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8490" y="1426672"/>
            <a:ext cx="914400" cy="914400"/>
          </a:xfrm>
          <a:prstGeom prst="rect">
            <a:avLst/>
          </a:prstGeom>
        </p:spPr>
      </p:pic>
      <p:pic>
        <p:nvPicPr>
          <p:cNvPr id="3" name="Graphic 2" descr="Single gear outline">
            <a:extLst>
              <a:ext uri="{FF2B5EF4-FFF2-40B4-BE49-F238E27FC236}">
                <a16:creationId xmlns:a16="http://schemas.microsoft.com/office/drawing/2014/main" id="{7392096F-3E5F-0E09-1407-1A3F97A7C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35043" y="1426672"/>
            <a:ext cx="914400" cy="914400"/>
          </a:xfrm>
          <a:prstGeom prst="rect">
            <a:avLst/>
          </a:prstGeom>
        </p:spPr>
      </p:pic>
      <p:pic>
        <p:nvPicPr>
          <p:cNvPr id="4" name="Graphic 3" descr="Workflow outline">
            <a:extLst>
              <a:ext uri="{FF2B5EF4-FFF2-40B4-BE49-F238E27FC236}">
                <a16:creationId xmlns:a16="http://schemas.microsoft.com/office/drawing/2014/main" id="{F28AE368-2B7E-E175-1110-BF762CED1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57600" y="1426672"/>
            <a:ext cx="914400" cy="914400"/>
          </a:xfrm>
          <a:prstGeom prst="rect">
            <a:avLst/>
          </a:prstGeom>
        </p:spPr>
      </p:pic>
      <p:pic>
        <p:nvPicPr>
          <p:cNvPr id="5" name="Graphic 4" descr="Rocket outline">
            <a:extLst>
              <a:ext uri="{FF2B5EF4-FFF2-40B4-BE49-F238E27FC236}">
                <a16:creationId xmlns:a16="http://schemas.microsoft.com/office/drawing/2014/main" id="{96112CBE-0E48-082E-9599-A51AF9E6E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141974" y="1426672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C32C7-03BE-B9D2-6B67-909B01529B1C}"/>
              </a:ext>
            </a:extLst>
          </p:cNvPr>
          <p:cNvSpPr txBox="1"/>
          <p:nvPr/>
        </p:nvSpPr>
        <p:spPr>
          <a:xfrm>
            <a:off x="380654" y="242823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5437E-9158-02A4-2064-CCF61656C85F}"/>
              </a:ext>
            </a:extLst>
          </p:cNvPr>
          <p:cNvSpPr txBox="1"/>
          <p:nvPr/>
        </p:nvSpPr>
        <p:spPr>
          <a:xfrm>
            <a:off x="1848226" y="244065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Platform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1AC3E-0A42-9909-3F12-83713E2C7F38}"/>
              </a:ext>
            </a:extLst>
          </p:cNvPr>
          <p:cNvSpPr txBox="1"/>
          <p:nvPr/>
        </p:nvSpPr>
        <p:spPr>
          <a:xfrm>
            <a:off x="3315798" y="2457629"/>
            <a:ext cx="1622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Orchestration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B45F7-9397-1F34-0AE7-9AC88670AE28}"/>
              </a:ext>
            </a:extLst>
          </p:cNvPr>
          <p:cNvSpPr txBox="1"/>
          <p:nvPr/>
        </p:nvSpPr>
        <p:spPr>
          <a:xfrm>
            <a:off x="5152760" y="2370466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Future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State</a:t>
            </a:r>
          </a:p>
        </p:txBody>
      </p:sp>
      <p:pic>
        <p:nvPicPr>
          <p:cNvPr id="12" name="Graphic 11" descr="Zipper outline">
            <a:extLst>
              <a:ext uri="{FF2B5EF4-FFF2-40B4-BE49-F238E27FC236}">
                <a16:creationId xmlns:a16="http://schemas.microsoft.com/office/drawing/2014/main" id="{4E33FE14-3355-5019-338E-D9AB07BFC9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6200000">
            <a:off x="7280630" y="2611517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71C588-50D0-CB58-24CF-E640AB8391D7}"/>
              </a:ext>
            </a:extLst>
          </p:cNvPr>
          <p:cNvSpPr txBox="1"/>
          <p:nvPr/>
        </p:nvSpPr>
        <p:spPr>
          <a:xfrm>
            <a:off x="7262805" y="3404658"/>
            <a:ext cx="9589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  <a:latin typeface="Space Mono" panose="02010509030202000204" pitchFamily="49" charset="77"/>
              </a:rPr>
              <a:t>Meet in</a:t>
            </a:r>
            <a:br>
              <a:rPr lang="en-US" dirty="0">
                <a:solidFill>
                  <a:srgbClr val="FFFF00"/>
                </a:solidFill>
                <a:latin typeface="Space Mono" panose="02010509030202000204" pitchFamily="49" charset="77"/>
              </a:rPr>
            </a:br>
            <a:r>
              <a:rPr lang="en-US" dirty="0">
                <a:solidFill>
                  <a:srgbClr val="FFFF00"/>
                </a:solidFill>
                <a:latin typeface="Space Mono" panose="02010509030202000204" pitchFamily="49" charset="77"/>
              </a:rPr>
              <a:t>the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Space Mono" panose="02010509030202000204" pitchFamily="49" charset="77"/>
              </a:rPr>
              <a:t>middle</a:t>
            </a:r>
          </a:p>
        </p:txBody>
      </p:sp>
      <p:pic>
        <p:nvPicPr>
          <p:cNvPr id="18" name="Graphic 17" descr="Tools outline">
            <a:extLst>
              <a:ext uri="{FF2B5EF4-FFF2-40B4-BE49-F238E27FC236}">
                <a16:creationId xmlns:a16="http://schemas.microsoft.com/office/drawing/2014/main" id="{1C466D7E-F949-9B0A-6923-2E49C10B6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0928" y="3115328"/>
            <a:ext cx="914400" cy="914400"/>
          </a:xfrm>
          <a:prstGeom prst="rect">
            <a:avLst/>
          </a:prstGeom>
        </p:spPr>
      </p:pic>
      <p:pic>
        <p:nvPicPr>
          <p:cNvPr id="19" name="Graphic 18" descr="Web design outline">
            <a:extLst>
              <a:ext uri="{FF2B5EF4-FFF2-40B4-BE49-F238E27FC236}">
                <a16:creationId xmlns:a16="http://schemas.microsoft.com/office/drawing/2014/main" id="{690232A5-7375-5A1B-BEC0-256AF5999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857481" y="3115328"/>
            <a:ext cx="914400" cy="914400"/>
          </a:xfrm>
          <a:prstGeom prst="rect">
            <a:avLst/>
          </a:prstGeom>
        </p:spPr>
      </p:pic>
      <p:pic>
        <p:nvPicPr>
          <p:cNvPr id="20" name="Graphic 19" descr="Meeting outline">
            <a:extLst>
              <a:ext uri="{FF2B5EF4-FFF2-40B4-BE49-F238E27FC236}">
                <a16:creationId xmlns:a16="http://schemas.microsoft.com/office/drawing/2014/main" id="{29ED9541-DD4F-E365-F0A5-727731DBC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580038" y="3115328"/>
            <a:ext cx="914400" cy="914400"/>
          </a:xfrm>
          <a:prstGeom prst="rect">
            <a:avLst/>
          </a:prstGeom>
        </p:spPr>
      </p:pic>
      <p:pic>
        <p:nvPicPr>
          <p:cNvPr id="21" name="Graphic 20" descr="Diamond outline">
            <a:extLst>
              <a:ext uri="{FF2B5EF4-FFF2-40B4-BE49-F238E27FC236}">
                <a16:creationId xmlns:a16="http://schemas.microsoft.com/office/drawing/2014/main" id="{FE271B4A-97F5-A28A-68EA-A56E2C215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064412" y="3115328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A72C4D-9C7D-F4CA-C989-2B0ECD5BF216}"/>
              </a:ext>
            </a:extLst>
          </p:cNvPr>
          <p:cNvSpPr txBox="1"/>
          <p:nvPr/>
        </p:nvSpPr>
        <p:spPr>
          <a:xfrm>
            <a:off x="544580" y="4143323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Daily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Toil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29D922-F616-797E-C406-6132D1DF366D}"/>
              </a:ext>
            </a:extLst>
          </p:cNvPr>
          <p:cNvSpPr txBox="1"/>
          <p:nvPr/>
        </p:nvSpPr>
        <p:spPr>
          <a:xfrm>
            <a:off x="1945830" y="4143322"/>
            <a:ext cx="737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Quick</a:t>
            </a:r>
            <a:b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</a:br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Tools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BB5633-84BC-1599-F802-F54957FF7030}"/>
              </a:ext>
            </a:extLst>
          </p:cNvPr>
          <p:cNvSpPr txBox="1"/>
          <p:nvPr/>
        </p:nvSpPr>
        <p:spPr>
          <a:xfrm>
            <a:off x="3613083" y="4143322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Team</a:t>
            </a:r>
          </a:p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C5564-B371-7380-F0D4-A77E1E87AE79}"/>
              </a:ext>
            </a:extLst>
          </p:cNvPr>
          <p:cNvSpPr txBox="1"/>
          <p:nvPr/>
        </p:nvSpPr>
        <p:spPr>
          <a:xfrm>
            <a:off x="4948632" y="4143322"/>
            <a:ext cx="1180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Immediate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Value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9A6128-EFF0-1FFA-B3BA-BF373C081442}"/>
              </a:ext>
            </a:extLst>
          </p:cNvPr>
          <p:cNvSpPr txBox="1"/>
          <p:nvPr/>
        </p:nvSpPr>
        <p:spPr>
          <a:xfrm>
            <a:off x="299628" y="1092688"/>
            <a:ext cx="3281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2EC"/>
                </a:solidFill>
                <a:latin typeface="Space Mono" panose="02010509030202000204" pitchFamily="49" charset="77"/>
              </a:rPr>
              <a:t>BROAD AUTOMATION (LONG TERM)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4416C4-4AF5-F855-3EEC-ED23D7B3BBC3}"/>
              </a:ext>
            </a:extLst>
          </p:cNvPr>
          <p:cNvSpPr txBox="1"/>
          <p:nvPr/>
        </p:nvSpPr>
        <p:spPr>
          <a:xfrm>
            <a:off x="278223" y="4721057"/>
            <a:ext cx="3392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pace Mono" panose="02010509030202000204" pitchFamily="49" charset="77"/>
              </a:rPr>
              <a:t>OPERATIONS AUTOMATION (TODAY)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C3715A7-098F-4CD5-D1CC-9EF0FC78E2B3}"/>
              </a:ext>
            </a:extLst>
          </p:cNvPr>
          <p:cNvCxnSpPr/>
          <p:nvPr/>
        </p:nvCxnSpPr>
        <p:spPr>
          <a:xfrm>
            <a:off x="311700" y="2961043"/>
            <a:ext cx="6338482" cy="0"/>
          </a:xfrm>
          <a:prstGeom prst="line">
            <a:avLst/>
          </a:prstGeom>
          <a:ln w="2222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>
            <a:extLst>
              <a:ext uri="{FF2B5EF4-FFF2-40B4-BE49-F238E27FC236}">
                <a16:creationId xmlns:a16="http://schemas.microsoft.com/office/drawing/2014/main" id="{EBE98503-5587-0856-11C3-7EC0DCD918C6}"/>
              </a:ext>
            </a:extLst>
          </p:cNvPr>
          <p:cNvSpPr/>
          <p:nvPr/>
        </p:nvSpPr>
        <p:spPr>
          <a:xfrm>
            <a:off x="3674225" y="1204301"/>
            <a:ext cx="3458095" cy="1539965"/>
          </a:xfrm>
          <a:custGeom>
            <a:avLst/>
            <a:gdLst>
              <a:gd name="csX0" fmla="*/ 0 w 3458095"/>
              <a:gd name="csY0" fmla="*/ 25983 h 1539965"/>
              <a:gd name="csX1" fmla="*/ 1346662 w 3458095"/>
              <a:gd name="csY1" fmla="*/ 9357 h 1539965"/>
              <a:gd name="csX2" fmla="*/ 2177935 w 3458095"/>
              <a:gd name="csY2" fmla="*/ 9357 h 1539965"/>
              <a:gd name="csX3" fmla="*/ 2809702 w 3458095"/>
              <a:gd name="csY3" fmla="*/ 75859 h 1539965"/>
              <a:gd name="csX4" fmla="*/ 3025833 w 3458095"/>
              <a:gd name="csY4" fmla="*/ 757503 h 1539965"/>
              <a:gd name="csX5" fmla="*/ 3125586 w 3458095"/>
              <a:gd name="csY5" fmla="*/ 1106637 h 1539965"/>
              <a:gd name="csX6" fmla="*/ 3374968 w 3458095"/>
              <a:gd name="csY6" fmla="*/ 1472397 h 1539965"/>
              <a:gd name="csX7" fmla="*/ 3458095 w 3458095"/>
              <a:gd name="csY7" fmla="*/ 1538899 h 1539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58095" h="1539965">
                <a:moveTo>
                  <a:pt x="0" y="25983"/>
                </a:moveTo>
                <a:lnTo>
                  <a:pt x="1346662" y="9357"/>
                </a:lnTo>
                <a:cubicBezTo>
                  <a:pt x="1709651" y="6586"/>
                  <a:pt x="1934095" y="-1727"/>
                  <a:pt x="2177935" y="9357"/>
                </a:cubicBezTo>
                <a:cubicBezTo>
                  <a:pt x="2421775" y="20441"/>
                  <a:pt x="2668386" y="-48832"/>
                  <a:pt x="2809702" y="75859"/>
                </a:cubicBezTo>
                <a:cubicBezTo>
                  <a:pt x="2951018" y="200550"/>
                  <a:pt x="2973186" y="585707"/>
                  <a:pt x="3025833" y="757503"/>
                </a:cubicBezTo>
                <a:cubicBezTo>
                  <a:pt x="3078480" y="929299"/>
                  <a:pt x="3067397" y="987488"/>
                  <a:pt x="3125586" y="1106637"/>
                </a:cubicBezTo>
                <a:cubicBezTo>
                  <a:pt x="3183775" y="1225786"/>
                  <a:pt x="3374968" y="1472397"/>
                  <a:pt x="3374968" y="1472397"/>
                </a:cubicBezTo>
                <a:cubicBezTo>
                  <a:pt x="3430386" y="1544441"/>
                  <a:pt x="3444240" y="1541670"/>
                  <a:pt x="3458095" y="1538899"/>
                </a:cubicBezTo>
              </a:path>
            </a:pathLst>
          </a:cu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DF56337C-64B2-9B82-9799-CE79BC26245F}"/>
              </a:ext>
            </a:extLst>
          </p:cNvPr>
          <p:cNvSpPr/>
          <p:nvPr/>
        </p:nvSpPr>
        <p:spPr>
          <a:xfrm flipV="1">
            <a:off x="3657600" y="3323464"/>
            <a:ext cx="3458095" cy="1539965"/>
          </a:xfrm>
          <a:custGeom>
            <a:avLst/>
            <a:gdLst>
              <a:gd name="csX0" fmla="*/ 0 w 3458095"/>
              <a:gd name="csY0" fmla="*/ 25983 h 1539965"/>
              <a:gd name="csX1" fmla="*/ 1346662 w 3458095"/>
              <a:gd name="csY1" fmla="*/ 9357 h 1539965"/>
              <a:gd name="csX2" fmla="*/ 2177935 w 3458095"/>
              <a:gd name="csY2" fmla="*/ 9357 h 1539965"/>
              <a:gd name="csX3" fmla="*/ 2809702 w 3458095"/>
              <a:gd name="csY3" fmla="*/ 75859 h 1539965"/>
              <a:gd name="csX4" fmla="*/ 3025833 w 3458095"/>
              <a:gd name="csY4" fmla="*/ 757503 h 1539965"/>
              <a:gd name="csX5" fmla="*/ 3125586 w 3458095"/>
              <a:gd name="csY5" fmla="*/ 1106637 h 1539965"/>
              <a:gd name="csX6" fmla="*/ 3374968 w 3458095"/>
              <a:gd name="csY6" fmla="*/ 1472397 h 1539965"/>
              <a:gd name="csX7" fmla="*/ 3458095 w 3458095"/>
              <a:gd name="csY7" fmla="*/ 1538899 h 1539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58095" h="1539965">
                <a:moveTo>
                  <a:pt x="0" y="25983"/>
                </a:moveTo>
                <a:lnTo>
                  <a:pt x="1346662" y="9357"/>
                </a:lnTo>
                <a:cubicBezTo>
                  <a:pt x="1709651" y="6586"/>
                  <a:pt x="1934095" y="-1727"/>
                  <a:pt x="2177935" y="9357"/>
                </a:cubicBezTo>
                <a:cubicBezTo>
                  <a:pt x="2421775" y="20441"/>
                  <a:pt x="2668386" y="-48832"/>
                  <a:pt x="2809702" y="75859"/>
                </a:cubicBezTo>
                <a:cubicBezTo>
                  <a:pt x="2951018" y="200550"/>
                  <a:pt x="2973186" y="585707"/>
                  <a:pt x="3025833" y="757503"/>
                </a:cubicBezTo>
                <a:cubicBezTo>
                  <a:pt x="3078480" y="929299"/>
                  <a:pt x="3067397" y="987488"/>
                  <a:pt x="3125586" y="1106637"/>
                </a:cubicBezTo>
                <a:cubicBezTo>
                  <a:pt x="3183775" y="1225786"/>
                  <a:pt x="3374968" y="1472397"/>
                  <a:pt x="3374968" y="1472397"/>
                </a:cubicBezTo>
                <a:cubicBezTo>
                  <a:pt x="3430386" y="1544441"/>
                  <a:pt x="3444240" y="1541670"/>
                  <a:pt x="3458095" y="1538899"/>
                </a:cubicBezTo>
              </a:path>
            </a:pathLst>
          </a:cu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Fast. Decentralised. Unstructured.</a:t>
            </a:r>
            <a:endParaRPr/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C5B8AF3-964A-CC24-D48C-8332BE612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1298" y="1477525"/>
            <a:ext cx="914400" cy="914400"/>
          </a:xfrm>
          <a:prstGeom prst="rect">
            <a:avLst/>
          </a:prstGeom>
        </p:spPr>
      </p:pic>
      <p:pic>
        <p:nvPicPr>
          <p:cNvPr id="7" name="Graphic 6" descr="Lightbulb with solid fill">
            <a:extLst>
              <a:ext uri="{FF2B5EF4-FFF2-40B4-BE49-F238E27FC236}">
                <a16:creationId xmlns:a16="http://schemas.microsoft.com/office/drawing/2014/main" id="{A7084118-4BAA-D080-09E4-3AA0FFA440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0143" y="1279747"/>
            <a:ext cx="395555" cy="395555"/>
          </a:xfrm>
          <a:prstGeom prst="rect">
            <a:avLst/>
          </a:prstGeom>
        </p:spPr>
      </p:pic>
      <p:pic>
        <p:nvPicPr>
          <p:cNvPr id="9" name="Graphic 8" descr="Scroll with solid fill">
            <a:extLst>
              <a:ext uri="{FF2B5EF4-FFF2-40B4-BE49-F238E27FC236}">
                <a16:creationId xmlns:a16="http://schemas.microsoft.com/office/drawing/2014/main" id="{2A8754A2-D608-3E91-7866-6FCF6C5E4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3230" y="1158384"/>
            <a:ext cx="375007" cy="375007"/>
          </a:xfrm>
          <a:prstGeom prst="rect">
            <a:avLst/>
          </a:prstGeom>
        </p:spPr>
      </p:pic>
      <p:pic>
        <p:nvPicPr>
          <p:cNvPr id="11" name="Graphic 10" descr="Programmer female with solid fill">
            <a:extLst>
              <a:ext uri="{FF2B5EF4-FFF2-40B4-BE49-F238E27FC236}">
                <a16:creationId xmlns:a16="http://schemas.microsoft.com/office/drawing/2014/main" id="{D3E5E841-6071-75F7-41DF-42FD846C9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1290" y="1795356"/>
            <a:ext cx="914400" cy="914400"/>
          </a:xfrm>
          <a:prstGeom prst="rect">
            <a:avLst/>
          </a:prstGeom>
        </p:spPr>
      </p:pic>
      <p:pic>
        <p:nvPicPr>
          <p:cNvPr id="12" name="Graphic 11" descr="Lightbulb with solid fill">
            <a:extLst>
              <a:ext uri="{FF2B5EF4-FFF2-40B4-BE49-F238E27FC236}">
                <a16:creationId xmlns:a16="http://schemas.microsoft.com/office/drawing/2014/main" id="{EC891AC2-A3BC-BEB1-98AA-F958F53C7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135" y="1628399"/>
            <a:ext cx="395555" cy="395555"/>
          </a:xfrm>
          <a:prstGeom prst="rect">
            <a:avLst/>
          </a:prstGeom>
        </p:spPr>
      </p:pic>
      <p:pic>
        <p:nvPicPr>
          <p:cNvPr id="13" name="Graphic 12" descr="Scroll with solid fill">
            <a:extLst>
              <a:ext uri="{FF2B5EF4-FFF2-40B4-BE49-F238E27FC236}">
                <a16:creationId xmlns:a16="http://schemas.microsoft.com/office/drawing/2014/main" id="{72C00C78-4677-6154-1DDC-A0307E591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3222" y="1507036"/>
            <a:ext cx="375007" cy="375007"/>
          </a:xfrm>
          <a:prstGeom prst="rect">
            <a:avLst/>
          </a:prstGeom>
        </p:spPr>
      </p:pic>
      <p:pic>
        <p:nvPicPr>
          <p:cNvPr id="17" name="Graphic 16" descr="Programmer male with solid fill">
            <a:extLst>
              <a:ext uri="{FF2B5EF4-FFF2-40B4-BE49-F238E27FC236}">
                <a16:creationId xmlns:a16="http://schemas.microsoft.com/office/drawing/2014/main" id="{32B11B79-93FD-0D95-F5E3-542E7DE808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8310" y="3972248"/>
            <a:ext cx="914400" cy="914400"/>
          </a:xfrm>
          <a:prstGeom prst="rect">
            <a:avLst/>
          </a:prstGeom>
        </p:spPr>
      </p:pic>
      <p:pic>
        <p:nvPicPr>
          <p:cNvPr id="18" name="Graphic 17" descr="Lightbulb with solid fill">
            <a:extLst>
              <a:ext uri="{FF2B5EF4-FFF2-40B4-BE49-F238E27FC236}">
                <a16:creationId xmlns:a16="http://schemas.microsoft.com/office/drawing/2014/main" id="{4BBBA85E-6C2E-6A51-C474-D3A6948A6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7155" y="3774470"/>
            <a:ext cx="395555" cy="395555"/>
          </a:xfrm>
          <a:prstGeom prst="rect">
            <a:avLst/>
          </a:prstGeom>
        </p:spPr>
      </p:pic>
      <p:pic>
        <p:nvPicPr>
          <p:cNvPr id="19" name="Graphic 18" descr="Scroll with solid fill">
            <a:extLst>
              <a:ext uri="{FF2B5EF4-FFF2-40B4-BE49-F238E27FC236}">
                <a16:creationId xmlns:a16="http://schemas.microsoft.com/office/drawing/2014/main" id="{D2591EAE-CE13-C333-4582-F7FFF4FCE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0242" y="3653107"/>
            <a:ext cx="375007" cy="375007"/>
          </a:xfrm>
          <a:prstGeom prst="rect">
            <a:avLst/>
          </a:prstGeom>
        </p:spPr>
      </p:pic>
      <p:pic>
        <p:nvPicPr>
          <p:cNvPr id="20" name="Graphic 19" descr="Programmer male with solid fill">
            <a:extLst>
              <a:ext uri="{FF2B5EF4-FFF2-40B4-BE49-F238E27FC236}">
                <a16:creationId xmlns:a16="http://schemas.microsoft.com/office/drawing/2014/main" id="{2186BE4D-BBDD-CEA9-109D-E02C250C0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6890" y="3784075"/>
            <a:ext cx="914400" cy="914400"/>
          </a:xfrm>
          <a:prstGeom prst="rect">
            <a:avLst/>
          </a:prstGeom>
        </p:spPr>
      </p:pic>
      <p:pic>
        <p:nvPicPr>
          <p:cNvPr id="21" name="Graphic 20" descr="Lightbulb with solid fill">
            <a:extLst>
              <a:ext uri="{FF2B5EF4-FFF2-40B4-BE49-F238E27FC236}">
                <a16:creationId xmlns:a16="http://schemas.microsoft.com/office/drawing/2014/main" id="{7465E223-5B6D-BA54-8875-9FC77D6C7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735" y="3586297"/>
            <a:ext cx="395555" cy="395555"/>
          </a:xfrm>
          <a:prstGeom prst="rect">
            <a:avLst/>
          </a:prstGeom>
        </p:spPr>
      </p:pic>
      <p:pic>
        <p:nvPicPr>
          <p:cNvPr id="22" name="Graphic 21" descr="Scroll with solid fill">
            <a:extLst>
              <a:ext uri="{FF2B5EF4-FFF2-40B4-BE49-F238E27FC236}">
                <a16:creationId xmlns:a16="http://schemas.microsoft.com/office/drawing/2014/main" id="{EE515515-F1ED-2736-A8E1-1A93F8124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8822" y="3464934"/>
            <a:ext cx="375007" cy="375007"/>
          </a:xfrm>
          <a:prstGeom prst="rect">
            <a:avLst/>
          </a:prstGeom>
        </p:spPr>
      </p:pic>
      <p:pic>
        <p:nvPicPr>
          <p:cNvPr id="24" name="Graphic 23" descr="Lightbulb with solid fill">
            <a:extLst>
              <a:ext uri="{FF2B5EF4-FFF2-40B4-BE49-F238E27FC236}">
                <a16:creationId xmlns:a16="http://schemas.microsoft.com/office/drawing/2014/main" id="{C088F299-23D2-FDA3-26FA-5E78AE767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895" y="2456112"/>
            <a:ext cx="395555" cy="395555"/>
          </a:xfrm>
          <a:prstGeom prst="rect">
            <a:avLst/>
          </a:prstGeom>
        </p:spPr>
      </p:pic>
      <p:pic>
        <p:nvPicPr>
          <p:cNvPr id="27" name="Graphic 26" descr="Lightbulb with solid fill">
            <a:extLst>
              <a:ext uri="{FF2B5EF4-FFF2-40B4-BE49-F238E27FC236}">
                <a16:creationId xmlns:a16="http://schemas.microsoft.com/office/drawing/2014/main" id="{DEBC17AB-7550-76E2-DA55-40472EB5C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416" y="1366434"/>
            <a:ext cx="395555" cy="395555"/>
          </a:xfrm>
          <a:prstGeom prst="rect">
            <a:avLst/>
          </a:prstGeom>
        </p:spPr>
      </p:pic>
      <p:pic>
        <p:nvPicPr>
          <p:cNvPr id="35" name="Graphic 34" descr="Programmer male with solid fill">
            <a:extLst>
              <a:ext uri="{FF2B5EF4-FFF2-40B4-BE49-F238E27FC236}">
                <a16:creationId xmlns:a16="http://schemas.microsoft.com/office/drawing/2014/main" id="{339B0667-F1B1-B5E6-D39C-349FCCB6F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5178" y="3972248"/>
            <a:ext cx="914400" cy="914400"/>
          </a:xfrm>
          <a:prstGeom prst="rect">
            <a:avLst/>
          </a:prstGeom>
        </p:spPr>
      </p:pic>
      <p:pic>
        <p:nvPicPr>
          <p:cNvPr id="36" name="Graphic 35" descr="Lightbulb with solid fill">
            <a:extLst>
              <a:ext uri="{FF2B5EF4-FFF2-40B4-BE49-F238E27FC236}">
                <a16:creationId xmlns:a16="http://schemas.microsoft.com/office/drawing/2014/main" id="{C9033E22-86BE-787A-EE9E-9F7186110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4023" y="3774470"/>
            <a:ext cx="395555" cy="395555"/>
          </a:xfrm>
          <a:prstGeom prst="rect">
            <a:avLst/>
          </a:prstGeom>
        </p:spPr>
      </p:pic>
      <p:pic>
        <p:nvPicPr>
          <p:cNvPr id="37" name="Graphic 36" descr="Scroll with solid fill">
            <a:extLst>
              <a:ext uri="{FF2B5EF4-FFF2-40B4-BE49-F238E27FC236}">
                <a16:creationId xmlns:a16="http://schemas.microsoft.com/office/drawing/2014/main" id="{4FF77487-2BAD-E1E9-72C1-7892EE7A4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7110" y="3653107"/>
            <a:ext cx="375007" cy="37500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36DE17E-AB43-5B58-1578-631050DDBD54}"/>
              </a:ext>
            </a:extLst>
          </p:cNvPr>
          <p:cNvGrpSpPr/>
          <p:nvPr/>
        </p:nvGrpSpPr>
        <p:grpSpPr>
          <a:xfrm>
            <a:off x="326202" y="3297318"/>
            <a:ext cx="914400" cy="914400"/>
            <a:chOff x="326202" y="3297318"/>
            <a:chExt cx="914400" cy="9144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1C6A20F-6E72-5D7C-1DFC-A465D24D2D98}"/>
                </a:ext>
              </a:extLst>
            </p:cNvPr>
            <p:cNvSpPr/>
            <p:nvPr/>
          </p:nvSpPr>
          <p:spPr>
            <a:xfrm>
              <a:off x="632533" y="3936749"/>
              <a:ext cx="309489" cy="253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Programmer male with solid fill">
              <a:extLst>
                <a:ext uri="{FF2B5EF4-FFF2-40B4-BE49-F238E27FC236}">
                  <a16:creationId xmlns:a16="http://schemas.microsoft.com/office/drawing/2014/main" id="{803A7C7C-1749-99F8-9E85-B96D714057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6202" y="3297318"/>
              <a:ext cx="914400" cy="914400"/>
            </a:xfrm>
            <a:prstGeom prst="rect">
              <a:avLst/>
            </a:prstGeom>
          </p:spPr>
        </p:pic>
      </p:grpSp>
      <p:pic>
        <p:nvPicPr>
          <p:cNvPr id="47" name="Graphic 46" descr="Lightbulb with solid fill">
            <a:extLst>
              <a:ext uri="{FF2B5EF4-FFF2-40B4-BE49-F238E27FC236}">
                <a16:creationId xmlns:a16="http://schemas.microsoft.com/office/drawing/2014/main" id="{FC6F43D2-40B0-E452-512B-CD24FF828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047" y="3099540"/>
            <a:ext cx="395555" cy="39555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DDC7156-07CB-88FA-DD63-5BF680A73192}"/>
              </a:ext>
            </a:extLst>
          </p:cNvPr>
          <p:cNvGrpSpPr/>
          <p:nvPr/>
        </p:nvGrpSpPr>
        <p:grpSpPr>
          <a:xfrm>
            <a:off x="508571" y="1533391"/>
            <a:ext cx="914400" cy="914400"/>
            <a:chOff x="508571" y="1533391"/>
            <a:chExt cx="914400" cy="914400"/>
          </a:xfrm>
        </p:grpSpPr>
        <p:pic>
          <p:nvPicPr>
            <p:cNvPr id="26" name="Graphic 25" descr="Programmer female with solid fill">
              <a:extLst>
                <a:ext uri="{FF2B5EF4-FFF2-40B4-BE49-F238E27FC236}">
                  <a16:creationId xmlns:a16="http://schemas.microsoft.com/office/drawing/2014/main" id="{3B5D24D4-C2DA-E82C-DEB7-B3908B76A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8571" y="1533391"/>
              <a:ext cx="914400" cy="91440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A002492-A89A-4EC3-6096-12660A74F94E}"/>
                </a:ext>
              </a:extLst>
            </p:cNvPr>
            <p:cNvSpPr/>
            <p:nvPr/>
          </p:nvSpPr>
          <p:spPr>
            <a:xfrm>
              <a:off x="811026" y="2160094"/>
              <a:ext cx="309489" cy="253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4786EB7-E32C-38B0-3CF5-B381857175B7}"/>
              </a:ext>
            </a:extLst>
          </p:cNvPr>
          <p:cNvGrpSpPr/>
          <p:nvPr/>
        </p:nvGrpSpPr>
        <p:grpSpPr>
          <a:xfrm>
            <a:off x="4780050" y="2623069"/>
            <a:ext cx="914400" cy="914400"/>
            <a:chOff x="4780050" y="2623069"/>
            <a:chExt cx="914400" cy="914400"/>
          </a:xfrm>
        </p:grpSpPr>
        <p:pic>
          <p:nvPicPr>
            <p:cNvPr id="23" name="Graphic 22" descr="Programmer female with solid fill">
              <a:extLst>
                <a:ext uri="{FF2B5EF4-FFF2-40B4-BE49-F238E27FC236}">
                  <a16:creationId xmlns:a16="http://schemas.microsoft.com/office/drawing/2014/main" id="{354E15AA-383F-B5CE-CA27-0C1ECFF189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0050" y="2623069"/>
              <a:ext cx="914400" cy="914400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8537A4-BC8C-49C9-BE05-D512B5946714}"/>
                </a:ext>
              </a:extLst>
            </p:cNvPr>
            <p:cNvSpPr/>
            <p:nvPr/>
          </p:nvSpPr>
          <p:spPr>
            <a:xfrm>
              <a:off x="5062589" y="3228633"/>
              <a:ext cx="309489" cy="253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0641AB60-CFC2-2570-959C-39EB78AE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1F95BC9-BD4D-D7B8-8399-DB33EAC27994}"/>
              </a:ext>
            </a:extLst>
          </p:cNvPr>
          <p:cNvSpPr/>
          <p:nvPr/>
        </p:nvSpPr>
        <p:spPr>
          <a:xfrm>
            <a:off x="823943" y="1312397"/>
            <a:ext cx="2812337" cy="76272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latin typeface="Space Mono" panose="02010509030202000204" pitchFamily="49" charset="77"/>
              </a:rPr>
              <a:t>Code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5F8B49-2299-8694-9F1F-DF2E4F28BD73}"/>
              </a:ext>
            </a:extLst>
          </p:cNvPr>
          <p:cNvSpPr/>
          <p:nvPr/>
        </p:nvSpPr>
        <p:spPr>
          <a:xfrm>
            <a:off x="4987425" y="1312397"/>
            <a:ext cx="2812337" cy="76272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latin typeface="Space Mono" panose="02010509030202000204" pitchFamily="49" charset="77"/>
              </a:rPr>
              <a:t>Ideas</a:t>
            </a:r>
          </a:p>
        </p:txBody>
      </p:sp>
      <p:sp>
        <p:nvSpPr>
          <p:cNvPr id="99" name="Google Shape;99;p19">
            <a:extLst>
              <a:ext uri="{FF2B5EF4-FFF2-40B4-BE49-F238E27FC236}">
                <a16:creationId xmlns:a16="http://schemas.microsoft.com/office/drawing/2014/main" id="{A6CF6AA0-A594-231A-868E-52286540C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Fast. Decentralised. Unstructured.</a:t>
            </a:r>
            <a:endParaRPr/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93F4AE82-BFE0-F24B-891A-CD733ADE9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9194" y="2478640"/>
            <a:ext cx="914400" cy="914400"/>
          </a:xfrm>
          <a:prstGeom prst="rect">
            <a:avLst/>
          </a:prstGeom>
        </p:spPr>
      </p:pic>
      <p:pic>
        <p:nvPicPr>
          <p:cNvPr id="7" name="Graphic 6" descr="Lightbulb with solid fill">
            <a:extLst>
              <a:ext uri="{FF2B5EF4-FFF2-40B4-BE49-F238E27FC236}">
                <a16:creationId xmlns:a16="http://schemas.microsoft.com/office/drawing/2014/main" id="{A90E2501-586E-F7F7-02B9-5321E1D54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32" y="1622520"/>
            <a:ext cx="395555" cy="395555"/>
          </a:xfrm>
          <a:prstGeom prst="rect">
            <a:avLst/>
          </a:prstGeom>
        </p:spPr>
      </p:pic>
      <p:pic>
        <p:nvPicPr>
          <p:cNvPr id="9" name="Graphic 8" descr="Scroll with solid fill">
            <a:extLst>
              <a:ext uri="{FF2B5EF4-FFF2-40B4-BE49-F238E27FC236}">
                <a16:creationId xmlns:a16="http://schemas.microsoft.com/office/drawing/2014/main" id="{2CAD3677-DDED-4CE8-E343-5D80C01BD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5589" y="1622519"/>
            <a:ext cx="375007" cy="375007"/>
          </a:xfrm>
          <a:prstGeom prst="rect">
            <a:avLst/>
          </a:prstGeom>
        </p:spPr>
      </p:pic>
      <p:pic>
        <p:nvPicPr>
          <p:cNvPr id="11" name="Graphic 10" descr="Programmer female with solid fill">
            <a:extLst>
              <a:ext uri="{FF2B5EF4-FFF2-40B4-BE49-F238E27FC236}">
                <a16:creationId xmlns:a16="http://schemas.microsoft.com/office/drawing/2014/main" id="{30CC5D9C-0DBC-E2EE-53CD-7DE3D731B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5347" y="2477678"/>
            <a:ext cx="914400" cy="914400"/>
          </a:xfrm>
          <a:prstGeom prst="rect">
            <a:avLst/>
          </a:prstGeom>
        </p:spPr>
      </p:pic>
      <p:pic>
        <p:nvPicPr>
          <p:cNvPr id="12" name="Graphic 11" descr="Lightbulb with solid fill">
            <a:extLst>
              <a:ext uri="{FF2B5EF4-FFF2-40B4-BE49-F238E27FC236}">
                <a16:creationId xmlns:a16="http://schemas.microsoft.com/office/drawing/2014/main" id="{785EF0A5-C5CA-A0FB-6521-2C5C304A2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7887" y="1622520"/>
            <a:ext cx="395555" cy="395555"/>
          </a:xfrm>
          <a:prstGeom prst="rect">
            <a:avLst/>
          </a:prstGeom>
        </p:spPr>
      </p:pic>
      <p:pic>
        <p:nvPicPr>
          <p:cNvPr id="13" name="Graphic 12" descr="Scroll with solid fill">
            <a:extLst>
              <a:ext uri="{FF2B5EF4-FFF2-40B4-BE49-F238E27FC236}">
                <a16:creationId xmlns:a16="http://schemas.microsoft.com/office/drawing/2014/main" id="{9B76681D-B0CB-E6DA-9BFD-D0C1C32B6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8320" y="1622519"/>
            <a:ext cx="375007" cy="375007"/>
          </a:xfrm>
          <a:prstGeom prst="rect">
            <a:avLst/>
          </a:prstGeom>
        </p:spPr>
      </p:pic>
      <p:pic>
        <p:nvPicPr>
          <p:cNvPr id="17" name="Graphic 16" descr="Programmer male with solid fill">
            <a:extLst>
              <a:ext uri="{FF2B5EF4-FFF2-40B4-BE49-F238E27FC236}">
                <a16:creationId xmlns:a16="http://schemas.microsoft.com/office/drawing/2014/main" id="{761DB81B-5D18-9A6F-AA91-9B79E5AA7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5347" y="3482296"/>
            <a:ext cx="914400" cy="914400"/>
          </a:xfrm>
          <a:prstGeom prst="rect">
            <a:avLst/>
          </a:prstGeom>
        </p:spPr>
      </p:pic>
      <p:pic>
        <p:nvPicPr>
          <p:cNvPr id="18" name="Graphic 17" descr="Lightbulb with solid fill">
            <a:extLst>
              <a:ext uri="{FF2B5EF4-FFF2-40B4-BE49-F238E27FC236}">
                <a16:creationId xmlns:a16="http://schemas.microsoft.com/office/drawing/2014/main" id="{2B7D59EC-2BA2-D16C-9A5A-B51982DF6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1460" y="1622520"/>
            <a:ext cx="395555" cy="395555"/>
          </a:xfrm>
          <a:prstGeom prst="rect">
            <a:avLst/>
          </a:prstGeom>
        </p:spPr>
      </p:pic>
      <p:pic>
        <p:nvPicPr>
          <p:cNvPr id="19" name="Graphic 18" descr="Scroll with solid fill">
            <a:extLst>
              <a:ext uri="{FF2B5EF4-FFF2-40B4-BE49-F238E27FC236}">
                <a16:creationId xmlns:a16="http://schemas.microsoft.com/office/drawing/2014/main" id="{D3DA293C-DBFA-05F8-36B8-BDCA2876A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7409" y="1622519"/>
            <a:ext cx="375007" cy="375007"/>
          </a:xfrm>
          <a:prstGeom prst="rect">
            <a:avLst/>
          </a:prstGeom>
        </p:spPr>
      </p:pic>
      <p:pic>
        <p:nvPicPr>
          <p:cNvPr id="20" name="Graphic 19" descr="Programmer male with solid fill">
            <a:extLst>
              <a:ext uri="{FF2B5EF4-FFF2-40B4-BE49-F238E27FC236}">
                <a16:creationId xmlns:a16="http://schemas.microsoft.com/office/drawing/2014/main" id="{8269EBD7-2960-7873-6A24-D361BFE31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6277" y="2477678"/>
            <a:ext cx="914400" cy="914400"/>
          </a:xfrm>
          <a:prstGeom prst="rect">
            <a:avLst/>
          </a:prstGeom>
        </p:spPr>
      </p:pic>
      <p:pic>
        <p:nvPicPr>
          <p:cNvPr id="21" name="Graphic 20" descr="Lightbulb with solid fill">
            <a:extLst>
              <a:ext uri="{FF2B5EF4-FFF2-40B4-BE49-F238E27FC236}">
                <a16:creationId xmlns:a16="http://schemas.microsoft.com/office/drawing/2014/main" id="{01A43AAB-3A7B-62F6-493B-836D6729E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4674" y="1622520"/>
            <a:ext cx="395555" cy="395555"/>
          </a:xfrm>
          <a:prstGeom prst="rect">
            <a:avLst/>
          </a:prstGeom>
        </p:spPr>
      </p:pic>
      <p:pic>
        <p:nvPicPr>
          <p:cNvPr id="22" name="Graphic 21" descr="Scroll with solid fill">
            <a:extLst>
              <a:ext uri="{FF2B5EF4-FFF2-40B4-BE49-F238E27FC236}">
                <a16:creationId xmlns:a16="http://schemas.microsoft.com/office/drawing/2014/main" id="{015B16D9-A71F-CD43-B210-47EB665DBE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31" y="1622519"/>
            <a:ext cx="375007" cy="375007"/>
          </a:xfrm>
          <a:prstGeom prst="rect">
            <a:avLst/>
          </a:prstGeom>
        </p:spPr>
      </p:pic>
      <p:pic>
        <p:nvPicPr>
          <p:cNvPr id="24" name="Graphic 23" descr="Lightbulb with solid fill">
            <a:extLst>
              <a:ext uri="{FF2B5EF4-FFF2-40B4-BE49-F238E27FC236}">
                <a16:creationId xmlns:a16="http://schemas.microsoft.com/office/drawing/2014/main" id="{F9B7BE84-6DA2-FD74-14BC-7CD99D252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1818" y="1622520"/>
            <a:ext cx="395555" cy="395555"/>
          </a:xfrm>
          <a:prstGeom prst="rect">
            <a:avLst/>
          </a:prstGeom>
        </p:spPr>
      </p:pic>
      <p:pic>
        <p:nvPicPr>
          <p:cNvPr id="27" name="Graphic 26" descr="Lightbulb with solid fill">
            <a:extLst>
              <a:ext uri="{FF2B5EF4-FFF2-40B4-BE49-F238E27FC236}">
                <a16:creationId xmlns:a16="http://schemas.microsoft.com/office/drawing/2014/main" id="{9369CD68-5192-6367-7C0F-B0DA71F54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604" y="1622520"/>
            <a:ext cx="395555" cy="395555"/>
          </a:xfrm>
          <a:prstGeom prst="rect">
            <a:avLst/>
          </a:prstGeom>
        </p:spPr>
      </p:pic>
      <p:pic>
        <p:nvPicPr>
          <p:cNvPr id="35" name="Graphic 34" descr="Programmer male with solid fill">
            <a:extLst>
              <a:ext uri="{FF2B5EF4-FFF2-40B4-BE49-F238E27FC236}">
                <a16:creationId xmlns:a16="http://schemas.microsoft.com/office/drawing/2014/main" id="{8C02783A-346D-E009-D9FB-8EE27E8B9C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6277" y="3482296"/>
            <a:ext cx="914400" cy="914400"/>
          </a:xfrm>
          <a:prstGeom prst="rect">
            <a:avLst/>
          </a:prstGeom>
        </p:spPr>
      </p:pic>
      <p:pic>
        <p:nvPicPr>
          <p:cNvPr id="36" name="Graphic 35" descr="Lightbulb with solid fill">
            <a:extLst>
              <a:ext uri="{FF2B5EF4-FFF2-40B4-BE49-F238E27FC236}">
                <a16:creationId xmlns:a16="http://schemas.microsoft.com/office/drawing/2014/main" id="{90694C15-C8F8-A7F6-8986-A6DBCDE35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8246" y="1622520"/>
            <a:ext cx="395555" cy="395555"/>
          </a:xfrm>
          <a:prstGeom prst="rect">
            <a:avLst/>
          </a:prstGeom>
        </p:spPr>
      </p:pic>
      <p:pic>
        <p:nvPicPr>
          <p:cNvPr id="37" name="Graphic 36" descr="Scroll with solid fill">
            <a:extLst>
              <a:ext uri="{FF2B5EF4-FFF2-40B4-BE49-F238E27FC236}">
                <a16:creationId xmlns:a16="http://schemas.microsoft.com/office/drawing/2014/main" id="{95109BF1-4CC4-E5FF-AD16-871B154DD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6499" y="1622519"/>
            <a:ext cx="375007" cy="37500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82DB7EE-035F-5DF0-3F90-BF32D8DC3274}"/>
              </a:ext>
            </a:extLst>
          </p:cNvPr>
          <p:cNvGrpSpPr/>
          <p:nvPr/>
        </p:nvGrpSpPr>
        <p:grpSpPr>
          <a:xfrm>
            <a:off x="6526418" y="3482296"/>
            <a:ext cx="914400" cy="914400"/>
            <a:chOff x="6526418" y="3482296"/>
            <a:chExt cx="914400" cy="9144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5B609FE-D395-8AB1-1D76-FE535F75328E}"/>
                </a:ext>
              </a:extLst>
            </p:cNvPr>
            <p:cNvSpPr/>
            <p:nvPr/>
          </p:nvSpPr>
          <p:spPr>
            <a:xfrm>
              <a:off x="6832749" y="4121727"/>
              <a:ext cx="309489" cy="253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Programmer male with solid fill">
              <a:extLst>
                <a:ext uri="{FF2B5EF4-FFF2-40B4-BE49-F238E27FC236}">
                  <a16:creationId xmlns:a16="http://schemas.microsoft.com/office/drawing/2014/main" id="{C7E88BEA-5E7A-A33F-7026-1EE00A2779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26418" y="3482296"/>
              <a:ext cx="914400" cy="914400"/>
            </a:xfrm>
            <a:prstGeom prst="rect">
              <a:avLst/>
            </a:prstGeom>
          </p:spPr>
        </p:pic>
      </p:grpSp>
      <p:pic>
        <p:nvPicPr>
          <p:cNvPr id="47" name="Graphic 46" descr="Lightbulb with solid fill">
            <a:extLst>
              <a:ext uri="{FF2B5EF4-FFF2-40B4-BE49-F238E27FC236}">
                <a16:creationId xmlns:a16="http://schemas.microsoft.com/office/drawing/2014/main" id="{D15CA1CF-CF41-4693-A87F-6E2BB4B4D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5390" y="1622520"/>
            <a:ext cx="395555" cy="39555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D20DD1B-A220-7815-9E65-DBAD1B4FD367}"/>
              </a:ext>
            </a:extLst>
          </p:cNvPr>
          <p:cNvGrpSpPr/>
          <p:nvPr/>
        </p:nvGrpSpPr>
        <p:grpSpPr>
          <a:xfrm>
            <a:off x="6526418" y="2477678"/>
            <a:ext cx="914400" cy="914400"/>
            <a:chOff x="6526418" y="2477678"/>
            <a:chExt cx="914400" cy="914400"/>
          </a:xfrm>
        </p:grpSpPr>
        <p:pic>
          <p:nvPicPr>
            <p:cNvPr id="26" name="Graphic 25" descr="Programmer female with solid fill">
              <a:extLst>
                <a:ext uri="{FF2B5EF4-FFF2-40B4-BE49-F238E27FC236}">
                  <a16:creationId xmlns:a16="http://schemas.microsoft.com/office/drawing/2014/main" id="{A2690A01-CE3E-3FA1-1907-218DA8F265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26418" y="2477678"/>
              <a:ext cx="914400" cy="91440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A2213AB-87D8-F4D7-296F-749CBFA11989}"/>
                </a:ext>
              </a:extLst>
            </p:cNvPr>
            <p:cNvSpPr/>
            <p:nvPr/>
          </p:nvSpPr>
          <p:spPr>
            <a:xfrm>
              <a:off x="6828873" y="3104381"/>
              <a:ext cx="309489" cy="253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43DB7C-5AB0-E393-C9C4-44C88ABC82F5}"/>
              </a:ext>
            </a:extLst>
          </p:cNvPr>
          <p:cNvGrpSpPr/>
          <p:nvPr/>
        </p:nvGrpSpPr>
        <p:grpSpPr>
          <a:xfrm>
            <a:off x="5485237" y="3482296"/>
            <a:ext cx="914400" cy="914400"/>
            <a:chOff x="5485237" y="3482296"/>
            <a:chExt cx="914400" cy="914400"/>
          </a:xfrm>
        </p:grpSpPr>
        <p:pic>
          <p:nvPicPr>
            <p:cNvPr id="23" name="Graphic 22" descr="Programmer female with solid fill">
              <a:extLst>
                <a:ext uri="{FF2B5EF4-FFF2-40B4-BE49-F238E27FC236}">
                  <a16:creationId xmlns:a16="http://schemas.microsoft.com/office/drawing/2014/main" id="{15AF375A-ABB8-ECB9-3443-561A1B6232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5237" y="3482296"/>
              <a:ext cx="914400" cy="914400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BD2B49A-B826-182D-F3F3-CEEFD33EAF65}"/>
                </a:ext>
              </a:extLst>
            </p:cNvPr>
            <p:cNvSpPr/>
            <p:nvPr/>
          </p:nvSpPr>
          <p:spPr>
            <a:xfrm>
              <a:off x="5767776" y="4087860"/>
              <a:ext cx="309489" cy="253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AC45A3E-DDAB-98EA-CD0B-4984FAD0ADE8}"/>
              </a:ext>
            </a:extLst>
          </p:cNvPr>
          <p:cNvCxnSpPr>
            <a:cxnSpLocks/>
          </p:cNvCxnSpPr>
          <p:nvPr/>
        </p:nvCxnSpPr>
        <p:spPr>
          <a:xfrm flipH="1">
            <a:off x="3888823" y="1667876"/>
            <a:ext cx="801511" cy="0"/>
          </a:xfrm>
          <a:prstGeom prst="straightConnector1">
            <a:avLst/>
          </a:prstGeom>
          <a:ln w="57150">
            <a:solidFill>
              <a:srgbClr val="9B9B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526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NetOps </a:t>
            </a:r>
            <a:r>
              <a:rPr lang="en" dirty="0" err="1"/>
              <a:t>ToolBox</a:t>
            </a:r>
            <a:r>
              <a:rPr lang="en" dirty="0"/>
              <a:t> and the ATF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F0C2F8-2A8B-9845-430B-C6948F69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212" y="1330146"/>
            <a:ext cx="3191571" cy="404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BAEAB6-5E99-95D0-269F-5C9C8531C468}"/>
              </a:ext>
            </a:extLst>
          </p:cNvPr>
          <p:cNvSpPr txBox="1"/>
          <p:nvPr/>
        </p:nvSpPr>
        <p:spPr>
          <a:xfrm>
            <a:off x="1115307" y="215293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82EC"/>
                </a:solidFill>
                <a:latin typeface="Space Mono" panose="02010509030202000204" pitchFamily="49" charset="77"/>
              </a:rPr>
              <a:t>Incidents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6CED1-7A9B-4E59-72CD-411ACD0E3DDD}"/>
              </a:ext>
            </a:extLst>
          </p:cNvPr>
          <p:cNvSpPr txBox="1"/>
          <p:nvPr/>
        </p:nvSpPr>
        <p:spPr>
          <a:xfrm>
            <a:off x="1136342" y="269559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82EC"/>
                </a:solidFill>
                <a:latin typeface="Space Mono" panose="02010509030202000204" pitchFamily="49" charset="77"/>
              </a:rPr>
              <a:t>Requests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584D2-9C48-09B3-919C-E7CA6BDF5B6D}"/>
              </a:ext>
            </a:extLst>
          </p:cNvPr>
          <p:cNvSpPr txBox="1"/>
          <p:nvPr/>
        </p:nvSpPr>
        <p:spPr>
          <a:xfrm>
            <a:off x="1115307" y="3237251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82EC"/>
                </a:solidFill>
                <a:latin typeface="Space Mono" panose="02010509030202000204" pitchFamily="49" charset="77"/>
              </a:rPr>
              <a:t>feedback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9AE23-8C46-4EF2-7AC1-B3F0903F3402}"/>
              </a:ext>
            </a:extLst>
          </p:cNvPr>
          <p:cNvSpPr txBox="1"/>
          <p:nvPr/>
        </p:nvSpPr>
        <p:spPr>
          <a:xfrm>
            <a:off x="1136342" y="3747010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82EC"/>
                </a:solidFill>
                <a:latin typeface="Space Mono" panose="02010509030202000204" pitchFamily="49" charset="77"/>
              </a:rPr>
              <a:t>Pain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0DD54-DAA6-E2E1-FD06-7FAB329651A4}"/>
              </a:ext>
            </a:extLst>
          </p:cNvPr>
          <p:cNvSpPr txBox="1"/>
          <p:nvPr/>
        </p:nvSpPr>
        <p:spPr>
          <a:xfrm>
            <a:off x="3788986" y="4517100"/>
            <a:ext cx="1622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Space Mono" panose="02010509030202000204" pitchFamily="49" charset="77"/>
              </a:rPr>
              <a:t>Collaboration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D63EF-B6B3-7968-88A1-0AD62C88336A}"/>
              </a:ext>
            </a:extLst>
          </p:cNvPr>
          <p:cNvSpPr txBox="1"/>
          <p:nvPr/>
        </p:nvSpPr>
        <p:spPr>
          <a:xfrm>
            <a:off x="6659266" y="215116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  <a:latin typeface="Space Mono" panose="02010509030202000204" pitchFamily="49" charset="77"/>
              </a:rPr>
              <a:t>Reliability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1B934-6705-F600-4D3D-34BB5AAC9C08}"/>
              </a:ext>
            </a:extLst>
          </p:cNvPr>
          <p:cNvSpPr txBox="1"/>
          <p:nvPr/>
        </p:nvSpPr>
        <p:spPr>
          <a:xfrm>
            <a:off x="6659264" y="272028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  <a:latin typeface="Space Mono" panose="02010509030202000204" pitchFamily="49" charset="77"/>
              </a:rPr>
              <a:t>Speed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48E87-B445-7097-7279-DEDDA8ACE72D}"/>
              </a:ext>
            </a:extLst>
          </p:cNvPr>
          <p:cNvSpPr txBox="1"/>
          <p:nvPr/>
        </p:nvSpPr>
        <p:spPr>
          <a:xfrm>
            <a:off x="6656875" y="323399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  <a:latin typeface="Space Mono" panose="02010509030202000204" pitchFamily="49" charset="77"/>
              </a:rPr>
              <a:t>Standards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CCD29-4012-3D45-73FF-240FB436FD61}"/>
              </a:ext>
            </a:extLst>
          </p:cNvPr>
          <p:cNvSpPr txBox="1"/>
          <p:nvPr/>
        </p:nvSpPr>
        <p:spPr>
          <a:xfrm>
            <a:off x="6659266" y="375474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  <a:latin typeface="Space Mono" panose="02010509030202000204" pitchFamily="49" charset="77"/>
              </a:rPr>
              <a:t>QoL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7714FC-295D-3761-70A8-B167EACFB9C9}"/>
              </a:ext>
            </a:extLst>
          </p:cNvPr>
          <p:cNvSpPr/>
          <p:nvPr/>
        </p:nvSpPr>
        <p:spPr>
          <a:xfrm>
            <a:off x="2932394" y="4350902"/>
            <a:ext cx="3300984" cy="620687"/>
          </a:xfrm>
          <a:prstGeom prst="round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F9BAF7-1DE3-B98D-0355-C0BB5C12C8CA}"/>
              </a:ext>
            </a:extLst>
          </p:cNvPr>
          <p:cNvSpPr/>
          <p:nvPr/>
        </p:nvSpPr>
        <p:spPr>
          <a:xfrm>
            <a:off x="3996265" y="2511643"/>
            <a:ext cx="1151467" cy="1151467"/>
          </a:xfrm>
          <a:prstGeom prst="ellipse">
            <a:avLst/>
          </a:prstGeom>
          <a:noFill/>
          <a:ln w="63500">
            <a:gradFill>
              <a:gsLst>
                <a:gs pos="36000">
                  <a:srgbClr val="00B050"/>
                </a:gs>
                <a:gs pos="0">
                  <a:srgbClr val="FFFF00"/>
                </a:gs>
                <a:gs pos="71000">
                  <a:srgbClr val="0070C0"/>
                </a:gs>
                <a:gs pos="100000">
                  <a:srgbClr val="7030A0"/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BB97F9-A2BA-26BE-3C00-790B1F0CCA04}"/>
              </a:ext>
            </a:extLst>
          </p:cNvPr>
          <p:cNvSpPr txBox="1"/>
          <p:nvPr/>
        </p:nvSpPr>
        <p:spPr>
          <a:xfrm>
            <a:off x="4310548" y="3294297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pace Mono" panose="02010509030202000204" pitchFamily="49" charset="77"/>
              </a:rPr>
              <a:t>ATF</a:t>
            </a:r>
          </a:p>
        </p:txBody>
      </p:sp>
      <p:pic>
        <p:nvPicPr>
          <p:cNvPr id="22" name="Graphic 21" descr="Programmer female outline">
            <a:extLst>
              <a:ext uri="{FF2B5EF4-FFF2-40B4-BE49-F238E27FC236}">
                <a16:creationId xmlns:a16="http://schemas.microsoft.com/office/drawing/2014/main" id="{8A9452D6-6147-C945-2C6E-523D0A06F5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4696" y="2860113"/>
            <a:ext cx="334604" cy="334604"/>
          </a:xfrm>
          <a:prstGeom prst="rect">
            <a:avLst/>
          </a:prstGeom>
        </p:spPr>
      </p:pic>
      <p:pic>
        <p:nvPicPr>
          <p:cNvPr id="24" name="Graphic 23" descr="Programmer male outline">
            <a:extLst>
              <a:ext uri="{FF2B5EF4-FFF2-40B4-BE49-F238E27FC236}">
                <a16:creationId xmlns:a16="http://schemas.microsoft.com/office/drawing/2014/main" id="{DB81410E-93B6-F54E-E404-37720EE49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3027" y="2768339"/>
            <a:ext cx="296426" cy="296426"/>
          </a:xfrm>
          <a:prstGeom prst="rect">
            <a:avLst/>
          </a:prstGeom>
        </p:spPr>
      </p:pic>
      <p:pic>
        <p:nvPicPr>
          <p:cNvPr id="25" name="Graphic 24" descr="Programmer male outline">
            <a:extLst>
              <a:ext uri="{FF2B5EF4-FFF2-40B4-BE49-F238E27FC236}">
                <a16:creationId xmlns:a16="http://schemas.microsoft.com/office/drawing/2014/main" id="{65BC5755-79A4-B649-D241-8BF121CCEF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0266" y="2768339"/>
            <a:ext cx="296426" cy="296426"/>
          </a:xfrm>
          <a:prstGeom prst="rect">
            <a:avLst/>
          </a:prstGeom>
        </p:spPr>
      </p:pic>
      <p:pic>
        <p:nvPicPr>
          <p:cNvPr id="27" name="Graphic 26" descr="Siren with solid fill">
            <a:extLst>
              <a:ext uri="{FF2B5EF4-FFF2-40B4-BE49-F238E27FC236}">
                <a16:creationId xmlns:a16="http://schemas.microsoft.com/office/drawing/2014/main" id="{1DC2B678-B678-FF07-3674-C5721806E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301" y="2152939"/>
            <a:ext cx="306000" cy="306000"/>
          </a:xfrm>
          <a:prstGeom prst="rect">
            <a:avLst/>
          </a:prstGeom>
        </p:spPr>
      </p:pic>
      <p:pic>
        <p:nvPicPr>
          <p:cNvPr id="29" name="Graphic 28" descr="Questions outline">
            <a:extLst>
              <a:ext uri="{FF2B5EF4-FFF2-40B4-BE49-F238E27FC236}">
                <a16:creationId xmlns:a16="http://schemas.microsoft.com/office/drawing/2014/main" id="{18E98BEE-CC17-4F7F-88F2-F8F896A8B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301" y="3223294"/>
            <a:ext cx="306000" cy="306000"/>
          </a:xfrm>
          <a:prstGeom prst="rect">
            <a:avLst/>
          </a:prstGeom>
        </p:spPr>
      </p:pic>
      <p:pic>
        <p:nvPicPr>
          <p:cNvPr id="31" name="Graphic 30" descr="Stethoscope with solid fill">
            <a:extLst>
              <a:ext uri="{FF2B5EF4-FFF2-40B4-BE49-F238E27FC236}">
                <a16:creationId xmlns:a16="http://schemas.microsoft.com/office/drawing/2014/main" id="{071966F7-1E9F-2393-150D-DEE52D3F1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301" y="3754745"/>
            <a:ext cx="306000" cy="306000"/>
          </a:xfrm>
          <a:prstGeom prst="rect">
            <a:avLst/>
          </a:prstGeom>
        </p:spPr>
      </p:pic>
      <p:pic>
        <p:nvPicPr>
          <p:cNvPr id="35" name="Graphic 34" descr="Label outline">
            <a:extLst>
              <a:ext uri="{FF2B5EF4-FFF2-40B4-BE49-F238E27FC236}">
                <a16:creationId xmlns:a16="http://schemas.microsoft.com/office/drawing/2014/main" id="{EE87D8D0-787B-FD0F-E614-3017A94A7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301" y="2696481"/>
            <a:ext cx="306000" cy="306000"/>
          </a:xfrm>
          <a:prstGeom prst="rect">
            <a:avLst/>
          </a:prstGeom>
        </p:spPr>
      </p:pic>
      <p:pic>
        <p:nvPicPr>
          <p:cNvPr id="41" name="Graphic 40" descr="Continuous Improvement with solid fill">
            <a:extLst>
              <a:ext uri="{FF2B5EF4-FFF2-40B4-BE49-F238E27FC236}">
                <a16:creationId xmlns:a16="http://schemas.microsoft.com/office/drawing/2014/main" id="{6E695626-D5B4-61F0-45CC-83BA61C53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5437" y="2149344"/>
            <a:ext cx="306000" cy="306000"/>
          </a:xfrm>
          <a:prstGeom prst="rect">
            <a:avLst/>
          </a:prstGeom>
        </p:spPr>
      </p:pic>
      <p:pic>
        <p:nvPicPr>
          <p:cNvPr id="45" name="Graphic 44" descr="Run outline">
            <a:extLst>
              <a:ext uri="{FF2B5EF4-FFF2-40B4-BE49-F238E27FC236}">
                <a16:creationId xmlns:a16="http://schemas.microsoft.com/office/drawing/2014/main" id="{5C5CC21F-C5A1-3660-6F1C-45719399F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5437" y="2682402"/>
            <a:ext cx="306000" cy="306000"/>
          </a:xfrm>
          <a:prstGeom prst="rect">
            <a:avLst/>
          </a:prstGeom>
        </p:spPr>
      </p:pic>
      <p:pic>
        <p:nvPicPr>
          <p:cNvPr id="51" name="Graphic 50" descr="CheckList outline">
            <a:extLst>
              <a:ext uri="{FF2B5EF4-FFF2-40B4-BE49-F238E27FC236}">
                <a16:creationId xmlns:a16="http://schemas.microsoft.com/office/drawing/2014/main" id="{1CBD66D2-8243-1F14-39FC-62E3E41F69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5437" y="3226262"/>
            <a:ext cx="306000" cy="306000"/>
          </a:xfrm>
          <a:prstGeom prst="rect">
            <a:avLst/>
          </a:prstGeom>
        </p:spPr>
      </p:pic>
      <p:pic>
        <p:nvPicPr>
          <p:cNvPr id="53" name="Graphic 52" descr="Head with gears with solid fill">
            <a:extLst>
              <a:ext uri="{FF2B5EF4-FFF2-40B4-BE49-F238E27FC236}">
                <a16:creationId xmlns:a16="http://schemas.microsoft.com/office/drawing/2014/main" id="{4C8E6097-EB06-7375-76D3-C6D9B7F71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75437" y="3765376"/>
            <a:ext cx="306000" cy="306000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72A14E-C018-5BD9-C0C7-F8F72F780620}"/>
              </a:ext>
            </a:extLst>
          </p:cNvPr>
          <p:cNvCxnSpPr/>
          <p:nvPr/>
        </p:nvCxnSpPr>
        <p:spPr>
          <a:xfrm>
            <a:off x="4571998" y="1917498"/>
            <a:ext cx="0" cy="2646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7A402E1-9093-04A0-24D3-4962F7335AD8}"/>
              </a:ext>
            </a:extLst>
          </p:cNvPr>
          <p:cNvCxnSpPr/>
          <p:nvPr/>
        </p:nvCxnSpPr>
        <p:spPr>
          <a:xfrm>
            <a:off x="4571998" y="4023470"/>
            <a:ext cx="0" cy="2646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228718-3A88-0093-720D-8C2886E6FA13}"/>
              </a:ext>
            </a:extLst>
          </p:cNvPr>
          <p:cNvCxnSpPr>
            <a:cxnSpLocks/>
          </p:cNvCxnSpPr>
          <p:nvPr/>
        </p:nvCxnSpPr>
        <p:spPr>
          <a:xfrm>
            <a:off x="3389527" y="2327196"/>
            <a:ext cx="0" cy="1606553"/>
          </a:xfrm>
          <a:prstGeom prst="line">
            <a:avLst/>
          </a:prstGeom>
          <a:ln w="28575" cap="rnd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BBE0161-DC4C-37F5-0CC1-A12491C3F07A}"/>
              </a:ext>
            </a:extLst>
          </p:cNvPr>
          <p:cNvCxnSpPr/>
          <p:nvPr/>
        </p:nvCxnSpPr>
        <p:spPr>
          <a:xfrm flipH="1">
            <a:off x="3000528" y="2327196"/>
            <a:ext cx="388999" cy="0"/>
          </a:xfrm>
          <a:prstGeom prst="line">
            <a:avLst/>
          </a:prstGeom>
          <a:ln w="28575" cap="rnd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732D725-5EDB-AFF8-BC5B-B480313EFB0A}"/>
              </a:ext>
            </a:extLst>
          </p:cNvPr>
          <p:cNvCxnSpPr/>
          <p:nvPr/>
        </p:nvCxnSpPr>
        <p:spPr>
          <a:xfrm flipH="1">
            <a:off x="3000527" y="3933749"/>
            <a:ext cx="388999" cy="0"/>
          </a:xfrm>
          <a:prstGeom prst="line">
            <a:avLst/>
          </a:prstGeom>
          <a:ln w="28575" cap="rnd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6BF4F30-5E3A-1C05-ECE0-45592220D3D4}"/>
              </a:ext>
            </a:extLst>
          </p:cNvPr>
          <p:cNvCxnSpPr/>
          <p:nvPr/>
        </p:nvCxnSpPr>
        <p:spPr>
          <a:xfrm flipH="1">
            <a:off x="3000527" y="2874171"/>
            <a:ext cx="388999" cy="0"/>
          </a:xfrm>
          <a:prstGeom prst="line">
            <a:avLst/>
          </a:prstGeom>
          <a:ln w="28575" cap="rnd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7D2443B-53DC-50C5-60AA-2BEFE3CC3AD3}"/>
              </a:ext>
            </a:extLst>
          </p:cNvPr>
          <p:cNvCxnSpPr/>
          <p:nvPr/>
        </p:nvCxnSpPr>
        <p:spPr>
          <a:xfrm flipH="1">
            <a:off x="3000526" y="3411335"/>
            <a:ext cx="388999" cy="0"/>
          </a:xfrm>
          <a:prstGeom prst="line">
            <a:avLst/>
          </a:prstGeom>
          <a:ln w="28575" cap="rnd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6B3E410-EB2D-5766-2C1D-90E08C28A708}"/>
              </a:ext>
            </a:extLst>
          </p:cNvPr>
          <p:cNvCxnSpPr>
            <a:cxnSpLocks/>
          </p:cNvCxnSpPr>
          <p:nvPr/>
        </p:nvCxnSpPr>
        <p:spPr>
          <a:xfrm flipH="1">
            <a:off x="3389525" y="3130447"/>
            <a:ext cx="266400" cy="0"/>
          </a:xfrm>
          <a:prstGeom prst="line">
            <a:avLst/>
          </a:prstGeom>
          <a:ln w="28575" cap="rnd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D52F020-E4CE-30F7-280E-507D987CC6C0}"/>
              </a:ext>
            </a:extLst>
          </p:cNvPr>
          <p:cNvCxnSpPr>
            <a:cxnSpLocks/>
          </p:cNvCxnSpPr>
          <p:nvPr/>
        </p:nvCxnSpPr>
        <p:spPr>
          <a:xfrm flipV="1">
            <a:off x="5738281" y="2300527"/>
            <a:ext cx="0" cy="1586786"/>
          </a:xfrm>
          <a:prstGeom prst="line">
            <a:avLst/>
          </a:prstGeom>
          <a:ln w="28575" cap="rnd">
            <a:solidFill>
              <a:srgbClr val="00B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FF7FC8F-C098-328D-1DCA-AF28FCE8101D}"/>
              </a:ext>
            </a:extLst>
          </p:cNvPr>
          <p:cNvCxnSpPr>
            <a:cxnSpLocks/>
          </p:cNvCxnSpPr>
          <p:nvPr/>
        </p:nvCxnSpPr>
        <p:spPr>
          <a:xfrm flipV="1">
            <a:off x="5738281" y="2300527"/>
            <a:ext cx="388999" cy="0"/>
          </a:xfrm>
          <a:prstGeom prst="line">
            <a:avLst/>
          </a:prstGeom>
          <a:ln w="28575" cap="rnd">
            <a:solidFill>
              <a:srgbClr val="00B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37E65DC-2257-81DB-6627-20986D2F4047}"/>
              </a:ext>
            </a:extLst>
          </p:cNvPr>
          <p:cNvCxnSpPr>
            <a:cxnSpLocks/>
          </p:cNvCxnSpPr>
          <p:nvPr/>
        </p:nvCxnSpPr>
        <p:spPr>
          <a:xfrm flipV="1">
            <a:off x="5738282" y="3887313"/>
            <a:ext cx="388999" cy="0"/>
          </a:xfrm>
          <a:prstGeom prst="line">
            <a:avLst/>
          </a:prstGeom>
          <a:ln w="28575" cap="rnd">
            <a:solidFill>
              <a:srgbClr val="00B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3CD5F57-22CD-478D-55D2-434C959182E3}"/>
              </a:ext>
            </a:extLst>
          </p:cNvPr>
          <p:cNvCxnSpPr>
            <a:cxnSpLocks/>
          </p:cNvCxnSpPr>
          <p:nvPr/>
        </p:nvCxnSpPr>
        <p:spPr>
          <a:xfrm flipV="1">
            <a:off x="5738282" y="2834093"/>
            <a:ext cx="388999" cy="0"/>
          </a:xfrm>
          <a:prstGeom prst="line">
            <a:avLst/>
          </a:prstGeom>
          <a:ln w="28575" cap="rnd">
            <a:solidFill>
              <a:srgbClr val="00B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3921D59-F587-B152-0F8A-EB326130A6C7}"/>
              </a:ext>
            </a:extLst>
          </p:cNvPr>
          <p:cNvCxnSpPr>
            <a:cxnSpLocks/>
          </p:cNvCxnSpPr>
          <p:nvPr/>
        </p:nvCxnSpPr>
        <p:spPr>
          <a:xfrm flipV="1">
            <a:off x="5738283" y="3387408"/>
            <a:ext cx="388999" cy="0"/>
          </a:xfrm>
          <a:prstGeom prst="line">
            <a:avLst/>
          </a:prstGeom>
          <a:ln w="28575" cap="rnd">
            <a:solidFill>
              <a:srgbClr val="00B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F3124BB-9498-8EE0-264D-98ADA3D1AF2F}"/>
              </a:ext>
            </a:extLst>
          </p:cNvPr>
          <p:cNvCxnSpPr>
            <a:cxnSpLocks/>
          </p:cNvCxnSpPr>
          <p:nvPr/>
        </p:nvCxnSpPr>
        <p:spPr>
          <a:xfrm>
            <a:off x="5459139" y="3110961"/>
            <a:ext cx="261693" cy="0"/>
          </a:xfrm>
          <a:prstGeom prst="line">
            <a:avLst/>
          </a:prstGeom>
          <a:ln w="28575" cap="rnd">
            <a:solidFill>
              <a:srgbClr val="00B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33F07F89-9E01-F27D-2F5C-59F71C389C4C}"/>
              </a:ext>
            </a:extLst>
          </p:cNvPr>
          <p:cNvSpPr/>
          <p:nvPr/>
        </p:nvSpPr>
        <p:spPr>
          <a:xfrm>
            <a:off x="717169" y="2113636"/>
            <a:ext cx="398137" cy="398137"/>
          </a:xfrm>
          <a:prstGeom prst="ellipse">
            <a:avLst/>
          </a:prstGeom>
          <a:noFill/>
          <a:ln w="28575">
            <a:solidFill>
              <a:srgbClr val="008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B8620F1-5C6B-74BA-D7FE-4DEA7A21630B}"/>
              </a:ext>
            </a:extLst>
          </p:cNvPr>
          <p:cNvSpPr/>
          <p:nvPr/>
        </p:nvSpPr>
        <p:spPr>
          <a:xfrm>
            <a:off x="717168" y="2643469"/>
            <a:ext cx="398137" cy="398137"/>
          </a:xfrm>
          <a:prstGeom prst="ellipse">
            <a:avLst/>
          </a:prstGeom>
          <a:noFill/>
          <a:ln w="28575">
            <a:solidFill>
              <a:srgbClr val="008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3CB1B0B-1DDC-AE36-62F0-185C6A7AC898}"/>
              </a:ext>
            </a:extLst>
          </p:cNvPr>
          <p:cNvSpPr/>
          <p:nvPr/>
        </p:nvSpPr>
        <p:spPr>
          <a:xfrm>
            <a:off x="726308" y="3177225"/>
            <a:ext cx="398137" cy="398137"/>
          </a:xfrm>
          <a:prstGeom prst="ellipse">
            <a:avLst/>
          </a:prstGeom>
          <a:noFill/>
          <a:ln w="28575">
            <a:solidFill>
              <a:srgbClr val="008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C4E7E83-7E4E-21E6-5B92-641A9B34EF84}"/>
              </a:ext>
            </a:extLst>
          </p:cNvPr>
          <p:cNvSpPr/>
          <p:nvPr/>
        </p:nvSpPr>
        <p:spPr>
          <a:xfrm>
            <a:off x="726307" y="3707058"/>
            <a:ext cx="398137" cy="398137"/>
          </a:xfrm>
          <a:prstGeom prst="ellipse">
            <a:avLst/>
          </a:prstGeom>
          <a:noFill/>
          <a:ln w="28575">
            <a:solidFill>
              <a:srgbClr val="008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94EDA2E-9BFC-C89E-E8ED-C29F57222734}"/>
              </a:ext>
            </a:extLst>
          </p:cNvPr>
          <p:cNvSpPr/>
          <p:nvPr/>
        </p:nvSpPr>
        <p:spPr>
          <a:xfrm>
            <a:off x="6232271" y="2101458"/>
            <a:ext cx="398137" cy="39813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9C0EFF6-3381-C4FA-93AC-FA9055C455A2}"/>
              </a:ext>
            </a:extLst>
          </p:cNvPr>
          <p:cNvSpPr/>
          <p:nvPr/>
        </p:nvSpPr>
        <p:spPr>
          <a:xfrm>
            <a:off x="6232271" y="2642146"/>
            <a:ext cx="398137" cy="39813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F1613A8-3EA2-DD97-B470-EC79D5B27E8F}"/>
              </a:ext>
            </a:extLst>
          </p:cNvPr>
          <p:cNvSpPr/>
          <p:nvPr/>
        </p:nvSpPr>
        <p:spPr>
          <a:xfrm>
            <a:off x="6232271" y="3177224"/>
            <a:ext cx="398137" cy="39813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623455F-2681-B294-15B7-64ED7064B518}"/>
              </a:ext>
            </a:extLst>
          </p:cNvPr>
          <p:cNvSpPr/>
          <p:nvPr/>
        </p:nvSpPr>
        <p:spPr>
          <a:xfrm>
            <a:off x="6222214" y="3707058"/>
            <a:ext cx="398137" cy="39813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Crawl, Walk, Run</a:t>
            </a:r>
            <a:endParaRPr/>
          </a:p>
        </p:txBody>
      </p:sp>
      <p:pic>
        <p:nvPicPr>
          <p:cNvPr id="2" name="Graphic 1" descr="Run with solid fill">
            <a:extLst>
              <a:ext uri="{FF2B5EF4-FFF2-40B4-BE49-F238E27FC236}">
                <a16:creationId xmlns:a16="http://schemas.microsoft.com/office/drawing/2014/main" id="{77788834-E39D-8C02-D4FF-92EDBBA3B3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39" y="1947300"/>
            <a:ext cx="1567292" cy="1567292"/>
          </a:xfrm>
          <a:prstGeom prst="rect">
            <a:avLst/>
          </a:prstGeom>
        </p:spPr>
      </p:pic>
      <p:pic>
        <p:nvPicPr>
          <p:cNvPr id="3" name="Graphic 2" descr="Crawl with solid fill">
            <a:extLst>
              <a:ext uri="{FF2B5EF4-FFF2-40B4-BE49-F238E27FC236}">
                <a16:creationId xmlns:a16="http://schemas.microsoft.com/office/drawing/2014/main" id="{6B6E6C2B-E4D3-850C-69A0-5F431E711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1754" y="1941329"/>
            <a:ext cx="1567292" cy="1567292"/>
          </a:xfrm>
          <a:prstGeom prst="rect">
            <a:avLst/>
          </a:prstGeom>
        </p:spPr>
      </p:pic>
      <p:pic>
        <p:nvPicPr>
          <p:cNvPr id="4" name="Graphic 3" descr="Walk with solid fill">
            <a:extLst>
              <a:ext uri="{FF2B5EF4-FFF2-40B4-BE49-F238E27FC236}">
                <a16:creationId xmlns:a16="http://schemas.microsoft.com/office/drawing/2014/main" id="{BE984E75-7CAB-01AD-8968-874E7A672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5208" y="1941329"/>
            <a:ext cx="1567292" cy="1567292"/>
          </a:xfrm>
          <a:prstGeom prst="rect">
            <a:avLst/>
          </a:prstGeom>
        </p:spPr>
      </p:pic>
      <p:pic>
        <p:nvPicPr>
          <p:cNvPr id="8" name="Graphic 7" descr="Caret Right with solid fill">
            <a:extLst>
              <a:ext uri="{FF2B5EF4-FFF2-40B4-BE49-F238E27FC236}">
                <a16:creationId xmlns:a16="http://schemas.microsoft.com/office/drawing/2014/main" id="{71B7C36D-B22C-574A-9F48-086739BB2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9046" y="2267775"/>
            <a:ext cx="914400" cy="914400"/>
          </a:xfrm>
          <a:prstGeom prst="rect">
            <a:avLst/>
          </a:prstGeom>
        </p:spPr>
      </p:pic>
      <p:pic>
        <p:nvPicPr>
          <p:cNvPr id="9" name="Graphic 8" descr="Caret Right with solid fill">
            <a:extLst>
              <a:ext uri="{FF2B5EF4-FFF2-40B4-BE49-F238E27FC236}">
                <a16:creationId xmlns:a16="http://schemas.microsoft.com/office/drawing/2014/main" id="{F839CC8B-9A2B-09D3-D858-8537CDD39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2500" y="226777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Crawl</a:t>
            </a:r>
            <a:endParaRPr/>
          </a:p>
        </p:txBody>
      </p:sp>
      <p:pic>
        <p:nvPicPr>
          <p:cNvPr id="3" name="Graphic 2" descr="Crawl with solid fill">
            <a:extLst>
              <a:ext uri="{FF2B5EF4-FFF2-40B4-BE49-F238E27FC236}">
                <a16:creationId xmlns:a16="http://schemas.microsoft.com/office/drawing/2014/main" id="{3A52444E-3DB3-44F1-316A-711770BB7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0604" y="217875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389868-B6C6-3805-EBBF-686680DEE51E}"/>
              </a:ext>
            </a:extLst>
          </p:cNvPr>
          <p:cNvSpPr txBox="1"/>
          <p:nvPr/>
        </p:nvSpPr>
        <p:spPr>
          <a:xfrm>
            <a:off x="685800" y="1188720"/>
            <a:ext cx="5307607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 dirty="0">
                <a:solidFill>
                  <a:srgbClr val="D8F000"/>
                </a:solidFill>
                <a:latin typeface="Space Mono" panose="02010509030202000204" pitchFamily="49" charset="77"/>
              </a:rPr>
              <a:t>Start where the </a:t>
            </a:r>
            <a:r>
              <a:rPr sz="2800" b="1" i="0" dirty="0">
                <a:solidFill>
                  <a:schemeClr val="bg1"/>
                </a:solidFill>
                <a:latin typeface="Space Mono" panose="02010509030202000204" pitchFamily="49" charset="77"/>
              </a:rPr>
              <a:t>toil</a:t>
            </a:r>
            <a:r>
              <a:rPr sz="2800" b="1" i="0" dirty="0">
                <a:solidFill>
                  <a:srgbClr val="D8F000"/>
                </a:solidFill>
                <a:latin typeface="Space Mono" panose="02010509030202000204" pitchFamily="49" charset="77"/>
              </a:rPr>
              <a:t> is.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E9AFB-1D4C-8B03-3544-AA2955903243}"/>
              </a:ext>
            </a:extLst>
          </p:cNvPr>
          <p:cNvSpPr txBox="1"/>
          <p:nvPr/>
        </p:nvSpPr>
        <p:spPr>
          <a:xfrm>
            <a:off x="713232" y="1691640"/>
            <a:ext cx="6452151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The first job was not architecture. </a:t>
            </a:r>
            <a:endParaRPr lang="en-AU" sz="1400" b="0" i="0" dirty="0">
              <a:solidFill>
                <a:srgbClr val="F5F5F5"/>
              </a:solidFill>
              <a:latin typeface="Space Mono" panose="02010509030202000204" pitchFamily="49" charset="77"/>
            </a:endParaRPr>
          </a:p>
          <a:p>
            <a:pPr algn="l"/>
            <a:r>
              <a:rPr sz="14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It was proving that small tools could make a shift easier.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411787-58A5-7679-AF71-C99F0EB121F5}"/>
              </a:ext>
            </a:extLst>
          </p:cNvPr>
          <p:cNvSpPr/>
          <p:nvPr/>
        </p:nvSpPr>
        <p:spPr>
          <a:xfrm>
            <a:off x="777240" y="2514600"/>
            <a:ext cx="2057400" cy="109728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2000" b="0">
                <a:solidFill>
                  <a:srgbClr val="F5F5F5"/>
                </a:solidFill>
                <a:latin typeface="Space Mono" panose="02010509030202000204" pitchFamily="49" charset="77"/>
              </a:rPr>
              <a:t>01
</a:t>
            </a:r>
            <a:r>
              <a:rPr sz="1500" b="1">
                <a:solidFill>
                  <a:srgbClr val="D8F000"/>
                </a:solidFill>
                <a:latin typeface="Space Mono" panose="02010509030202000204" pitchFamily="49" charset="77"/>
              </a:rPr>
              <a:t>Incident data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F5F5F5"/>
                </a:solidFill>
                <a:latin typeface="Space Mono" panose="02010509030202000204" pitchFamily="49" charset="77"/>
              </a:rPr>
              <a:t>fewer tabs, faster context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BD8A96-48ED-A783-4DF7-4A67C850619C}"/>
              </a:ext>
            </a:extLst>
          </p:cNvPr>
          <p:cNvSpPr/>
          <p:nvPr/>
        </p:nvSpPr>
        <p:spPr>
          <a:xfrm>
            <a:off x="3520440" y="2514600"/>
            <a:ext cx="2057400" cy="109728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2000" b="0">
                <a:solidFill>
                  <a:srgbClr val="F5F5F5"/>
                </a:solidFill>
                <a:latin typeface="Space Mono" panose="02010509030202000204" pitchFamily="49" charset="77"/>
              </a:rPr>
              <a:t>02
</a:t>
            </a:r>
            <a:r>
              <a:rPr sz="1500" b="1">
                <a:solidFill>
                  <a:srgbClr val="D8F000"/>
                </a:solidFill>
                <a:latin typeface="Space Mono" panose="02010509030202000204" pitchFamily="49" charset="77"/>
              </a:rPr>
              <a:t>Task execution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F5F5F5"/>
                </a:solidFill>
                <a:latin typeface="Space Mono" panose="02010509030202000204" pitchFamily="49" charset="77"/>
              </a:rPr>
              <a:t>repeat the boring parts safely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B74FAC7-D692-35A8-9C67-D0C29436C1B1}"/>
              </a:ext>
            </a:extLst>
          </p:cNvPr>
          <p:cNvSpPr/>
          <p:nvPr/>
        </p:nvSpPr>
        <p:spPr>
          <a:xfrm>
            <a:off x="6263640" y="2514600"/>
            <a:ext cx="2057400" cy="109728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2000" b="0" dirty="0">
                <a:solidFill>
                  <a:srgbClr val="F5F5F5"/>
                </a:solidFill>
                <a:latin typeface="Space Mono" panose="02010509030202000204" pitchFamily="49" charset="77"/>
              </a:rPr>
              <a:t>03
</a:t>
            </a:r>
            <a:r>
              <a:rPr lang="en-AU" sz="1500" b="1" dirty="0">
                <a:solidFill>
                  <a:srgbClr val="D8F000"/>
                </a:solidFill>
                <a:latin typeface="Space Mono" panose="02010509030202000204" pitchFamily="49" charset="77"/>
              </a:rPr>
              <a:t>Consistency</a:t>
            </a:r>
            <a:endParaRPr sz="1500" b="1" dirty="0">
              <a:solidFill>
                <a:srgbClr val="D8F000"/>
              </a:solidFill>
              <a:latin typeface="Space Mono" panose="02010509030202000204" pitchFamily="49" charset="77"/>
            </a:endParaRPr>
          </a:p>
          <a:p>
            <a:pPr algn="ctr">
              <a:spcBef>
                <a:spcPts val="400"/>
              </a:spcBef>
            </a:pPr>
            <a:r>
              <a:rPr lang="en-AU" sz="1000" b="0" dirty="0">
                <a:solidFill>
                  <a:srgbClr val="F5F5F5"/>
                </a:solidFill>
                <a:latin typeface="Space Mono" panose="02010509030202000204" pitchFamily="49" charset="77"/>
              </a:rPr>
              <a:t>again, and again, and again</a:t>
            </a:r>
            <a:endParaRPr sz="1000" b="0" dirty="0">
              <a:solidFill>
                <a:srgbClr val="F5F5F5"/>
              </a:solidFill>
              <a:latin typeface="Space Mono" panose="02010509030202000204" pitchFamily="49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9753CC-8DDE-7F85-E898-B484659A777B}"/>
              </a:ext>
            </a:extLst>
          </p:cNvPr>
          <p:cNvSpPr txBox="1"/>
          <p:nvPr/>
        </p:nvSpPr>
        <p:spPr>
          <a:xfrm>
            <a:off x="777240" y="4069080"/>
            <a:ext cx="5302798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Manual runbooks </a:t>
            </a:r>
            <a:r>
              <a:rPr lang="en-AU" sz="15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become</a:t>
            </a:r>
            <a:r>
              <a:rPr sz="15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 </a:t>
            </a:r>
            <a:r>
              <a:rPr lang="en-AU" sz="1500" dirty="0">
                <a:solidFill>
                  <a:srgbClr val="F5F5F5"/>
                </a:solidFill>
                <a:latin typeface="Space Mono" panose="02010509030202000204" pitchFamily="49" charset="77"/>
              </a:rPr>
              <a:t>automation blueprints</a:t>
            </a:r>
            <a:r>
              <a:rPr sz="15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.</a:t>
            </a:r>
          </a:p>
        </p:txBody>
      </p:sp>
      <p:pic>
        <p:nvPicPr>
          <p:cNvPr id="2" name="Graphic 1" descr="Caret Right with solid fill">
            <a:extLst>
              <a:ext uri="{FF2B5EF4-FFF2-40B4-BE49-F238E27FC236}">
                <a16:creationId xmlns:a16="http://schemas.microsoft.com/office/drawing/2014/main" id="{F6464369-9FD5-61EF-AD6D-28BFA5D74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074" y="2767774"/>
            <a:ext cx="590931" cy="590931"/>
          </a:xfrm>
          <a:prstGeom prst="rect">
            <a:avLst/>
          </a:prstGeom>
        </p:spPr>
      </p:pic>
      <p:pic>
        <p:nvPicPr>
          <p:cNvPr id="4" name="Graphic 3" descr="Caret Right with solid fill">
            <a:extLst>
              <a:ext uri="{FF2B5EF4-FFF2-40B4-BE49-F238E27FC236}">
                <a16:creationId xmlns:a16="http://schemas.microsoft.com/office/drawing/2014/main" id="{C2BB2BE4-97B5-6E54-81F5-3A2A058F5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274" y="2767773"/>
            <a:ext cx="590931" cy="5909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</a:t>
            </a:r>
            <a:endParaRPr/>
          </a:p>
        </p:txBody>
      </p:sp>
      <p:pic>
        <p:nvPicPr>
          <p:cNvPr id="2" name="Graphic 1" descr="Walk with solid fill">
            <a:extLst>
              <a:ext uri="{FF2B5EF4-FFF2-40B4-BE49-F238E27FC236}">
                <a16:creationId xmlns:a16="http://schemas.microsoft.com/office/drawing/2014/main" id="{CCEE1A8B-15C8-84FE-08DB-05AD518BF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7900" y="278437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915F5B-51A2-512D-5218-0E6212242A65}"/>
              </a:ext>
            </a:extLst>
          </p:cNvPr>
          <p:cNvSpPr txBox="1"/>
          <p:nvPr/>
        </p:nvSpPr>
        <p:spPr>
          <a:xfrm>
            <a:off x="501937" y="1151625"/>
            <a:ext cx="7654403" cy="37548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200" i="0" dirty="0">
                <a:solidFill>
                  <a:srgbClr val="D8F000"/>
                </a:solidFill>
                <a:latin typeface="Space Mono" panose="02010509030202000204" pitchFamily="49" charset="77"/>
              </a:rPr>
              <a:t>Pay down the debt without stopping delivery.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7742D4-5A7F-5651-818D-A714753FCE62}"/>
              </a:ext>
            </a:extLst>
          </p:cNvPr>
          <p:cNvSpPr/>
          <p:nvPr/>
        </p:nvSpPr>
        <p:spPr>
          <a:xfrm>
            <a:off x="785580" y="2356792"/>
            <a:ext cx="2926080" cy="205740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700" b="1" dirty="0">
                <a:solidFill>
                  <a:srgbClr val="D8F000"/>
                </a:solidFill>
                <a:latin typeface="Space Mono" panose="02010509030202000204" pitchFamily="49" charset="77"/>
              </a:rPr>
              <a:t>Before</a:t>
            </a:r>
            <a:endParaRPr lang="en-AU" sz="1700" b="1" dirty="0">
              <a:solidFill>
                <a:srgbClr val="D8F000"/>
              </a:solidFill>
              <a:latin typeface="Space Mono" panose="02010509030202000204" pitchFamily="49" charset="77"/>
            </a:endParaRPr>
          </a:p>
          <a:p>
            <a:pPr algn="ctr"/>
            <a:endParaRPr sz="1700" b="1" dirty="0">
              <a:solidFill>
                <a:srgbClr val="D8F000"/>
              </a:solidFill>
              <a:latin typeface="Space Mono" panose="02010509030202000204" pitchFamily="49" charset="77"/>
            </a:endParaRPr>
          </a:p>
          <a:p>
            <a:pPr algn="ctr">
              <a:spcBef>
                <a:spcPts val="400"/>
              </a:spcBef>
            </a:pP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monolith scripts
hard-coded dependencies
feature duplication
“works on my laptop”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C3FF93-2A7E-D02D-FC4D-65518AA10C23}"/>
              </a:ext>
            </a:extLst>
          </p:cNvPr>
          <p:cNvSpPr/>
          <p:nvPr/>
        </p:nvSpPr>
        <p:spPr>
          <a:xfrm>
            <a:off x="5449020" y="2356792"/>
            <a:ext cx="2926080" cy="205740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700" b="1" dirty="0">
                <a:solidFill>
                  <a:srgbClr val="D8F000"/>
                </a:solidFill>
                <a:latin typeface="Space Mono" panose="02010509030202000204" pitchFamily="49" charset="77"/>
              </a:rPr>
              <a:t>After</a:t>
            </a:r>
            <a:endParaRPr lang="en-AU" sz="1700" b="1" dirty="0">
              <a:solidFill>
                <a:srgbClr val="D8F000"/>
              </a:solidFill>
              <a:latin typeface="Space Mono" panose="02010509030202000204" pitchFamily="49" charset="77"/>
            </a:endParaRPr>
          </a:p>
          <a:p>
            <a:pPr algn="ctr"/>
            <a:endParaRPr sz="1700" b="1" dirty="0">
              <a:solidFill>
                <a:srgbClr val="D8F000"/>
              </a:solidFill>
              <a:latin typeface="Space Mono" panose="02010509030202000204" pitchFamily="49" charset="77"/>
            </a:endParaRPr>
          </a:p>
          <a:p>
            <a:pPr algn="ctr">
              <a:spcBef>
                <a:spcPts val="400"/>
              </a:spcBef>
            </a:pP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Python package
object </a:t>
            </a:r>
            <a:r>
              <a:rPr lang="en-AU"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oriented</a:t>
            </a:r>
            <a:r>
              <a:rPr sz="1100" b="0" dirty="0">
                <a:solidFill>
                  <a:srgbClr val="F5F5F5"/>
                </a:solidFill>
                <a:latin typeface="Space Mono" panose="02010509030202000204" pitchFamily="49" charset="77"/>
              </a:rPr>
              <a:t>
unit tests
shared interfaces</a:t>
            </a:r>
          </a:p>
        </p:txBody>
      </p:sp>
      <p:pic>
        <p:nvPicPr>
          <p:cNvPr id="4" name="Graphic 3" descr="Caret Right with solid fill">
            <a:extLst>
              <a:ext uri="{FF2B5EF4-FFF2-40B4-BE49-F238E27FC236}">
                <a16:creationId xmlns:a16="http://schemas.microsoft.com/office/drawing/2014/main" id="{790743E1-67EE-8073-D6B8-EBD471720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3140" y="292829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</a:t>
            </a:r>
            <a:endParaRPr/>
          </a:p>
        </p:txBody>
      </p:sp>
      <p:pic>
        <p:nvPicPr>
          <p:cNvPr id="3" name="Graphic 2" descr="Run with solid fill">
            <a:extLst>
              <a:ext uri="{FF2B5EF4-FFF2-40B4-BE49-F238E27FC236}">
                <a16:creationId xmlns:a16="http://schemas.microsoft.com/office/drawing/2014/main" id="{E5FB3F8F-A9B0-A2CE-10F9-43D55DC92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9696" y="274175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C39BD-01D5-2023-EE17-2EF62986821D}"/>
              </a:ext>
            </a:extLst>
          </p:cNvPr>
          <p:cNvSpPr txBox="1"/>
          <p:nvPr/>
        </p:nvSpPr>
        <p:spPr>
          <a:xfrm>
            <a:off x="502920" y="1143226"/>
            <a:ext cx="5961632" cy="59093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8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The tool moves from the operator’s laptop </a:t>
            </a:r>
            <a:endParaRPr lang="en-AU" sz="1800" b="0" i="0" dirty="0">
              <a:solidFill>
                <a:srgbClr val="F5F5F5"/>
              </a:solidFill>
              <a:latin typeface="Space Mono" panose="02010509030202000204" pitchFamily="49" charset="77"/>
            </a:endParaRPr>
          </a:p>
          <a:p>
            <a:pPr algn="l"/>
            <a:r>
              <a:rPr sz="18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to the workflow layer.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48503A-454E-81BE-6758-5EA4500705B2}"/>
              </a:ext>
            </a:extLst>
          </p:cNvPr>
          <p:cNvSpPr/>
          <p:nvPr/>
        </p:nvSpPr>
        <p:spPr>
          <a:xfrm>
            <a:off x="502920" y="2103120"/>
            <a:ext cx="1737360" cy="123444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800" b="0" dirty="0">
                <a:solidFill>
                  <a:srgbClr val="F5F5F5"/>
                </a:solidFill>
                <a:latin typeface="Space Mono" panose="02010509030202000204" pitchFamily="49" charset="77"/>
              </a:rPr>
              <a:t>01
</a:t>
            </a:r>
            <a:r>
              <a:rPr sz="1300" b="1" dirty="0">
                <a:solidFill>
                  <a:srgbClr val="D8F000"/>
                </a:solidFill>
                <a:latin typeface="Space Mono" panose="02010509030202000204" pitchFamily="49" charset="77"/>
              </a:rPr>
              <a:t>Signal</a:t>
            </a:r>
          </a:p>
          <a:p>
            <a:pPr algn="ctr">
              <a:spcBef>
                <a:spcPts val="400"/>
              </a:spcBef>
            </a:pPr>
            <a:r>
              <a:rPr sz="950" b="0" dirty="0">
                <a:solidFill>
                  <a:srgbClr val="F5F5F5"/>
                </a:solidFill>
                <a:latin typeface="Space Mono" panose="02010509030202000204" pitchFamily="49" charset="77"/>
              </a:rPr>
              <a:t>alert / ticket</a:t>
            </a:r>
            <a:r>
              <a:rPr lang="en-AU" sz="950" b="0" dirty="0">
                <a:solidFill>
                  <a:srgbClr val="F5F5F5"/>
                </a:solidFill>
                <a:latin typeface="Space Mono" panose="02010509030202000204" pitchFamily="49" charset="77"/>
              </a:rPr>
              <a:t> / </a:t>
            </a:r>
            <a:r>
              <a:rPr sz="950" b="0" dirty="0">
                <a:solidFill>
                  <a:srgbClr val="F5F5F5"/>
                </a:solidFill>
                <a:latin typeface="Space Mono" panose="02010509030202000204" pitchFamily="49" charset="77"/>
              </a:rPr>
              <a:t>event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25E165E-09A3-4927-D1FE-5EEC5191A59B}"/>
              </a:ext>
            </a:extLst>
          </p:cNvPr>
          <p:cNvSpPr/>
          <p:nvPr/>
        </p:nvSpPr>
        <p:spPr>
          <a:xfrm>
            <a:off x="2560320" y="2103120"/>
            <a:ext cx="1737360" cy="123444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800" b="0">
                <a:solidFill>
                  <a:srgbClr val="F5F5F5"/>
                </a:solidFill>
                <a:latin typeface="Space Mono" panose="02010509030202000204" pitchFamily="49" charset="77"/>
              </a:rPr>
              <a:t>02
</a:t>
            </a:r>
            <a:r>
              <a:rPr sz="1300" b="1">
                <a:solidFill>
                  <a:srgbClr val="D8F000"/>
                </a:solidFill>
                <a:latin typeface="Space Mono" panose="02010509030202000204" pitchFamily="49" charset="77"/>
              </a:rPr>
              <a:t>Workflow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F5F5F5"/>
                </a:solidFill>
                <a:latin typeface="Space Mono" panose="02010509030202000204" pitchFamily="49" charset="77"/>
              </a:rPr>
              <a:t>orchestrated decision path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67C327-25B6-61CC-6731-A98E550389C5}"/>
              </a:ext>
            </a:extLst>
          </p:cNvPr>
          <p:cNvSpPr/>
          <p:nvPr/>
        </p:nvSpPr>
        <p:spPr>
          <a:xfrm>
            <a:off x="4617720" y="2103120"/>
            <a:ext cx="1737360" cy="123444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800" b="0">
                <a:solidFill>
                  <a:srgbClr val="F5F5F5"/>
                </a:solidFill>
                <a:latin typeface="Space Mono" panose="02010509030202000204" pitchFamily="49" charset="77"/>
              </a:rPr>
              <a:t>03
</a:t>
            </a:r>
            <a:r>
              <a:rPr sz="1300" b="1">
                <a:solidFill>
                  <a:srgbClr val="D8F000"/>
                </a:solidFill>
                <a:latin typeface="Space Mono" panose="02010509030202000204" pitchFamily="49" charset="77"/>
              </a:rPr>
              <a:t>Action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F5F5F5"/>
                </a:solidFill>
                <a:latin typeface="Space Mono" panose="02010509030202000204" pitchFamily="49" charset="77"/>
              </a:rPr>
              <a:t>human-in-loop or automated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079910-4E93-F135-285B-8DB0A6E951F6}"/>
              </a:ext>
            </a:extLst>
          </p:cNvPr>
          <p:cNvSpPr/>
          <p:nvPr/>
        </p:nvSpPr>
        <p:spPr>
          <a:xfrm>
            <a:off x="6675120" y="2103120"/>
            <a:ext cx="1737360" cy="123444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800" b="0" dirty="0">
                <a:solidFill>
                  <a:srgbClr val="F5F5F5"/>
                </a:solidFill>
                <a:latin typeface="Space Mono" panose="02010509030202000204" pitchFamily="49" charset="77"/>
              </a:rPr>
              <a:t>04
</a:t>
            </a:r>
            <a:r>
              <a:rPr sz="1300" b="1" dirty="0">
                <a:solidFill>
                  <a:srgbClr val="D8F000"/>
                </a:solidFill>
                <a:latin typeface="Space Mono" panose="02010509030202000204" pitchFamily="49" charset="77"/>
              </a:rPr>
              <a:t>Verified</a:t>
            </a:r>
          </a:p>
          <a:p>
            <a:pPr algn="ctr">
              <a:spcBef>
                <a:spcPts val="400"/>
              </a:spcBef>
            </a:pPr>
            <a:r>
              <a:rPr sz="950" b="0" dirty="0">
                <a:solidFill>
                  <a:srgbClr val="F5F5F5"/>
                </a:solidFill>
                <a:latin typeface="Space Mono" panose="02010509030202000204" pitchFamily="49" charset="77"/>
              </a:rPr>
              <a:t>close the loop safely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A38DC5-FFC9-E1B9-CA3D-6F167FC714C7}"/>
              </a:ext>
            </a:extLst>
          </p:cNvPr>
          <p:cNvSpPr/>
          <p:nvPr/>
        </p:nvSpPr>
        <p:spPr>
          <a:xfrm>
            <a:off x="960120" y="3822191"/>
            <a:ext cx="2743200" cy="658368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300" b="1">
                <a:solidFill>
                  <a:srgbClr val="D8F000"/>
                </a:solidFill>
                <a:latin typeface="Space Mono" panose="02010509030202000204" pitchFamily="49" charset="77"/>
              </a:rPr>
              <a:t>Human-in-loop where risk exists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86FD34-F0FC-3A50-EB64-AF6A99352D5B}"/>
              </a:ext>
            </a:extLst>
          </p:cNvPr>
          <p:cNvSpPr/>
          <p:nvPr/>
        </p:nvSpPr>
        <p:spPr>
          <a:xfrm>
            <a:off x="5440680" y="3822191"/>
            <a:ext cx="2743200" cy="658368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300" b="1" dirty="0">
                <a:solidFill>
                  <a:srgbClr val="D8F000"/>
                </a:solidFill>
                <a:latin typeface="Space Mono" panose="02010509030202000204" pitchFamily="49" charset="77"/>
              </a:rPr>
              <a:t>Closed-loop </a:t>
            </a:r>
            <a:r>
              <a:rPr lang="en-AU" sz="1300" b="1" dirty="0">
                <a:solidFill>
                  <a:srgbClr val="D8F000"/>
                </a:solidFill>
                <a:latin typeface="Space Mono" panose="02010509030202000204" pitchFamily="49" charset="77"/>
              </a:rPr>
              <a:t>when</a:t>
            </a:r>
            <a:r>
              <a:rPr sz="1300" b="1" dirty="0">
                <a:solidFill>
                  <a:srgbClr val="D8F000"/>
                </a:solidFill>
                <a:latin typeface="Space Mono" panose="02010509030202000204" pitchFamily="49" charset="77"/>
              </a:rPr>
              <a:t> safe</a:t>
            </a:r>
          </a:p>
        </p:txBody>
      </p:sp>
      <p:pic>
        <p:nvPicPr>
          <p:cNvPr id="2" name="Graphic 1" descr="Caret Right with solid fill">
            <a:extLst>
              <a:ext uri="{FF2B5EF4-FFF2-40B4-BE49-F238E27FC236}">
                <a16:creationId xmlns:a16="http://schemas.microsoft.com/office/drawing/2014/main" id="{7749FF07-9EB3-E24D-05DE-5F6FC1729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2235" y="2424874"/>
            <a:ext cx="590931" cy="590931"/>
          </a:xfrm>
          <a:prstGeom prst="rect">
            <a:avLst/>
          </a:prstGeom>
        </p:spPr>
      </p:pic>
      <p:pic>
        <p:nvPicPr>
          <p:cNvPr id="4" name="Graphic 3" descr="Caret Right with solid fill">
            <a:extLst>
              <a:ext uri="{FF2B5EF4-FFF2-40B4-BE49-F238E27FC236}">
                <a16:creationId xmlns:a16="http://schemas.microsoft.com/office/drawing/2014/main" id="{9C77ADCD-3D2A-6048-E2D5-D84FE102E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3599" y="2450590"/>
            <a:ext cx="590931" cy="590931"/>
          </a:xfrm>
          <a:prstGeom prst="rect">
            <a:avLst/>
          </a:prstGeom>
        </p:spPr>
      </p:pic>
      <p:pic>
        <p:nvPicPr>
          <p:cNvPr id="15" name="Graphic 14" descr="Caret Right with solid fill">
            <a:extLst>
              <a:ext uri="{FF2B5EF4-FFF2-40B4-BE49-F238E27FC236}">
                <a16:creationId xmlns:a16="http://schemas.microsoft.com/office/drawing/2014/main" id="{52301F48-3D6C-F5D2-AB4F-E4E76B9F7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9635" y="2450591"/>
            <a:ext cx="590931" cy="5909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were we successful?</a:t>
            </a:r>
            <a:endParaRPr/>
          </a:p>
        </p:txBody>
      </p:sp>
      <p:pic>
        <p:nvPicPr>
          <p:cNvPr id="3" name="Graphic 2" descr="Aspiration with solid fill">
            <a:extLst>
              <a:ext uri="{FF2B5EF4-FFF2-40B4-BE49-F238E27FC236}">
                <a16:creationId xmlns:a16="http://schemas.microsoft.com/office/drawing/2014/main" id="{2C979EAB-C37F-BE31-C4F7-C98547236B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2275" y="274175"/>
            <a:ext cx="914400" cy="914400"/>
          </a:xfrm>
          <a:prstGeom prst="rect">
            <a:avLst/>
          </a:prstGeom>
        </p:spPr>
      </p:pic>
      <p:pic>
        <p:nvPicPr>
          <p:cNvPr id="4" name="Graphic 3" descr="Database outline">
            <a:extLst>
              <a:ext uri="{FF2B5EF4-FFF2-40B4-BE49-F238E27FC236}">
                <a16:creationId xmlns:a16="http://schemas.microsoft.com/office/drawing/2014/main" id="{3A6D70C4-F787-5462-1683-36D5C160B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255" y="2341072"/>
            <a:ext cx="914400" cy="914400"/>
          </a:xfrm>
          <a:prstGeom prst="rect">
            <a:avLst/>
          </a:prstGeom>
        </p:spPr>
      </p:pic>
      <p:pic>
        <p:nvPicPr>
          <p:cNvPr id="6" name="Graphic 5" descr="Right Brain with solid fill">
            <a:extLst>
              <a:ext uri="{FF2B5EF4-FFF2-40B4-BE49-F238E27FC236}">
                <a16:creationId xmlns:a16="http://schemas.microsoft.com/office/drawing/2014/main" id="{E01BFFA2-ED20-DD92-6CB6-6EE270ABC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1808" y="2341072"/>
            <a:ext cx="914400" cy="914400"/>
          </a:xfrm>
          <a:prstGeom prst="rect">
            <a:avLst/>
          </a:prstGeom>
        </p:spPr>
      </p:pic>
      <p:pic>
        <p:nvPicPr>
          <p:cNvPr id="8" name="Graphic 7" descr="Management with solid fill">
            <a:extLst>
              <a:ext uri="{FF2B5EF4-FFF2-40B4-BE49-F238E27FC236}">
                <a16:creationId xmlns:a16="http://schemas.microsoft.com/office/drawing/2014/main" id="{439888ED-DEB2-DAAC-3952-05387EEA5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4365" y="2341072"/>
            <a:ext cx="914400" cy="914400"/>
          </a:xfrm>
          <a:prstGeom prst="rect">
            <a:avLst/>
          </a:prstGeom>
        </p:spPr>
      </p:pic>
      <p:pic>
        <p:nvPicPr>
          <p:cNvPr id="12" name="Graphic 11" descr="Arrow circle with solid fill">
            <a:extLst>
              <a:ext uri="{FF2B5EF4-FFF2-40B4-BE49-F238E27FC236}">
                <a16:creationId xmlns:a16="http://schemas.microsoft.com/office/drawing/2014/main" id="{AD639F60-D174-9935-6962-CB7386053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8739" y="234107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8BF05F-8555-D124-A5BE-E95B3177016F}"/>
              </a:ext>
            </a:extLst>
          </p:cNvPr>
          <p:cNvSpPr txBox="1"/>
          <p:nvPr/>
        </p:nvSpPr>
        <p:spPr>
          <a:xfrm>
            <a:off x="531590" y="3369066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pace Mono" panose="02010509030202000204" pitchFamily="49" charset="77"/>
              </a:rPr>
              <a:t>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A6FA6-42B4-907A-B257-73EF9F0D6CF8}"/>
              </a:ext>
            </a:extLst>
          </p:cNvPr>
          <p:cNvSpPr txBox="1"/>
          <p:nvPr/>
        </p:nvSpPr>
        <p:spPr>
          <a:xfrm>
            <a:off x="1756845" y="3375711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pace Mono" panose="02010509030202000204" pitchFamily="49" charset="77"/>
              </a:rPr>
              <a:t>Passion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CD227-5608-B54F-1C6D-FE2218DF0FD0}"/>
              </a:ext>
            </a:extLst>
          </p:cNvPr>
          <p:cNvSpPr txBox="1"/>
          <p:nvPr/>
        </p:nvSpPr>
        <p:spPr>
          <a:xfrm>
            <a:off x="3479402" y="3375711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pace Mono" panose="02010509030202000204" pitchFamily="49" charset="77"/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1981C8-6D54-EFFE-E2A3-EF4E175585F0}"/>
              </a:ext>
            </a:extLst>
          </p:cNvPr>
          <p:cNvSpPr txBox="1"/>
          <p:nvPr/>
        </p:nvSpPr>
        <p:spPr>
          <a:xfrm>
            <a:off x="4885229" y="3375711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pace Mono" panose="02010509030202000204" pitchFamily="49" charset="77"/>
              </a:rPr>
              <a:t>Feedback</a:t>
            </a:r>
          </a:p>
        </p:txBody>
      </p:sp>
      <p:pic>
        <p:nvPicPr>
          <p:cNvPr id="22" name="Graphic 21" descr="Aspiration with solid fill">
            <a:extLst>
              <a:ext uri="{FF2B5EF4-FFF2-40B4-BE49-F238E27FC236}">
                <a16:creationId xmlns:a16="http://schemas.microsoft.com/office/drawing/2014/main" id="{162DB560-C6A1-0C3B-16FE-051A0F7F37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5075" y="2341072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AA6B78-8F49-1C22-CE85-6BA8044C63B8}"/>
              </a:ext>
            </a:extLst>
          </p:cNvPr>
          <p:cNvSpPr txBox="1"/>
          <p:nvPr/>
        </p:nvSpPr>
        <p:spPr>
          <a:xfrm>
            <a:off x="6901565" y="3369066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Space Mono" panose="02010509030202000204" pitchFamily="49" charset="77"/>
              </a:rPr>
              <a:t>Success!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D5615E-2588-E618-E570-71B741EDE563}"/>
              </a:ext>
            </a:extLst>
          </p:cNvPr>
          <p:cNvSpPr txBox="1"/>
          <p:nvPr/>
        </p:nvSpPr>
        <p:spPr>
          <a:xfrm>
            <a:off x="6355253" y="2599625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=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29E6B-AC7D-6675-D6ED-A05CC0105FAD}"/>
              </a:ext>
            </a:extLst>
          </p:cNvPr>
          <p:cNvSpPr txBox="1"/>
          <p:nvPr/>
        </p:nvSpPr>
        <p:spPr>
          <a:xfrm>
            <a:off x="1399655" y="2413551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8D2153-09E4-CFD0-7EE4-E8CD99F4E6BD}"/>
              </a:ext>
            </a:extLst>
          </p:cNvPr>
          <p:cNvSpPr txBox="1"/>
          <p:nvPr/>
        </p:nvSpPr>
        <p:spPr>
          <a:xfrm>
            <a:off x="3027470" y="2413551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19EE38-E127-05FD-C263-BD4233465B45}"/>
              </a:ext>
            </a:extLst>
          </p:cNvPr>
          <p:cNvSpPr txBox="1"/>
          <p:nvPr/>
        </p:nvSpPr>
        <p:spPr>
          <a:xfrm>
            <a:off x="4669715" y="2413551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stay successful</a:t>
            </a:r>
            <a:endParaRPr/>
          </a:p>
        </p:txBody>
      </p:sp>
      <p:pic>
        <p:nvPicPr>
          <p:cNvPr id="3" name="Graphic 2" descr="Climbing with solid fill">
            <a:extLst>
              <a:ext uri="{FF2B5EF4-FFF2-40B4-BE49-F238E27FC236}">
                <a16:creationId xmlns:a16="http://schemas.microsoft.com/office/drawing/2014/main" id="{81C78153-2F9E-F658-C526-BB4A27E3F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7900" y="274175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92DA92-89AA-B0BC-F8BC-90418CC8A874}"/>
              </a:ext>
            </a:extLst>
          </p:cNvPr>
          <p:cNvSpPr txBox="1"/>
          <p:nvPr/>
        </p:nvSpPr>
        <p:spPr>
          <a:xfrm>
            <a:off x="366416" y="1202230"/>
            <a:ext cx="8087214" cy="32932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AU" sz="19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Adoption happens when the </a:t>
            </a:r>
            <a:r>
              <a:rPr sz="1900" b="0" i="0" dirty="0">
                <a:solidFill>
                  <a:srgbClr val="F5F5F5"/>
                </a:solidFill>
                <a:latin typeface="Space Mono" panose="02010509030202000204" pitchFamily="49" charset="77"/>
              </a:rPr>
              <a:t>tool makes the shift easier.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F59DDD-C628-46CD-611D-1A0924ABB17F}"/>
              </a:ext>
            </a:extLst>
          </p:cNvPr>
          <p:cNvSpPr/>
          <p:nvPr/>
        </p:nvSpPr>
        <p:spPr>
          <a:xfrm>
            <a:off x="685800" y="1874519"/>
            <a:ext cx="411480" cy="2560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D8F000"/>
                </a:solidFill>
                <a:latin typeface="Space Mono" panose="02010509030202000204" pitchFamily="49" charset="77"/>
              </a:rPr>
              <a:t>01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18ED2E-F358-A7EA-5B5A-E7A4E01C27CB}"/>
              </a:ext>
            </a:extLst>
          </p:cNvPr>
          <p:cNvSpPr/>
          <p:nvPr/>
        </p:nvSpPr>
        <p:spPr>
          <a:xfrm>
            <a:off x="685800" y="2240280"/>
            <a:ext cx="1737360" cy="141732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b="1">
                <a:solidFill>
                  <a:srgbClr val="D8F000"/>
                </a:solidFill>
                <a:latin typeface="Space Mono" panose="02010509030202000204" pitchFamily="49" charset="77"/>
              </a:rPr>
              <a:t>Orchestrate workflows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F5F5F5"/>
                </a:solidFill>
                <a:latin typeface="Space Mono" panose="02010509030202000204" pitchFamily="49" charset="77"/>
              </a:rPr>
              <a:t>move repeatable flows off laptops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7E2F845-BBCD-BBE3-E6FA-FE6DC6DC4934}"/>
              </a:ext>
            </a:extLst>
          </p:cNvPr>
          <p:cNvSpPr/>
          <p:nvPr/>
        </p:nvSpPr>
        <p:spPr>
          <a:xfrm>
            <a:off x="2743200" y="1874519"/>
            <a:ext cx="411480" cy="2560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D8F000"/>
                </a:solidFill>
                <a:latin typeface="Space Mono" panose="02010509030202000204" pitchFamily="49" charset="77"/>
              </a:rPr>
              <a:t>02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FBEFD9-3198-9F44-FE44-C3B53ED766D7}"/>
              </a:ext>
            </a:extLst>
          </p:cNvPr>
          <p:cNvSpPr/>
          <p:nvPr/>
        </p:nvSpPr>
        <p:spPr>
          <a:xfrm>
            <a:off x="2743200" y="2240280"/>
            <a:ext cx="1737360" cy="141732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b="1" dirty="0">
                <a:solidFill>
                  <a:srgbClr val="D8F000"/>
                </a:solidFill>
                <a:latin typeface="Space Mono" panose="02010509030202000204" pitchFamily="49" charset="77"/>
              </a:rPr>
              <a:t>Build security in</a:t>
            </a:r>
          </a:p>
          <a:p>
            <a:pPr algn="ctr">
              <a:spcBef>
                <a:spcPts val="400"/>
              </a:spcBef>
            </a:pPr>
            <a:r>
              <a:rPr sz="1000" b="0" dirty="0">
                <a:solidFill>
                  <a:srgbClr val="F5F5F5"/>
                </a:solidFill>
                <a:latin typeface="Space Mono" panose="02010509030202000204" pitchFamily="49" charset="77"/>
              </a:rPr>
              <a:t>trusted execution by design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6818BC-0616-628F-324E-F0D1AAC5E915}"/>
              </a:ext>
            </a:extLst>
          </p:cNvPr>
          <p:cNvSpPr/>
          <p:nvPr/>
        </p:nvSpPr>
        <p:spPr>
          <a:xfrm>
            <a:off x="4800600" y="1874519"/>
            <a:ext cx="411480" cy="2560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D8F000"/>
                </a:solidFill>
                <a:latin typeface="Space Mono" panose="02010509030202000204" pitchFamily="49" charset="77"/>
              </a:rPr>
              <a:t>03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059220F-6345-7779-F4D9-42FEDD5339CB}"/>
              </a:ext>
            </a:extLst>
          </p:cNvPr>
          <p:cNvSpPr/>
          <p:nvPr/>
        </p:nvSpPr>
        <p:spPr>
          <a:xfrm>
            <a:off x="4800600" y="2240280"/>
            <a:ext cx="1737360" cy="141732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b="1" dirty="0">
                <a:solidFill>
                  <a:srgbClr val="D8F000"/>
                </a:solidFill>
                <a:latin typeface="Space Mono" panose="02010509030202000204" pitchFamily="49" charset="77"/>
              </a:rPr>
              <a:t>Listen to engineers</a:t>
            </a:r>
          </a:p>
          <a:p>
            <a:pPr algn="ctr">
              <a:spcBef>
                <a:spcPts val="400"/>
              </a:spcBef>
            </a:pPr>
            <a:r>
              <a:rPr lang="en-AU" sz="1000" dirty="0">
                <a:solidFill>
                  <a:srgbClr val="F5F5F5"/>
                </a:solidFill>
                <a:latin typeface="Space Mono" panose="02010509030202000204" pitchFamily="49" charset="77"/>
              </a:rPr>
              <a:t>o</a:t>
            </a:r>
            <a:r>
              <a:rPr lang="en-AU" sz="1000" b="0" dirty="0">
                <a:solidFill>
                  <a:srgbClr val="F5F5F5"/>
                </a:solidFill>
                <a:latin typeface="Space Mono" panose="02010509030202000204" pitchFamily="49" charset="77"/>
              </a:rPr>
              <a:t>btain Feedback Often</a:t>
            </a:r>
            <a:endParaRPr sz="1000" b="0" dirty="0">
              <a:solidFill>
                <a:srgbClr val="F5F5F5"/>
              </a:solidFill>
              <a:latin typeface="Space Mono" panose="02010509030202000204" pitchFamily="49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B62542-94C1-13D5-69D0-B3AC635AB4AC}"/>
              </a:ext>
            </a:extLst>
          </p:cNvPr>
          <p:cNvSpPr/>
          <p:nvPr/>
        </p:nvSpPr>
        <p:spPr>
          <a:xfrm>
            <a:off x="6858000" y="1874519"/>
            <a:ext cx="411480" cy="2560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8F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D8F000"/>
                </a:solidFill>
                <a:latin typeface="Space Mono" panose="02010509030202000204" pitchFamily="49" charset="77"/>
              </a:rPr>
              <a:t>04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BD3764-A63D-AA1A-EA85-DD49CB820C37}"/>
              </a:ext>
            </a:extLst>
          </p:cNvPr>
          <p:cNvSpPr/>
          <p:nvPr/>
        </p:nvSpPr>
        <p:spPr>
          <a:xfrm>
            <a:off x="6858000" y="2240280"/>
            <a:ext cx="1737360" cy="1417320"/>
          </a:xfrm>
          <a:prstGeom prst="roundRect">
            <a:avLst/>
          </a:prstGeom>
          <a:solidFill>
            <a:srgbClr val="000000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b="1">
                <a:solidFill>
                  <a:srgbClr val="D8F000"/>
                </a:solidFill>
                <a:latin typeface="Space Mono" panose="02010509030202000204" pitchFamily="49" charset="77"/>
              </a:rPr>
              <a:t>Listen to the business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F5F5F5"/>
                </a:solidFill>
                <a:latin typeface="Space Mono" panose="02010509030202000204" pitchFamily="49" charset="77"/>
              </a:rPr>
              <a:t>prepare for what is coming next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E97609-BE5B-43DD-D54A-1065592502B9}"/>
              </a:ext>
            </a:extLst>
          </p:cNvPr>
          <p:cNvSpPr txBox="1"/>
          <p:nvPr/>
        </p:nvSpPr>
        <p:spPr>
          <a:xfrm>
            <a:off x="552438" y="4224528"/>
            <a:ext cx="8039124" cy="28315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600" b="0" i="0" dirty="0">
                <a:solidFill>
                  <a:srgbClr val="D8F000"/>
                </a:solidFill>
                <a:latin typeface="Space Mono" panose="02010509030202000204" pitchFamily="49" charset="77"/>
              </a:rPr>
              <a:t>Keep the platform scalable. Keep the work close to the operator.</a:t>
            </a:r>
          </a:p>
        </p:txBody>
      </p:sp>
      <p:pic>
        <p:nvPicPr>
          <p:cNvPr id="2" name="Graphic 1" descr="Caret Right with solid fill">
            <a:extLst>
              <a:ext uri="{FF2B5EF4-FFF2-40B4-BE49-F238E27FC236}">
                <a16:creationId xmlns:a16="http://schemas.microsoft.com/office/drawing/2014/main" id="{619117AD-602E-5C4B-97F9-201C7D83E6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1532" y="2583256"/>
            <a:ext cx="590931" cy="590931"/>
          </a:xfrm>
          <a:prstGeom prst="rect">
            <a:avLst/>
          </a:prstGeom>
        </p:spPr>
      </p:pic>
      <p:pic>
        <p:nvPicPr>
          <p:cNvPr id="4" name="Graphic 3" descr="Caret Right with solid fill">
            <a:extLst>
              <a:ext uri="{FF2B5EF4-FFF2-40B4-BE49-F238E27FC236}">
                <a16:creationId xmlns:a16="http://schemas.microsoft.com/office/drawing/2014/main" id="{605E2689-1DEE-25C0-451E-0D81D7F63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1" y="2608972"/>
            <a:ext cx="590931" cy="590931"/>
          </a:xfrm>
          <a:prstGeom prst="rect">
            <a:avLst/>
          </a:prstGeom>
        </p:spPr>
      </p:pic>
      <p:pic>
        <p:nvPicPr>
          <p:cNvPr id="18" name="Graphic 17" descr="Caret Right with solid fill">
            <a:extLst>
              <a:ext uri="{FF2B5EF4-FFF2-40B4-BE49-F238E27FC236}">
                <a16:creationId xmlns:a16="http://schemas.microsoft.com/office/drawing/2014/main" id="{5CC193B7-6BF4-9B18-3F0D-F8830FCC3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8932" y="2608973"/>
            <a:ext cx="590931" cy="5909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7DBF0CBE-E940-1D95-C003-02C29F12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>
            <a:extLst>
              <a:ext uri="{FF2B5EF4-FFF2-40B4-BE49-F238E27FC236}">
                <a16:creationId xmlns:a16="http://schemas.microsoft.com/office/drawing/2014/main" id="{2A3D250B-087A-64A9-2B35-7352A3A22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Zooming out</a:t>
            </a:r>
            <a:endParaRPr dirty="0"/>
          </a:p>
        </p:txBody>
      </p:sp>
      <p:pic>
        <p:nvPicPr>
          <p:cNvPr id="7" name="Graphic 6" descr="Workflow outline">
            <a:extLst>
              <a:ext uri="{FF2B5EF4-FFF2-40B4-BE49-F238E27FC236}">
                <a16:creationId xmlns:a16="http://schemas.microsoft.com/office/drawing/2014/main" id="{EB1F4494-CFA4-BBC7-1E6D-1D7CEA217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0783" y="2013045"/>
            <a:ext cx="914400" cy="914400"/>
          </a:xfrm>
          <a:prstGeom prst="rect">
            <a:avLst/>
          </a:prstGeom>
        </p:spPr>
      </p:pic>
      <p:pic>
        <p:nvPicPr>
          <p:cNvPr id="9" name="Graphic 8" descr="Tools with solid fill">
            <a:extLst>
              <a:ext uri="{FF2B5EF4-FFF2-40B4-BE49-F238E27FC236}">
                <a16:creationId xmlns:a16="http://schemas.microsoft.com/office/drawing/2014/main" id="{29EA6B47-CBB3-40B5-F765-061491AA9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2013045"/>
            <a:ext cx="914400" cy="914400"/>
          </a:xfrm>
          <a:prstGeom prst="rect">
            <a:avLst/>
          </a:prstGeom>
        </p:spPr>
      </p:pic>
      <p:pic>
        <p:nvPicPr>
          <p:cNvPr id="11" name="Graphic 10" descr="Robot with solid fill">
            <a:extLst>
              <a:ext uri="{FF2B5EF4-FFF2-40B4-BE49-F238E27FC236}">
                <a16:creationId xmlns:a16="http://schemas.microsoft.com/office/drawing/2014/main" id="{7851F6D2-41D8-3063-B832-04D1A8BB0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8818" y="2013045"/>
            <a:ext cx="914400" cy="914400"/>
          </a:xfrm>
          <a:prstGeom prst="rect">
            <a:avLst/>
          </a:prstGeom>
        </p:spPr>
      </p:pic>
      <p:sp>
        <p:nvSpPr>
          <p:cNvPr id="13" name="Google Shape;170;p31">
            <a:extLst>
              <a:ext uri="{FF2B5EF4-FFF2-40B4-BE49-F238E27FC236}">
                <a16:creationId xmlns:a16="http://schemas.microsoft.com/office/drawing/2014/main" id="{97901E50-7B17-917C-AC9A-21BBEA414F8D}"/>
              </a:ext>
            </a:extLst>
          </p:cNvPr>
          <p:cNvSpPr txBox="1">
            <a:spLocks/>
          </p:cNvSpPr>
          <p:nvPr/>
        </p:nvSpPr>
        <p:spPr>
          <a:xfrm>
            <a:off x="1016563" y="3052959"/>
            <a:ext cx="1842839" cy="66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2000" dirty="0"/>
              <a:t>Workflow Automation</a:t>
            </a:r>
          </a:p>
        </p:txBody>
      </p:sp>
      <p:sp>
        <p:nvSpPr>
          <p:cNvPr id="14" name="Google Shape;170;p31">
            <a:extLst>
              <a:ext uri="{FF2B5EF4-FFF2-40B4-BE49-F238E27FC236}">
                <a16:creationId xmlns:a16="http://schemas.microsoft.com/office/drawing/2014/main" id="{5F726313-EACE-A2C5-AD01-3D9BA4AD1827}"/>
              </a:ext>
            </a:extLst>
          </p:cNvPr>
          <p:cNvSpPr txBox="1">
            <a:spLocks/>
          </p:cNvSpPr>
          <p:nvPr/>
        </p:nvSpPr>
        <p:spPr>
          <a:xfrm>
            <a:off x="6090999" y="3052958"/>
            <a:ext cx="2230038" cy="66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2000" dirty="0"/>
              <a:t>Closed-loop Automation</a:t>
            </a:r>
          </a:p>
        </p:txBody>
      </p:sp>
      <p:sp>
        <p:nvSpPr>
          <p:cNvPr id="15" name="Google Shape;170;p31">
            <a:extLst>
              <a:ext uri="{FF2B5EF4-FFF2-40B4-BE49-F238E27FC236}">
                <a16:creationId xmlns:a16="http://schemas.microsoft.com/office/drawing/2014/main" id="{CD966020-4130-2C0A-C5B4-1DD325367E2F}"/>
              </a:ext>
            </a:extLst>
          </p:cNvPr>
          <p:cNvSpPr txBox="1">
            <a:spLocks/>
          </p:cNvSpPr>
          <p:nvPr/>
        </p:nvSpPr>
        <p:spPr>
          <a:xfrm>
            <a:off x="3714680" y="3052958"/>
            <a:ext cx="1714639" cy="66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2000" dirty="0"/>
              <a:t>Operator tooling</a:t>
            </a:r>
          </a:p>
        </p:txBody>
      </p:sp>
    </p:spTree>
    <p:extLst>
      <p:ext uri="{BB962C8B-B14F-4D97-AF65-F5344CB8AC3E}">
        <p14:creationId xmlns:p14="http://schemas.microsoft.com/office/powerpoint/2010/main" val="427826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A3631E78-BC55-DE8F-EF0A-220EFA11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>
            <a:extLst>
              <a:ext uri="{FF2B5EF4-FFF2-40B4-BE49-F238E27FC236}">
                <a16:creationId xmlns:a16="http://schemas.microsoft.com/office/drawing/2014/main" id="{2F039A81-5514-E0D3-D268-21E054612F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Zooming out</a:t>
            </a:r>
            <a:endParaRPr dirty="0"/>
          </a:p>
        </p:txBody>
      </p:sp>
      <p:pic>
        <p:nvPicPr>
          <p:cNvPr id="7" name="Graphic 6" descr="Workflow outline">
            <a:extLst>
              <a:ext uri="{FF2B5EF4-FFF2-40B4-BE49-F238E27FC236}">
                <a16:creationId xmlns:a16="http://schemas.microsoft.com/office/drawing/2014/main" id="{22F4707E-A9B8-27A7-9D78-A087C16AD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7935" y="3158079"/>
            <a:ext cx="673983" cy="673983"/>
          </a:xfrm>
          <a:prstGeom prst="rect">
            <a:avLst/>
          </a:prstGeom>
        </p:spPr>
      </p:pic>
      <p:pic>
        <p:nvPicPr>
          <p:cNvPr id="9" name="Graphic 8" descr="Tools with solid fill">
            <a:extLst>
              <a:ext uri="{FF2B5EF4-FFF2-40B4-BE49-F238E27FC236}">
                <a16:creationId xmlns:a16="http://schemas.microsoft.com/office/drawing/2014/main" id="{BA18D8E1-32B9-8E7D-C95C-6C6B6BEBF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641" y="3163131"/>
            <a:ext cx="673983" cy="673983"/>
          </a:xfrm>
          <a:prstGeom prst="rect">
            <a:avLst/>
          </a:prstGeom>
        </p:spPr>
      </p:pic>
      <p:pic>
        <p:nvPicPr>
          <p:cNvPr id="11" name="Graphic 10" descr="Robot with solid fill">
            <a:extLst>
              <a:ext uri="{FF2B5EF4-FFF2-40B4-BE49-F238E27FC236}">
                <a16:creationId xmlns:a16="http://schemas.microsoft.com/office/drawing/2014/main" id="{3F9748AB-6BBD-16BC-428B-04AD91C57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5347" y="3158079"/>
            <a:ext cx="673983" cy="673983"/>
          </a:xfrm>
          <a:prstGeom prst="rect">
            <a:avLst/>
          </a:prstGeom>
        </p:spPr>
      </p:pic>
      <p:sp>
        <p:nvSpPr>
          <p:cNvPr id="13" name="Google Shape;170;p31">
            <a:extLst>
              <a:ext uri="{FF2B5EF4-FFF2-40B4-BE49-F238E27FC236}">
                <a16:creationId xmlns:a16="http://schemas.microsoft.com/office/drawing/2014/main" id="{2FED575F-DE14-C68A-D426-511E16B84948}"/>
              </a:ext>
            </a:extLst>
          </p:cNvPr>
          <p:cNvSpPr txBox="1">
            <a:spLocks/>
          </p:cNvSpPr>
          <p:nvPr/>
        </p:nvSpPr>
        <p:spPr>
          <a:xfrm>
            <a:off x="4324834" y="3897147"/>
            <a:ext cx="1328763" cy="43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Workflow Automation</a:t>
            </a:r>
          </a:p>
        </p:txBody>
      </p:sp>
      <p:sp>
        <p:nvSpPr>
          <p:cNvPr id="14" name="Google Shape;170;p31">
            <a:extLst>
              <a:ext uri="{FF2B5EF4-FFF2-40B4-BE49-F238E27FC236}">
                <a16:creationId xmlns:a16="http://schemas.microsoft.com/office/drawing/2014/main" id="{828B1709-1E7F-D8A1-5ED2-4528F77E027E}"/>
              </a:ext>
            </a:extLst>
          </p:cNvPr>
          <p:cNvSpPr txBox="1">
            <a:spLocks/>
          </p:cNvSpPr>
          <p:nvPr/>
        </p:nvSpPr>
        <p:spPr>
          <a:xfrm>
            <a:off x="6696888" y="3895154"/>
            <a:ext cx="1390899" cy="52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Closed-loop Automation</a:t>
            </a:r>
          </a:p>
        </p:txBody>
      </p:sp>
      <p:sp>
        <p:nvSpPr>
          <p:cNvPr id="15" name="Google Shape;170;p31">
            <a:extLst>
              <a:ext uri="{FF2B5EF4-FFF2-40B4-BE49-F238E27FC236}">
                <a16:creationId xmlns:a16="http://schemas.microsoft.com/office/drawing/2014/main" id="{D4BD32BD-0CEB-5A1C-5580-106C69DC78C1}"/>
              </a:ext>
            </a:extLst>
          </p:cNvPr>
          <p:cNvSpPr txBox="1">
            <a:spLocks/>
          </p:cNvSpPr>
          <p:nvPr/>
        </p:nvSpPr>
        <p:spPr>
          <a:xfrm>
            <a:off x="5564250" y="3907166"/>
            <a:ext cx="1328763" cy="48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Operator tooling</a:t>
            </a:r>
          </a:p>
        </p:txBody>
      </p:sp>
      <p:pic>
        <p:nvPicPr>
          <p:cNvPr id="3" name="Graphic 2" descr="Scatterplot with solid fill">
            <a:extLst>
              <a:ext uri="{FF2B5EF4-FFF2-40B4-BE49-F238E27FC236}">
                <a16:creationId xmlns:a16="http://schemas.microsoft.com/office/drawing/2014/main" id="{01C011A8-C6E1-2E20-CF85-5D4A21550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73277" y="3158079"/>
            <a:ext cx="673983" cy="673983"/>
          </a:xfrm>
          <a:prstGeom prst="rect">
            <a:avLst/>
          </a:prstGeom>
        </p:spPr>
      </p:pic>
      <p:pic>
        <p:nvPicPr>
          <p:cNvPr id="4" name="Graphic 3" descr="Treasure Map outline">
            <a:extLst>
              <a:ext uri="{FF2B5EF4-FFF2-40B4-BE49-F238E27FC236}">
                <a16:creationId xmlns:a16="http://schemas.microsoft.com/office/drawing/2014/main" id="{29F21A46-9534-3C0F-0E5E-04ADC58625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336983" y="3163131"/>
            <a:ext cx="673983" cy="673983"/>
          </a:xfrm>
          <a:prstGeom prst="rect">
            <a:avLst/>
          </a:prstGeom>
        </p:spPr>
      </p:pic>
      <p:pic>
        <p:nvPicPr>
          <p:cNvPr id="6" name="Graphic 5" descr="Heart with pulse with solid fill">
            <a:extLst>
              <a:ext uri="{FF2B5EF4-FFF2-40B4-BE49-F238E27FC236}">
                <a16:creationId xmlns:a16="http://schemas.microsoft.com/office/drawing/2014/main" id="{EF0DEBF2-0E02-4964-F46B-CB6473F02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500689" y="3158079"/>
            <a:ext cx="673983" cy="673983"/>
          </a:xfrm>
          <a:prstGeom prst="rect">
            <a:avLst/>
          </a:prstGeom>
        </p:spPr>
      </p:pic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0D776E0C-1021-C0AC-85D3-D38E5713BBF0}"/>
              </a:ext>
            </a:extLst>
          </p:cNvPr>
          <p:cNvSpPr txBox="1">
            <a:spLocks/>
          </p:cNvSpPr>
          <p:nvPr/>
        </p:nvSpPr>
        <p:spPr>
          <a:xfrm>
            <a:off x="845885" y="3906827"/>
            <a:ext cx="1328763" cy="43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Metrics</a:t>
            </a:r>
          </a:p>
        </p:txBody>
      </p:sp>
      <p:sp>
        <p:nvSpPr>
          <p:cNvPr id="10" name="Google Shape;170;p31">
            <a:extLst>
              <a:ext uri="{FF2B5EF4-FFF2-40B4-BE49-F238E27FC236}">
                <a16:creationId xmlns:a16="http://schemas.microsoft.com/office/drawing/2014/main" id="{D9D23477-6E96-102C-4C87-BC16996ADE5B}"/>
              </a:ext>
            </a:extLst>
          </p:cNvPr>
          <p:cNvSpPr txBox="1">
            <a:spLocks/>
          </p:cNvSpPr>
          <p:nvPr/>
        </p:nvSpPr>
        <p:spPr>
          <a:xfrm>
            <a:off x="3142230" y="3912140"/>
            <a:ext cx="1390899" cy="52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Health</a:t>
            </a:r>
          </a:p>
        </p:txBody>
      </p:sp>
      <p:sp>
        <p:nvSpPr>
          <p:cNvPr id="12" name="Google Shape;170;p31">
            <a:extLst>
              <a:ext uri="{FF2B5EF4-FFF2-40B4-BE49-F238E27FC236}">
                <a16:creationId xmlns:a16="http://schemas.microsoft.com/office/drawing/2014/main" id="{33630099-E1F8-2A6B-787C-9B2CF86C5129}"/>
              </a:ext>
            </a:extLst>
          </p:cNvPr>
          <p:cNvSpPr txBox="1">
            <a:spLocks/>
          </p:cNvSpPr>
          <p:nvPr/>
        </p:nvSpPr>
        <p:spPr>
          <a:xfrm>
            <a:off x="2007350" y="3907166"/>
            <a:ext cx="1328763" cy="48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Topology Mapping</a:t>
            </a:r>
          </a:p>
        </p:txBody>
      </p:sp>
      <p:pic>
        <p:nvPicPr>
          <p:cNvPr id="19" name="Graphic 18" descr="Binary with solid fill">
            <a:extLst>
              <a:ext uri="{FF2B5EF4-FFF2-40B4-BE49-F238E27FC236}">
                <a16:creationId xmlns:a16="http://schemas.microsoft.com/office/drawing/2014/main" id="{65956CB0-6EF5-C345-588E-52A1971F5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73277" y="1658888"/>
            <a:ext cx="673983" cy="673983"/>
          </a:xfrm>
          <a:prstGeom prst="rect">
            <a:avLst/>
          </a:prstGeom>
        </p:spPr>
      </p:pic>
      <p:pic>
        <p:nvPicPr>
          <p:cNvPr id="20" name="Graphic 19" descr="Robot with solid fill">
            <a:extLst>
              <a:ext uri="{FF2B5EF4-FFF2-40B4-BE49-F238E27FC236}">
                <a16:creationId xmlns:a16="http://schemas.microsoft.com/office/drawing/2014/main" id="{D6E11405-0404-6C76-8458-A4606EF9D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336983" y="1663940"/>
            <a:ext cx="673983" cy="673983"/>
          </a:xfrm>
          <a:prstGeom prst="rect">
            <a:avLst/>
          </a:prstGeom>
        </p:spPr>
      </p:pic>
      <p:pic>
        <p:nvPicPr>
          <p:cNvPr id="21" name="Graphic 20" descr="Internet Of Things with solid fill">
            <a:extLst>
              <a:ext uri="{FF2B5EF4-FFF2-40B4-BE49-F238E27FC236}">
                <a16:creationId xmlns:a16="http://schemas.microsoft.com/office/drawing/2014/main" id="{04CA8930-7418-462E-C622-92C8CB1E7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00689" y="1658888"/>
            <a:ext cx="673983" cy="673983"/>
          </a:xfrm>
          <a:prstGeom prst="rect">
            <a:avLst/>
          </a:prstGeom>
        </p:spPr>
      </p:pic>
      <p:sp>
        <p:nvSpPr>
          <p:cNvPr id="22" name="Google Shape;170;p31">
            <a:extLst>
              <a:ext uri="{FF2B5EF4-FFF2-40B4-BE49-F238E27FC236}">
                <a16:creationId xmlns:a16="http://schemas.microsoft.com/office/drawing/2014/main" id="{5558E4A0-B78C-58F1-3552-BF829C35651F}"/>
              </a:ext>
            </a:extLst>
          </p:cNvPr>
          <p:cNvSpPr txBox="1">
            <a:spLocks/>
          </p:cNvSpPr>
          <p:nvPr/>
        </p:nvSpPr>
        <p:spPr>
          <a:xfrm>
            <a:off x="845886" y="2415596"/>
            <a:ext cx="1328763" cy="43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Config Generation</a:t>
            </a:r>
          </a:p>
        </p:txBody>
      </p:sp>
      <p:sp>
        <p:nvSpPr>
          <p:cNvPr id="23" name="Google Shape;170;p31">
            <a:extLst>
              <a:ext uri="{FF2B5EF4-FFF2-40B4-BE49-F238E27FC236}">
                <a16:creationId xmlns:a16="http://schemas.microsoft.com/office/drawing/2014/main" id="{EA7AF3AD-F4DD-F57E-A6FC-855AD5E1ADE9}"/>
              </a:ext>
            </a:extLst>
          </p:cNvPr>
          <p:cNvSpPr txBox="1">
            <a:spLocks/>
          </p:cNvSpPr>
          <p:nvPr/>
        </p:nvSpPr>
        <p:spPr>
          <a:xfrm>
            <a:off x="3142230" y="2393044"/>
            <a:ext cx="1390899" cy="52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Internal API’s</a:t>
            </a:r>
          </a:p>
        </p:txBody>
      </p:sp>
      <p:sp>
        <p:nvSpPr>
          <p:cNvPr id="24" name="Google Shape;170;p31">
            <a:extLst>
              <a:ext uri="{FF2B5EF4-FFF2-40B4-BE49-F238E27FC236}">
                <a16:creationId xmlns:a16="http://schemas.microsoft.com/office/drawing/2014/main" id="{A867DEFD-8D65-6BB8-D497-0C9D9500CC28}"/>
              </a:ext>
            </a:extLst>
          </p:cNvPr>
          <p:cNvSpPr txBox="1">
            <a:spLocks/>
          </p:cNvSpPr>
          <p:nvPr/>
        </p:nvSpPr>
        <p:spPr>
          <a:xfrm>
            <a:off x="2009592" y="2411123"/>
            <a:ext cx="1328763" cy="48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Network Controllers</a:t>
            </a:r>
          </a:p>
        </p:txBody>
      </p:sp>
      <p:pic>
        <p:nvPicPr>
          <p:cNvPr id="27" name="Graphic 26" descr="Illustrator with solid fill">
            <a:extLst>
              <a:ext uri="{FF2B5EF4-FFF2-40B4-BE49-F238E27FC236}">
                <a16:creationId xmlns:a16="http://schemas.microsoft.com/office/drawing/2014/main" id="{079A59E7-0410-04D9-C903-A7D6FCE42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652225" y="1662433"/>
            <a:ext cx="673983" cy="673983"/>
          </a:xfrm>
          <a:prstGeom prst="rect">
            <a:avLst/>
          </a:prstGeom>
        </p:spPr>
      </p:pic>
      <p:pic>
        <p:nvPicPr>
          <p:cNvPr id="28" name="Graphic 27" descr="Gantt Chart with solid fill">
            <a:extLst>
              <a:ext uri="{FF2B5EF4-FFF2-40B4-BE49-F238E27FC236}">
                <a16:creationId xmlns:a16="http://schemas.microsoft.com/office/drawing/2014/main" id="{CF518CFF-D6D5-D2F6-61C8-2FB4F32B5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815931" y="1667485"/>
            <a:ext cx="673983" cy="673983"/>
          </a:xfrm>
          <a:prstGeom prst="rect">
            <a:avLst/>
          </a:prstGeom>
        </p:spPr>
      </p:pic>
      <p:pic>
        <p:nvPicPr>
          <p:cNvPr id="29" name="Graphic 28" descr="Abacus with solid fill">
            <a:extLst>
              <a:ext uri="{FF2B5EF4-FFF2-40B4-BE49-F238E27FC236}">
                <a16:creationId xmlns:a16="http://schemas.microsoft.com/office/drawing/2014/main" id="{374DF519-1009-0752-8BBF-79E759AD5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979637" y="1662433"/>
            <a:ext cx="673983" cy="673983"/>
          </a:xfrm>
          <a:prstGeom prst="rect">
            <a:avLst/>
          </a:prstGeom>
        </p:spPr>
      </p:pic>
      <p:sp>
        <p:nvSpPr>
          <p:cNvPr id="30" name="Google Shape;170;p31">
            <a:extLst>
              <a:ext uri="{FF2B5EF4-FFF2-40B4-BE49-F238E27FC236}">
                <a16:creationId xmlns:a16="http://schemas.microsoft.com/office/drawing/2014/main" id="{CD974B53-574F-852E-0C2C-60490809FF02}"/>
              </a:ext>
            </a:extLst>
          </p:cNvPr>
          <p:cNvSpPr txBox="1">
            <a:spLocks/>
          </p:cNvSpPr>
          <p:nvPr/>
        </p:nvSpPr>
        <p:spPr>
          <a:xfrm>
            <a:off x="4324834" y="2411123"/>
            <a:ext cx="1328763" cy="43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Network Resiliency</a:t>
            </a:r>
          </a:p>
        </p:txBody>
      </p:sp>
      <p:sp>
        <p:nvSpPr>
          <p:cNvPr id="31" name="Google Shape;170;p31">
            <a:extLst>
              <a:ext uri="{FF2B5EF4-FFF2-40B4-BE49-F238E27FC236}">
                <a16:creationId xmlns:a16="http://schemas.microsoft.com/office/drawing/2014/main" id="{0ED75C42-2AC5-06B9-E7C1-16B80F22FB53}"/>
              </a:ext>
            </a:extLst>
          </p:cNvPr>
          <p:cNvSpPr txBox="1">
            <a:spLocks/>
          </p:cNvSpPr>
          <p:nvPr/>
        </p:nvSpPr>
        <p:spPr>
          <a:xfrm>
            <a:off x="6696888" y="2412646"/>
            <a:ext cx="1390899" cy="52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Budgeting &amp; Contracts</a:t>
            </a:r>
          </a:p>
        </p:txBody>
      </p:sp>
      <p:sp>
        <p:nvSpPr>
          <p:cNvPr id="32" name="Google Shape;170;p31">
            <a:extLst>
              <a:ext uri="{FF2B5EF4-FFF2-40B4-BE49-F238E27FC236}">
                <a16:creationId xmlns:a16="http://schemas.microsoft.com/office/drawing/2014/main" id="{71AB65DF-A6D0-EF2D-17BD-264029075720}"/>
              </a:ext>
            </a:extLst>
          </p:cNvPr>
          <p:cNvSpPr txBox="1">
            <a:spLocks/>
          </p:cNvSpPr>
          <p:nvPr/>
        </p:nvSpPr>
        <p:spPr>
          <a:xfrm>
            <a:off x="5485069" y="2393044"/>
            <a:ext cx="1328763" cy="48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Space Mono"/>
              <a:buNone/>
              <a:defRPr sz="3200" b="0" i="0" u="none" strike="noStrike" cap="none">
                <a:solidFill>
                  <a:srgbClr val="FFFF00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algn="ctr"/>
            <a:r>
              <a:rPr lang="en-AU" sz="1200" dirty="0"/>
              <a:t>Forecasting</a:t>
            </a:r>
          </a:p>
        </p:txBody>
      </p:sp>
    </p:spTree>
    <p:extLst>
      <p:ext uri="{BB962C8B-B14F-4D97-AF65-F5344CB8AC3E}">
        <p14:creationId xmlns:p14="http://schemas.microsoft.com/office/powerpoint/2010/main" val="107811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024D7FBE-7B0E-7955-F9D7-5B234753C206}"/>
              </a:ext>
            </a:extLst>
          </p:cNvPr>
          <p:cNvSpPr/>
          <p:nvPr/>
        </p:nvSpPr>
        <p:spPr>
          <a:xfrm>
            <a:off x="7597132" y="3215724"/>
            <a:ext cx="1108356" cy="1108356"/>
          </a:xfrm>
          <a:prstGeom prst="ellipse">
            <a:avLst/>
          </a:prstGeom>
          <a:gradFill flip="none" rotWithShape="1">
            <a:gsLst>
              <a:gs pos="0">
                <a:srgbClr val="7030A0">
                  <a:alpha val="50196"/>
                </a:srgbClr>
              </a:gs>
              <a:gs pos="82000">
                <a:schemeClr val="accent2">
                  <a:alpha val="11912"/>
                  <a:lumMod val="0"/>
                </a:schemeClr>
              </a:gs>
              <a:gs pos="100000">
                <a:schemeClr val="tx1"/>
              </a:gs>
            </a:gsLst>
            <a:lin ang="5400000" scaled="0"/>
            <a:tileRect/>
          </a:gra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09A2D77-2967-EDF5-642A-27B129F1C4ED}"/>
              </a:ext>
            </a:extLst>
          </p:cNvPr>
          <p:cNvSpPr/>
          <p:nvPr/>
        </p:nvSpPr>
        <p:spPr>
          <a:xfrm>
            <a:off x="306139" y="3213929"/>
            <a:ext cx="1108356" cy="1108356"/>
          </a:xfrm>
          <a:prstGeom prst="ellipse">
            <a:avLst/>
          </a:prstGeom>
          <a:gradFill flip="none" rotWithShape="1">
            <a:gsLst>
              <a:gs pos="0">
                <a:srgbClr val="00B050">
                  <a:alpha val="50196"/>
                </a:srgbClr>
              </a:gs>
              <a:gs pos="82000">
                <a:schemeClr val="accent2">
                  <a:alpha val="11912"/>
                  <a:lumMod val="0"/>
                </a:schemeClr>
              </a:gs>
              <a:gs pos="100000">
                <a:schemeClr val="tx1"/>
              </a:gs>
            </a:gsLst>
            <a:lin ang="5400000" scaled="0"/>
            <a:tileRect/>
          </a:gra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6DCB9-F0A4-4915-8762-06F5C00B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Lessons Learnt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61F13C-BB2A-792A-5BE1-53D96511A68E}"/>
              </a:ext>
            </a:extLst>
          </p:cNvPr>
          <p:cNvCxnSpPr>
            <a:cxnSpLocks/>
          </p:cNvCxnSpPr>
          <p:nvPr/>
        </p:nvCxnSpPr>
        <p:spPr>
          <a:xfrm>
            <a:off x="4328180" y="1313971"/>
            <a:ext cx="0" cy="3532909"/>
          </a:xfrm>
          <a:prstGeom prst="line">
            <a:avLst/>
          </a:prstGeom>
          <a:ln w="19050">
            <a:gradFill>
              <a:gsLst>
                <a:gs pos="0">
                  <a:schemeClr val="bg1">
                    <a:lumMod val="50000"/>
                  </a:schemeClr>
                </a:gs>
                <a:gs pos="23000">
                  <a:schemeClr val="tx1">
                    <a:lumMod val="95000"/>
                    <a:lumOff val="5000"/>
                  </a:schemeClr>
                </a:gs>
                <a:gs pos="66000">
                  <a:schemeClr val="tx1"/>
                </a:gs>
                <a:gs pos="15000">
                  <a:schemeClr val="bg1">
                    <a:lumMod val="50000"/>
                  </a:schemeClr>
                </a:gs>
                <a:gs pos="77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5CEC2D-EFE1-669E-945B-4793722320D1}"/>
              </a:ext>
            </a:extLst>
          </p:cNvPr>
          <p:cNvCxnSpPr>
            <a:cxnSpLocks/>
          </p:cNvCxnSpPr>
          <p:nvPr/>
        </p:nvCxnSpPr>
        <p:spPr>
          <a:xfrm flipH="1">
            <a:off x="311700" y="2916320"/>
            <a:ext cx="8520600" cy="0"/>
          </a:xfrm>
          <a:prstGeom prst="line">
            <a:avLst/>
          </a:prstGeom>
          <a:ln w="19050">
            <a:gradFill>
              <a:gsLst>
                <a:gs pos="0">
                  <a:schemeClr val="bg1">
                    <a:lumMod val="50000"/>
                  </a:schemeClr>
                </a:gs>
                <a:gs pos="42000">
                  <a:schemeClr val="tx1">
                    <a:lumMod val="95000"/>
                    <a:lumOff val="5000"/>
                  </a:schemeClr>
                </a:gs>
                <a:gs pos="58000">
                  <a:schemeClr val="tx1"/>
                </a:gs>
                <a:gs pos="27000">
                  <a:schemeClr val="bg1">
                    <a:lumMod val="50000"/>
                  </a:schemeClr>
                </a:gs>
                <a:gs pos="7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B718294E-6148-B8BB-1399-4BFBCBED602D}"/>
              </a:ext>
            </a:extLst>
          </p:cNvPr>
          <p:cNvSpPr/>
          <p:nvPr/>
        </p:nvSpPr>
        <p:spPr>
          <a:xfrm>
            <a:off x="3625646" y="2228371"/>
            <a:ext cx="1404738" cy="140473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4C38AD-D3F3-8B7E-58C4-4BCF2371D384}"/>
              </a:ext>
            </a:extLst>
          </p:cNvPr>
          <p:cNvSpPr/>
          <p:nvPr/>
        </p:nvSpPr>
        <p:spPr>
          <a:xfrm>
            <a:off x="7597132" y="1120619"/>
            <a:ext cx="1108356" cy="1108356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50196"/>
                </a:srgbClr>
              </a:gs>
              <a:gs pos="82000">
                <a:schemeClr val="accent2">
                  <a:alpha val="11912"/>
                  <a:lumMod val="0"/>
                </a:schemeClr>
              </a:gs>
              <a:gs pos="100000">
                <a:schemeClr val="tx1"/>
              </a:gs>
            </a:gsLst>
            <a:lin ang="5400000" scaled="0"/>
            <a:tileRect/>
          </a:gra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F0A2E-F787-B7CE-B00C-23D9FA9421B7}"/>
              </a:ext>
            </a:extLst>
          </p:cNvPr>
          <p:cNvSpPr txBox="1"/>
          <p:nvPr/>
        </p:nvSpPr>
        <p:spPr>
          <a:xfrm>
            <a:off x="1699285" y="1241959"/>
            <a:ext cx="1401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2EC"/>
                </a:solidFill>
                <a:latin typeface="Space Mono" panose="02010509030202000204" pitchFamily="49" charset="77"/>
              </a:rPr>
              <a:t>Start Small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F9380-A820-C9F3-945F-16E65B64EC8A}"/>
              </a:ext>
            </a:extLst>
          </p:cNvPr>
          <p:cNvSpPr txBox="1"/>
          <p:nvPr/>
        </p:nvSpPr>
        <p:spPr>
          <a:xfrm>
            <a:off x="1699285" y="3437528"/>
            <a:ext cx="1401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Space Mono" panose="02010509030202000204" pitchFamily="49" charset="77"/>
              </a:rPr>
              <a:t>Seek Buy-In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2107E6-AADE-8A80-5A31-5228B15E4698}"/>
              </a:ext>
            </a:extLst>
          </p:cNvPr>
          <p:cNvSpPr txBox="1"/>
          <p:nvPr/>
        </p:nvSpPr>
        <p:spPr>
          <a:xfrm>
            <a:off x="5316953" y="1236847"/>
            <a:ext cx="1733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Space Mono" panose="02010509030202000204" pitchFamily="49" charset="77"/>
              </a:rPr>
              <a:t>Solve Problems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0CF917-368C-AE7D-8EE9-5D01B9511747}"/>
              </a:ext>
            </a:extLst>
          </p:cNvPr>
          <p:cNvSpPr txBox="1"/>
          <p:nvPr/>
        </p:nvSpPr>
        <p:spPr>
          <a:xfrm>
            <a:off x="5316953" y="3437528"/>
            <a:ext cx="1622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Space Mono" panose="02010509030202000204" pitchFamily="49" charset="77"/>
              </a:rPr>
              <a:t>Foster Growth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CD04BE-C627-DB25-67A5-08853C5F4D08}"/>
              </a:ext>
            </a:extLst>
          </p:cNvPr>
          <p:cNvSpPr txBox="1"/>
          <p:nvPr/>
        </p:nvSpPr>
        <p:spPr>
          <a:xfrm>
            <a:off x="1699285" y="1621042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Begin with problems </a:t>
            </a:r>
          </a:p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that matter.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8FE4DD-F297-528D-07CE-0DA28D594F29}"/>
              </a:ext>
            </a:extLst>
          </p:cNvPr>
          <p:cNvSpPr txBox="1"/>
          <p:nvPr/>
        </p:nvSpPr>
        <p:spPr>
          <a:xfrm>
            <a:off x="1699285" y="3755573"/>
            <a:ext cx="20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Make it a formal </a:t>
            </a:r>
          </a:p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part of the job.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FBEF69-38DE-CB56-963C-EC4CEED65023}"/>
              </a:ext>
            </a:extLst>
          </p:cNvPr>
          <p:cNvSpPr txBox="1"/>
          <p:nvPr/>
        </p:nvSpPr>
        <p:spPr>
          <a:xfrm>
            <a:off x="5316953" y="1564478"/>
            <a:ext cx="20649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Focus on what is:</a:t>
            </a:r>
            <a:b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</a:br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- Time Consuming</a:t>
            </a:r>
          </a:p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- Repetitive</a:t>
            </a:r>
          </a:p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- Important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09C687-2BCC-AA0F-C8B5-9B6EAF07D74C}"/>
              </a:ext>
            </a:extLst>
          </p:cNvPr>
          <p:cNvSpPr txBox="1"/>
          <p:nvPr/>
        </p:nvSpPr>
        <p:spPr>
          <a:xfrm>
            <a:off x="5336798" y="3745305"/>
            <a:ext cx="1954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Develop People, </a:t>
            </a:r>
            <a:b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</a:br>
            <a:r>
              <a:rPr lang="en-US" dirty="0">
                <a:solidFill>
                  <a:schemeClr val="bg1"/>
                </a:solidFill>
                <a:latin typeface="Space Mono" panose="02010509030202000204" pitchFamily="49" charset="77"/>
              </a:rPr>
              <a:t>not just code.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78A0B33-2C61-65FD-B381-7BF37FDE1F0C}"/>
              </a:ext>
            </a:extLst>
          </p:cNvPr>
          <p:cNvSpPr/>
          <p:nvPr/>
        </p:nvSpPr>
        <p:spPr>
          <a:xfrm>
            <a:off x="288324" y="1119043"/>
            <a:ext cx="1108356" cy="1108356"/>
          </a:xfrm>
          <a:prstGeom prst="ellipse">
            <a:avLst/>
          </a:prstGeom>
          <a:gradFill flip="none" rotWithShape="1">
            <a:gsLst>
              <a:gs pos="0">
                <a:srgbClr val="0082EC">
                  <a:alpha val="50196"/>
                </a:srgbClr>
              </a:gs>
              <a:gs pos="82000">
                <a:schemeClr val="accent2">
                  <a:alpha val="11912"/>
                  <a:lumMod val="0"/>
                </a:schemeClr>
              </a:gs>
              <a:gs pos="100000">
                <a:schemeClr val="tx1"/>
              </a:gs>
            </a:gsLst>
            <a:lin ang="5400000" scaled="0"/>
            <a:tileRect/>
          </a:gra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 descr="Target with solid fill">
            <a:extLst>
              <a:ext uri="{FF2B5EF4-FFF2-40B4-BE49-F238E27FC236}">
                <a16:creationId xmlns:a16="http://schemas.microsoft.com/office/drawing/2014/main" id="{3B9BF8E6-21D5-7777-770A-2278F5C99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302" y="1196167"/>
            <a:ext cx="914400" cy="914400"/>
          </a:xfrm>
          <a:prstGeom prst="rect">
            <a:avLst/>
          </a:prstGeom>
        </p:spPr>
      </p:pic>
      <p:pic>
        <p:nvPicPr>
          <p:cNvPr id="36" name="Graphic 35" descr="Signature outline">
            <a:extLst>
              <a:ext uri="{FF2B5EF4-FFF2-40B4-BE49-F238E27FC236}">
                <a16:creationId xmlns:a16="http://schemas.microsoft.com/office/drawing/2014/main" id="{DF43BC8F-229F-C41D-DE9F-94B16C62B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446" y="3372696"/>
            <a:ext cx="914400" cy="914400"/>
          </a:xfrm>
          <a:prstGeom prst="rect">
            <a:avLst/>
          </a:prstGeom>
        </p:spPr>
      </p:pic>
      <p:pic>
        <p:nvPicPr>
          <p:cNvPr id="44" name="Graphic 43" descr="Watering Plant with solid fill">
            <a:extLst>
              <a:ext uri="{FF2B5EF4-FFF2-40B4-BE49-F238E27FC236}">
                <a16:creationId xmlns:a16="http://schemas.microsoft.com/office/drawing/2014/main" id="{FC4D7843-A963-28FB-8A91-1B1B86809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841" y="3437528"/>
            <a:ext cx="672937" cy="672937"/>
          </a:xfrm>
          <a:prstGeom prst="rect">
            <a:avLst/>
          </a:prstGeom>
        </p:spPr>
      </p:pic>
      <p:pic>
        <p:nvPicPr>
          <p:cNvPr id="52" name="Graphic 51" descr="Clipboard Mixed outline">
            <a:extLst>
              <a:ext uri="{FF2B5EF4-FFF2-40B4-BE49-F238E27FC236}">
                <a16:creationId xmlns:a16="http://schemas.microsoft.com/office/drawing/2014/main" id="{31600792-58FF-726E-C6D9-98EA755E1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0815" y="2459120"/>
            <a:ext cx="914400" cy="914400"/>
          </a:xfrm>
          <a:prstGeom prst="rect">
            <a:avLst/>
          </a:prstGeom>
        </p:spPr>
      </p:pic>
      <p:pic>
        <p:nvPicPr>
          <p:cNvPr id="56" name="Graphic 55" descr="Completed with solid fill">
            <a:extLst>
              <a:ext uri="{FF2B5EF4-FFF2-40B4-BE49-F238E27FC236}">
                <a16:creationId xmlns:a16="http://schemas.microsoft.com/office/drawing/2014/main" id="{3A8811D0-C10A-E986-194E-97E5A01A2A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4110" y="12085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8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>
            <a:spLocks noGrp="1"/>
          </p:cNvSpPr>
          <p:nvPr>
            <p:ph type="title"/>
          </p:nvPr>
        </p:nvSpPr>
        <p:spPr>
          <a:xfrm>
            <a:off x="311700" y="129392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dirty="0"/>
              <a:t>Meet Automation in the Middle: </a:t>
            </a:r>
            <a:r>
              <a:rPr lang="en" sz="3200" i="1" dirty="0"/>
              <a:t>NetOps automation can’t wait!</a:t>
            </a:r>
            <a:endParaRPr sz="3200" dirty="0"/>
          </a:p>
        </p:txBody>
      </p:sp>
      <p:pic>
        <p:nvPicPr>
          <p:cNvPr id="2" name="Google Shape;72;p16" descr="Image">
            <a:extLst>
              <a:ext uri="{FF2B5EF4-FFF2-40B4-BE49-F238E27FC236}">
                <a16:creationId xmlns:a16="http://schemas.microsoft.com/office/drawing/2014/main" id="{9BE35B1A-1F32-835E-30FB-B0A132A1AB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5101" y="232675"/>
            <a:ext cx="1178829" cy="510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>
            <a:spLocks noGrp="1"/>
          </p:cNvSpPr>
          <p:nvPr>
            <p:ph type="title"/>
          </p:nvPr>
        </p:nvSpPr>
        <p:spPr>
          <a:xfrm>
            <a:off x="311700" y="39240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F AC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15035</TotalTime>
  <Words>938</Words>
  <Application>Microsoft Macintosh PowerPoint</Application>
  <PresentationFormat>On-screen Show (16:9)</PresentationFormat>
  <Paragraphs>237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Space Mono</vt:lpstr>
      <vt:lpstr>Aptos</vt:lpstr>
      <vt:lpstr>Arial</vt:lpstr>
      <vt:lpstr>NAF AC0</vt:lpstr>
      <vt:lpstr>Meeting Automation in the Middle: Why NetOps automation can’t wait</vt:lpstr>
      <vt:lpstr>Incident to Insight</vt:lpstr>
      <vt:lpstr>Why not just wait?</vt:lpstr>
      <vt:lpstr>Fast. Decentralised. Unstructured.</vt:lpstr>
      <vt:lpstr>Fast. Decentralised. Unstructured.</vt:lpstr>
      <vt:lpstr>NetOps ToolBox and the ATF</vt:lpstr>
      <vt:lpstr>Crawl, Walk, Run</vt:lpstr>
      <vt:lpstr>Crawl</vt:lpstr>
      <vt:lpstr>Walk</vt:lpstr>
      <vt:lpstr>Run</vt:lpstr>
      <vt:lpstr>Why were we successful?</vt:lpstr>
      <vt:lpstr>How we’ll stay successful</vt:lpstr>
      <vt:lpstr>Zooming out</vt:lpstr>
      <vt:lpstr>Zooming out</vt:lpstr>
      <vt:lpstr>Lessons Learnt</vt:lpstr>
      <vt:lpstr>Meet Automation in the Middle: NetOps automation can’t wait!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Sando, Tim</cp:lastModifiedBy>
  <cp:revision>15</cp:revision>
  <dcterms:modified xsi:type="dcterms:W3CDTF">2026-06-03T09:52:39Z</dcterms:modified>
</cp:coreProperties>
</file>