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2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5143500" cx="9144000"/>
  <p:notesSz cx="6858000" cy="9144000"/>
  <p:embeddedFontLst>
    <p:embeddedFont>
      <p:font typeface="Space Mono"/>
      <p:regular r:id="rId15"/>
      <p:bold r:id="rId16"/>
      <p:italic r:id="rId17"/>
      <p:boldItalic r:id="rId18"/>
    </p:embeddedFont>
    <p:embeddedFont>
      <p:font typeface="Robot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-bold.fntdata"/><Relationship Id="rId11" Type="http://schemas.openxmlformats.org/officeDocument/2006/relationships/slide" Target="slides/slide7.xml"/><Relationship Id="rId22" Type="http://schemas.openxmlformats.org/officeDocument/2006/relationships/font" Target="fonts/Roboto-boldItalic.fntdata"/><Relationship Id="rId10" Type="http://schemas.openxmlformats.org/officeDocument/2006/relationships/slide" Target="slides/slide6.xml"/><Relationship Id="rId21" Type="http://schemas.openxmlformats.org/officeDocument/2006/relationships/font" Target="fonts/Roboto-italic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SpaceMono-regular.fntdata"/><Relationship Id="rId14" Type="http://schemas.openxmlformats.org/officeDocument/2006/relationships/slide" Target="slides/slide10.xml"/><Relationship Id="rId17" Type="http://schemas.openxmlformats.org/officeDocument/2006/relationships/font" Target="fonts/SpaceMono-italic.fntdata"/><Relationship Id="rId16" Type="http://schemas.openxmlformats.org/officeDocument/2006/relationships/font" Target="fonts/SpaceMono-bold.fntdata"/><Relationship Id="rId5" Type="http://schemas.openxmlformats.org/officeDocument/2006/relationships/slide" Target="slides/slide1.xml"/><Relationship Id="rId19" Type="http://schemas.openxmlformats.org/officeDocument/2006/relationships/font" Target="fonts/Roboto-regular.fntdata"/><Relationship Id="rId6" Type="http://schemas.openxmlformats.org/officeDocument/2006/relationships/slide" Target="slides/slide2.xml"/><Relationship Id="rId18" Type="http://schemas.openxmlformats.org/officeDocument/2006/relationships/font" Target="fonts/SpaceMono-boldItalic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" name="Google Shape;68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df02b6f4ef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" name="Google Shape;74;g3df02b6f4ef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f02b6f4ef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" name="Google Shape;80;g3df02b6f4ef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e555144ad9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3e555144ad9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2" name="Google Shape;11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" name="Google Shape;11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f02b6f4ef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df02b6f4ef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df02b6f4ef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df02b6f4ef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f02b6f4ef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f02b6f4ef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e41253afa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e41253afa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image" Target="../media/image1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1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889300"/>
            <a:ext cx="85206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44115"/>
            <a:ext cx="8520600" cy="7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3" name="Google Shape;13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69400" y="249325"/>
            <a:ext cx="2125249" cy="423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2" title="AC5 dark-bg tagline.png"/>
          <p:cNvPicPr preferRelativeResize="0"/>
          <p:nvPr/>
        </p:nvPicPr>
        <p:blipFill rotWithShape="1">
          <a:blip r:embed="rId3">
            <a:alphaModFix/>
          </a:blip>
          <a:srcRect b="34541" l="5583" r="6350" t="31029"/>
          <a:stretch/>
        </p:blipFill>
        <p:spPr>
          <a:xfrm>
            <a:off x="124100" y="3665900"/>
            <a:ext cx="8897050" cy="1390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body"/>
          </p:nvPr>
        </p:nvSpPr>
        <p:spPr>
          <a:xfrm>
            <a:off x="311700" y="11322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683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3pPr>
            <a:lvl4pPr indent="-355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  <a:defRPr/>
            </a:lvl4pPr>
            <a:lvl5pPr indent="-355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  <a:defRPr/>
            </a:lvl5pPr>
            <a:lvl6pPr indent="-3556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■"/>
              <a:defRPr/>
            </a:lvl6pPr>
            <a:lvl7pPr indent="-3556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  <a:defRPr/>
            </a:lvl7pPr>
            <a:lvl8pPr indent="-3556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  <a:defRPr/>
            </a:lvl8pPr>
            <a:lvl9pPr indent="-3556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■"/>
              <a:defRPr/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 type="secHead">
  <p:cSld name="SECTION_HEADER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4200"/>
              <a:buNone/>
              <a:defRPr sz="4200">
                <a:solidFill>
                  <a:srgbClr val="FFFF00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1" name="Google Shape;21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" name="Google Shape;22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9400" y="249325"/>
            <a:ext cx="2125249" cy="42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683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3pPr>
            <a:lvl4pPr indent="-355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  <a:defRPr/>
            </a:lvl4pPr>
            <a:lvl5pPr indent="-355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  <a:defRPr/>
            </a:lvl5pPr>
            <a:lvl6pPr indent="-3556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■"/>
              <a:defRPr/>
            </a:lvl6pPr>
            <a:lvl7pPr indent="-3556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  <a:defRPr/>
            </a:lvl7pPr>
            <a:lvl8pPr indent="-3556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  <a:defRPr/>
            </a:lvl8pPr>
            <a:lvl9pPr indent="-3556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■"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683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3pPr>
            <a:lvl4pPr indent="-355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  <a:defRPr/>
            </a:lvl4pPr>
            <a:lvl5pPr indent="-355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  <a:defRPr/>
            </a:lvl5pPr>
            <a:lvl6pPr indent="-3556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■"/>
              <a:defRPr/>
            </a:lvl6pPr>
            <a:lvl7pPr indent="-3556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  <a:defRPr/>
            </a:lvl7pPr>
            <a:lvl8pPr indent="-3556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  <a:defRPr/>
            </a:lvl8pPr>
            <a:lvl9pPr indent="-3556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■"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2">
  <p:cSld name="SECTION_HEADER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311700" y="1293925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4200"/>
              <a:buNone/>
              <a:defRPr sz="4200">
                <a:solidFill>
                  <a:srgbClr val="FFFF00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1" name="Google Shape;3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9400" y="249325"/>
            <a:ext cx="2125249" cy="42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3">
  <p:cSld name="SECTION_HEADER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/>
          <p:nvPr>
            <p:ph type="title"/>
          </p:nvPr>
        </p:nvSpPr>
        <p:spPr>
          <a:xfrm>
            <a:off x="311700" y="29906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4200"/>
              <a:buNone/>
              <a:defRPr sz="4200">
                <a:solidFill>
                  <a:srgbClr val="FFFF00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4" name="Google Shape;34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5" name="Google Shape;35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9400" y="249325"/>
            <a:ext cx="2125249" cy="42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4064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1pPr>
            <a:lvl2pPr indent="-3810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683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3pPr>
            <a:lvl4pPr indent="-3556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  <a:defRPr/>
            </a:lvl4pPr>
            <a:lvl5pPr indent="-3556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  <a:defRPr/>
            </a:lvl5pPr>
            <a:lvl6pPr indent="-3556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■"/>
              <a:defRPr/>
            </a:lvl6pPr>
            <a:lvl7pPr indent="-3556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  <a:defRPr/>
            </a:lvl7pPr>
            <a:lvl8pPr indent="-3556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  <a:defRPr/>
            </a:lvl8pPr>
            <a:lvl9pPr indent="-3556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■"/>
              <a:defRPr/>
            </a:lvl9pPr>
          </a:lstStyle>
          <a:p/>
        </p:txBody>
      </p:sp>
      <p:sp>
        <p:nvSpPr>
          <p:cNvPr id="39" name="Google Shape;39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estions">
  <p:cSld name="SECTION_HEADER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 txBox="1"/>
          <p:nvPr>
            <p:ph type="title"/>
          </p:nvPr>
        </p:nvSpPr>
        <p:spPr>
          <a:xfrm>
            <a:off x="311700" y="392400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4800"/>
              <a:buNone/>
              <a:defRPr sz="4800">
                <a:solidFill>
                  <a:srgbClr val="FFFF00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42" name="Google Shape;4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3" name="Google Shape;4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9400" y="249325"/>
            <a:ext cx="2125249" cy="42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46" name="Google Shape;46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" name="Google Shape;47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36375" y="4828424"/>
            <a:ext cx="1374125" cy="228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0" name="Google Shape;50;p11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83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1pPr>
            <a:lvl2pPr indent="-3556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2pPr>
            <a:lvl3pPr indent="-3429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indent="-3429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4pPr>
            <a:lvl5pPr indent="-3429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5pPr>
            <a:lvl6pPr indent="-3429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6pPr>
            <a:lvl7pPr indent="-3429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7pPr>
            <a:lvl8pPr indent="-3429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8pPr>
            <a:lvl9pPr indent="-3429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9pPr>
          </a:lstStyle>
          <a:p/>
        </p:txBody>
      </p:sp>
      <p:sp>
        <p:nvSpPr>
          <p:cNvPr id="51" name="Google Shape;51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2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/>
          <p:nvPr/>
        </p:nvSpPr>
        <p:spPr>
          <a:xfrm>
            <a:off x="4572000" y="-3285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3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8" name="Google Shape;58;p13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9" name="Google Shape;59;p13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●"/>
              <a:defRPr>
                <a:solidFill>
                  <a:schemeClr val="dk1"/>
                </a:solidFill>
              </a:defRPr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○"/>
              <a:defRPr>
                <a:solidFill>
                  <a:schemeClr val="dk1"/>
                </a:solidFill>
              </a:defRPr>
            </a:lvl2pPr>
            <a:lvl3pPr indent="-3683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Char char="■"/>
              <a:defRPr>
                <a:solidFill>
                  <a:schemeClr val="dk1"/>
                </a:solidFill>
              </a:defRPr>
            </a:lvl3pPr>
            <a:lvl4pPr indent="-355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>
                <a:solidFill>
                  <a:schemeClr val="dk1"/>
                </a:solidFill>
              </a:defRPr>
            </a:lvl4pPr>
            <a:lvl5pPr indent="-355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>
                <a:solidFill>
                  <a:schemeClr val="dk1"/>
                </a:solidFill>
              </a:defRPr>
            </a:lvl5pPr>
            <a:lvl6pPr indent="-3556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>
                <a:solidFill>
                  <a:schemeClr val="dk1"/>
                </a:solidFill>
              </a:defRPr>
            </a:lvl6pPr>
            <a:lvl7pPr indent="-3556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>
                <a:solidFill>
                  <a:schemeClr val="dk1"/>
                </a:solidFill>
              </a:defRPr>
            </a:lvl7pPr>
            <a:lvl8pPr indent="-3556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>
                <a:solidFill>
                  <a:schemeClr val="dk1"/>
                </a:solidFill>
              </a:defRPr>
            </a:lvl8pPr>
            <a:lvl9pPr indent="-3556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0" name="Google Shape;60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</a:lstStyle>
          <a:p/>
        </p:txBody>
      </p:sp>
      <p:sp>
        <p:nvSpPr>
          <p:cNvPr id="63" name="Google Shape;63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theme" Target="../theme/theme1.xml"/><Relationship Id="rId1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Space Mono"/>
              <a:buNone/>
              <a:defRPr b="0" i="0" sz="3200" u="none" cap="none" strike="noStrike">
                <a:solidFill>
                  <a:srgbClr val="FFFF00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Space Mono"/>
              <a:buNone/>
              <a:defRPr b="0" i="0" sz="3200" u="none" cap="none" strike="noStrike">
                <a:solidFill>
                  <a:srgbClr val="FFFF00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Space Mono"/>
              <a:buNone/>
              <a:defRPr b="0" i="0" sz="3200" u="none" cap="none" strike="noStrike">
                <a:solidFill>
                  <a:srgbClr val="FFFF00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Space Mono"/>
              <a:buNone/>
              <a:defRPr b="0" i="0" sz="3200" u="none" cap="none" strike="noStrike">
                <a:solidFill>
                  <a:srgbClr val="FFFF00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Space Mono"/>
              <a:buNone/>
              <a:defRPr b="0" i="0" sz="3200" u="none" cap="none" strike="noStrike">
                <a:solidFill>
                  <a:srgbClr val="FFFF00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Space Mono"/>
              <a:buNone/>
              <a:defRPr b="0" i="0" sz="3200" u="none" cap="none" strike="noStrike">
                <a:solidFill>
                  <a:srgbClr val="FFFF00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Space Mono"/>
              <a:buNone/>
              <a:defRPr b="0" i="0" sz="3200" u="none" cap="none" strike="noStrike">
                <a:solidFill>
                  <a:srgbClr val="FFFF00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Space Mono"/>
              <a:buNone/>
              <a:defRPr b="0" i="0" sz="3200" u="none" cap="none" strike="noStrike">
                <a:solidFill>
                  <a:srgbClr val="FFFF00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Space Mono"/>
              <a:buNone/>
              <a:defRPr b="0" i="0" sz="3200" u="none" cap="none" strike="noStrike">
                <a:solidFill>
                  <a:srgbClr val="FFFF00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322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4064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Space Mono"/>
              <a:buChar char="●"/>
              <a:defRPr b="0" i="0" sz="2800" u="none" cap="none" strike="noStrike">
                <a:solidFill>
                  <a:schemeClr val="l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indent="-3810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Space Mono"/>
              <a:buChar char="○"/>
              <a:defRPr b="0" i="0" sz="2400" u="none" cap="none" strike="noStrike">
                <a:solidFill>
                  <a:schemeClr val="l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indent="-3683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Space Mono"/>
              <a:buChar char="■"/>
              <a:defRPr b="0" i="0" sz="2200" u="none" cap="none" strike="noStrike">
                <a:solidFill>
                  <a:schemeClr val="l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indent="-3556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pace Mono"/>
              <a:buChar char="●"/>
              <a:defRPr b="0" i="0" sz="2000" u="none" cap="none" strike="noStrike">
                <a:solidFill>
                  <a:schemeClr val="l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indent="-3556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pace Mono"/>
              <a:buChar char="○"/>
              <a:defRPr b="0" i="0" sz="2000" u="none" cap="none" strike="noStrike">
                <a:solidFill>
                  <a:schemeClr val="l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indent="-3556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pace Mono"/>
              <a:buChar char="■"/>
              <a:defRPr b="0" i="0" sz="2000" u="none" cap="none" strike="noStrike">
                <a:solidFill>
                  <a:schemeClr val="l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indent="-3556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pace Mono"/>
              <a:buChar char="●"/>
              <a:defRPr b="0" i="0" sz="2000" u="none" cap="none" strike="noStrike">
                <a:solidFill>
                  <a:schemeClr val="l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indent="-3556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pace Mono"/>
              <a:buChar char="○"/>
              <a:defRPr b="0" i="0" sz="2000" u="none" cap="none" strike="noStrike">
                <a:solidFill>
                  <a:schemeClr val="l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indent="-3556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pace Mono"/>
              <a:buChar char="■"/>
              <a:defRPr b="0" i="0" sz="2000" u="none" cap="none" strike="noStrike">
                <a:solidFill>
                  <a:schemeClr val="l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reference.networkautomation.forum/Framework/Framework/" TargetMode="External"/><Relationship Id="rId4" Type="http://schemas.openxmlformats.org/officeDocument/2006/relationships/image" Target="../media/image4.png"/><Relationship Id="rId5" Type="http://schemas.openxmlformats.org/officeDocument/2006/relationships/hyperlink" Target="https://reference.networkautomation.forum/Framework/Presentations/" TargetMode="External"/><Relationship Id="rId6" Type="http://schemas.openxmlformats.org/officeDocument/2006/relationships/image" Target="../media/image7.png"/><Relationship Id="rId7" Type="http://schemas.openxmlformats.org/officeDocument/2006/relationships/image" Target="../media/image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naf-framework-solution-wizard.streamlit.app/" TargetMode="External"/><Relationship Id="rId4" Type="http://schemas.openxmlformats.org/officeDocument/2006/relationships/image" Target="../media/image1.png"/><Relationship Id="rId5" Type="http://schemas.openxmlformats.org/officeDocument/2006/relationships/image" Target="../media/image1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/>
          <p:nvPr>
            <p:ph type="ctrTitle"/>
          </p:nvPr>
        </p:nvSpPr>
        <p:spPr>
          <a:xfrm>
            <a:off x="311708" y="889300"/>
            <a:ext cx="85206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Resources and feedback</a:t>
            </a:r>
            <a:endParaRPr/>
          </a:p>
        </p:txBody>
      </p:sp>
      <p:sp>
        <p:nvSpPr>
          <p:cNvPr id="71" name="Google Shape;71;p16"/>
          <p:cNvSpPr txBox="1"/>
          <p:nvPr>
            <p:ph idx="1" type="subTitle"/>
          </p:nvPr>
        </p:nvSpPr>
        <p:spPr>
          <a:xfrm>
            <a:off x="311700" y="2844115"/>
            <a:ext cx="8520600" cy="7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"/>
              <a:t>This part/session is for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"/>
              <a:t> </a:t>
            </a:r>
            <a:br>
              <a:rPr lang="en"/>
            </a:br>
            <a:br>
              <a:rPr lang="en"/>
            </a:br>
            <a:r>
              <a:rPr lang="en"/>
              <a:t>Any question or feedback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br>
              <a:rPr lang="en"/>
            </a:br>
            <a:r>
              <a:rPr lang="en"/>
              <a:t>wrt NAF Framework ?</a:t>
            </a:r>
            <a:endParaRPr/>
          </a:p>
        </p:txBody>
      </p:sp>
      <p:pic>
        <p:nvPicPr>
          <p:cNvPr id="77" name="Google Shape;77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05400" y="1486550"/>
            <a:ext cx="1838325" cy="1104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Resources</a:t>
            </a:r>
            <a:endParaRPr/>
          </a:p>
        </p:txBody>
      </p:sp>
      <p:sp>
        <p:nvSpPr>
          <p:cNvPr id="83" name="Google Shape;83;p18"/>
          <p:cNvSpPr/>
          <p:nvPr/>
        </p:nvSpPr>
        <p:spPr>
          <a:xfrm>
            <a:off x="365750" y="1097275"/>
            <a:ext cx="2500200" cy="2538900"/>
          </a:xfrm>
          <a:prstGeom prst="roundRect">
            <a:avLst>
              <a:gd fmla="val 4000" name="adj"/>
            </a:avLst>
          </a:prstGeom>
          <a:solidFill>
            <a:srgbClr val="111111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8"/>
          <p:cNvSpPr/>
          <p:nvPr/>
        </p:nvSpPr>
        <p:spPr>
          <a:xfrm>
            <a:off x="548646" y="1280150"/>
            <a:ext cx="2068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800"/>
              <a:buFont typeface="Arial"/>
              <a:buNone/>
            </a:pPr>
            <a:r>
              <a:rPr b="1" lang="en" sz="1800">
                <a:solidFill>
                  <a:srgbClr val="00D4FF"/>
                </a:solidFill>
              </a:rPr>
              <a:t>NAF Framework</a:t>
            </a:r>
            <a:endParaRPr b="0" i="0" sz="1800" u="none" cap="none" strike="noStrike">
              <a:solidFill>
                <a:srgbClr val="00D4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8"/>
          <p:cNvSpPr/>
          <p:nvPr/>
        </p:nvSpPr>
        <p:spPr>
          <a:xfrm>
            <a:off x="517396" y="2171448"/>
            <a:ext cx="2196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Arial"/>
              <a:buNone/>
            </a:pPr>
            <a:r>
              <a:rPr lang="en" sz="1000">
                <a:solidFill>
                  <a:srgbClr val="00D4FF"/>
                </a:solidFill>
                <a:uFill>
                  <a:noFill/>
                </a:u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https://reference.networkautomation.forum/Framework/Framework/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6" name="Google Shape;86;p18" title="naf-framework-qr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0225" y="2696749"/>
            <a:ext cx="1202526" cy="120252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8"/>
          <p:cNvSpPr/>
          <p:nvPr/>
        </p:nvSpPr>
        <p:spPr>
          <a:xfrm>
            <a:off x="3352074" y="1097275"/>
            <a:ext cx="2500200" cy="2538900"/>
          </a:xfrm>
          <a:prstGeom prst="roundRect">
            <a:avLst>
              <a:gd fmla="val 4000" name="adj"/>
            </a:avLst>
          </a:prstGeom>
          <a:solidFill>
            <a:srgbClr val="111111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8"/>
          <p:cNvSpPr/>
          <p:nvPr/>
        </p:nvSpPr>
        <p:spPr>
          <a:xfrm>
            <a:off x="3534970" y="1280150"/>
            <a:ext cx="2068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800"/>
              <a:buFont typeface="Arial"/>
              <a:buNone/>
            </a:pPr>
            <a:r>
              <a:rPr b="1" lang="en" sz="1800">
                <a:solidFill>
                  <a:srgbClr val="00D4FF"/>
                </a:solidFill>
              </a:rPr>
              <a:t>NAF Framework presentations</a:t>
            </a:r>
            <a:endParaRPr b="0" i="0" sz="1800" u="none" cap="none" strike="noStrike">
              <a:solidFill>
                <a:srgbClr val="00D4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8"/>
          <p:cNvSpPr/>
          <p:nvPr/>
        </p:nvSpPr>
        <p:spPr>
          <a:xfrm>
            <a:off x="3503720" y="2171448"/>
            <a:ext cx="2196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Arial"/>
              <a:buNone/>
            </a:pPr>
            <a:r>
              <a:rPr lang="en" sz="1000">
                <a:solidFill>
                  <a:srgbClr val="00D4FF"/>
                </a:solidFill>
                <a:uFill>
                  <a:noFill/>
                </a:u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https://reference.networkautomation.forum/Framework/Presentations/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8" title="naf-framework-preso-qr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949499" y="2744150"/>
            <a:ext cx="1236650" cy="123665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/>
          <p:nvPr/>
        </p:nvSpPr>
        <p:spPr>
          <a:xfrm>
            <a:off x="6201850" y="1097275"/>
            <a:ext cx="2500200" cy="2538900"/>
          </a:xfrm>
          <a:prstGeom prst="roundRect">
            <a:avLst>
              <a:gd fmla="val 4000" name="adj"/>
            </a:avLst>
          </a:prstGeom>
          <a:solidFill>
            <a:srgbClr val="111111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8"/>
          <p:cNvSpPr/>
          <p:nvPr/>
        </p:nvSpPr>
        <p:spPr>
          <a:xfrm>
            <a:off x="6384746" y="1280150"/>
            <a:ext cx="2068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800"/>
              <a:buFont typeface="Arial"/>
              <a:buNone/>
            </a:pPr>
            <a:r>
              <a:rPr b="1" lang="en" sz="1800">
                <a:solidFill>
                  <a:srgbClr val="00D4FF"/>
                </a:solidFill>
              </a:rPr>
              <a:t>NAF Slack</a:t>
            </a:r>
            <a:endParaRPr b="0" i="0" sz="1800" u="none" cap="none" strike="noStrike">
              <a:solidFill>
                <a:srgbClr val="00D4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8"/>
          <p:cNvSpPr/>
          <p:nvPr/>
        </p:nvSpPr>
        <p:spPr>
          <a:xfrm>
            <a:off x="6353496" y="2171448"/>
            <a:ext cx="2196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Arial"/>
              <a:buNone/>
            </a:pPr>
            <a:r>
              <a:rPr lang="en" sz="1000">
                <a:solidFill>
                  <a:srgbClr val="00D4FF"/>
                </a:solidFill>
              </a:rPr>
              <a:t>https://networkautomationfrm.slack.com/archives/C082G6VGZHP</a:t>
            </a:r>
            <a:endParaRPr sz="1000">
              <a:solidFill>
                <a:srgbClr val="00D4FF"/>
              </a:solidFill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8" title="naf-slack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912049" y="2778275"/>
            <a:ext cx="1202525" cy="1202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Additional resources</a:t>
            </a:r>
            <a:endParaRPr/>
          </a:p>
        </p:txBody>
      </p:sp>
      <p:sp>
        <p:nvSpPr>
          <p:cNvPr id="100" name="Google Shape;100;p19"/>
          <p:cNvSpPr/>
          <p:nvPr/>
        </p:nvSpPr>
        <p:spPr>
          <a:xfrm>
            <a:off x="365750" y="1097274"/>
            <a:ext cx="3931800" cy="2538900"/>
          </a:xfrm>
          <a:prstGeom prst="roundRect">
            <a:avLst>
              <a:gd fmla="val 4000" name="adj"/>
            </a:avLst>
          </a:prstGeom>
          <a:solidFill>
            <a:srgbClr val="111111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9"/>
          <p:cNvSpPr/>
          <p:nvPr/>
        </p:nvSpPr>
        <p:spPr>
          <a:xfrm>
            <a:off x="548640" y="1280160"/>
            <a:ext cx="36576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00D4FF"/>
                </a:solidFill>
                <a:latin typeface="Arial"/>
                <a:ea typeface="Arial"/>
                <a:cs typeface="Arial"/>
                <a:sym typeface="Arial"/>
              </a:rPr>
              <a:t>Designing Network</a:t>
            </a:r>
            <a:endParaRPr b="0" i="0" sz="1800" u="none" cap="none" strike="noStrike">
              <a:solidFill>
                <a:srgbClr val="00D4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00D4FF"/>
                </a:solidFill>
                <a:latin typeface="Arial"/>
                <a:ea typeface="Arial"/>
                <a:cs typeface="Arial"/>
                <a:sym typeface="Arial"/>
              </a:rPr>
              <a:t>Automation at Scale</a:t>
            </a:r>
            <a:endParaRPr b="0" i="0" sz="1800" u="none" cap="none" strike="noStrike">
              <a:solidFill>
                <a:srgbClr val="00D4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9"/>
          <p:cNvSpPr/>
          <p:nvPr/>
        </p:nvSpPr>
        <p:spPr>
          <a:xfrm>
            <a:off x="548640" y="2103120"/>
            <a:ext cx="36576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A comprehensive guide to designing scalable, reliable, and maintainable network automation systems</a:t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9"/>
          <p:cNvSpPr/>
          <p:nvPr/>
        </p:nvSpPr>
        <p:spPr>
          <a:xfrm>
            <a:off x="548640" y="292608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D4FF"/>
                </a:solidFill>
                <a:latin typeface="Arial"/>
                <a:ea typeface="Arial"/>
                <a:cs typeface="Arial"/>
                <a:sym typeface="Arial"/>
              </a:rPr>
              <a:t>https://designingnetworkautomation.com/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D4FF"/>
                </a:solidFill>
                <a:latin typeface="Arial"/>
                <a:ea typeface="Arial"/>
                <a:cs typeface="Arial"/>
                <a:sym typeface="Arial"/>
              </a:rPr>
              <a:t>By Christian Adell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9"/>
          <p:cNvSpPr/>
          <p:nvPr/>
        </p:nvSpPr>
        <p:spPr>
          <a:xfrm>
            <a:off x="4846325" y="1097274"/>
            <a:ext cx="3931800" cy="2538900"/>
          </a:xfrm>
          <a:prstGeom prst="roundRect">
            <a:avLst>
              <a:gd fmla="val 4000" name="adj"/>
            </a:avLst>
          </a:prstGeom>
          <a:solidFill>
            <a:srgbClr val="111111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9"/>
          <p:cNvSpPr/>
          <p:nvPr/>
        </p:nvSpPr>
        <p:spPr>
          <a:xfrm>
            <a:off x="5029200" y="1280160"/>
            <a:ext cx="36576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00D4FF"/>
                </a:solidFill>
                <a:latin typeface="Arial"/>
                <a:ea typeface="Arial"/>
                <a:cs typeface="Arial"/>
                <a:sym typeface="Arial"/>
              </a:rPr>
              <a:t>NAF Network Automation</a:t>
            </a:r>
            <a:endParaRPr b="0" i="0" sz="1800" u="none" cap="none" strike="noStrike">
              <a:solidFill>
                <a:srgbClr val="00D4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00D4FF"/>
                </a:solidFill>
                <a:latin typeface="Arial"/>
                <a:ea typeface="Arial"/>
                <a:cs typeface="Arial"/>
                <a:sym typeface="Arial"/>
              </a:rPr>
              <a:t>Solution Wizard</a:t>
            </a:r>
            <a:endParaRPr b="0" i="0" sz="1800" u="none" cap="none" strike="noStrike">
              <a:solidFill>
                <a:srgbClr val="00D4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9"/>
          <p:cNvSpPr/>
          <p:nvPr/>
        </p:nvSpPr>
        <p:spPr>
          <a:xfrm>
            <a:off x="5029200" y="2103120"/>
            <a:ext cx="36576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This application helps you apply the Network Automation Forum's NAF to your automation projects.</a:t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9"/>
          <p:cNvSpPr/>
          <p:nvPr/>
        </p:nvSpPr>
        <p:spPr>
          <a:xfrm>
            <a:off x="5029200" y="292608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Arial"/>
              <a:buNone/>
            </a:pPr>
            <a:r>
              <a:rPr lang="en" sz="1000">
                <a:solidFill>
                  <a:srgbClr val="00D4FF"/>
                </a:solidFill>
                <a:uFill>
                  <a:noFill/>
                </a:u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https://naf-framework-solution-wizard.streamlit.app/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D4FF"/>
                </a:solidFill>
                <a:latin typeface="Arial"/>
                <a:ea typeface="Arial"/>
                <a:cs typeface="Arial"/>
                <a:sym typeface="Arial"/>
              </a:rPr>
              <a:t>By Claudia de Luna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8" name="Google Shape;108;p19" title="qr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37450" y="3322924"/>
            <a:ext cx="1202526" cy="1202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9" title="qr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32051" y="3322924"/>
            <a:ext cx="1202526" cy="1202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NAF Framework</a:t>
            </a:r>
            <a:endParaRPr/>
          </a:p>
        </p:txBody>
      </p:sp>
      <p:pic>
        <p:nvPicPr>
          <p:cNvPr id="115" name="Google Shape;115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22375" y="4295825"/>
            <a:ext cx="640076" cy="640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20"/>
          <p:cNvPicPr preferRelativeResize="0"/>
          <p:nvPr/>
        </p:nvPicPr>
        <p:blipFill rotWithShape="1">
          <a:blip r:embed="rId4">
            <a:alphaModFix/>
          </a:blip>
          <a:srcRect b="0" l="3807" r="4458" t="10482"/>
          <a:stretch/>
        </p:blipFill>
        <p:spPr>
          <a:xfrm>
            <a:off x="1458000" y="1004150"/>
            <a:ext cx="6045102" cy="3931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1"/>
          <p:cNvSpPr txBox="1"/>
          <p:nvPr>
            <p:ph type="title"/>
          </p:nvPr>
        </p:nvSpPr>
        <p:spPr>
          <a:xfrm>
            <a:off x="311700" y="392400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Up to the BoF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many building block instances can you have? </a:t>
            </a:r>
            <a:endParaRPr/>
          </a:p>
        </p:txBody>
      </p:sp>
      <p:sp>
        <p:nvSpPr>
          <p:cNvPr id="127" name="Google Shape;127;p22"/>
          <p:cNvSpPr txBox="1"/>
          <p:nvPr>
            <p:ph idx="1" type="body"/>
          </p:nvPr>
        </p:nvSpPr>
        <p:spPr>
          <a:xfrm>
            <a:off x="311700" y="1611400"/>
            <a:ext cx="8520600" cy="293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One</a:t>
            </a:r>
            <a:endParaRPr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Many</a:t>
            </a:r>
            <a:endParaRPr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All of the above 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does PyATS/NUTS fit? </a:t>
            </a:r>
            <a:endParaRPr/>
          </a:p>
        </p:txBody>
      </p:sp>
      <p:sp>
        <p:nvSpPr>
          <p:cNvPr id="133" name="Google Shape;133;p23"/>
          <p:cNvSpPr txBox="1"/>
          <p:nvPr>
            <p:ph idx="1" type="body"/>
          </p:nvPr>
        </p:nvSpPr>
        <p:spPr>
          <a:xfrm>
            <a:off x="311700" y="11322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Observability</a:t>
            </a:r>
            <a:endParaRPr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Orchestration</a:t>
            </a:r>
            <a:endParaRPr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Collector</a:t>
            </a:r>
            <a:endParaRPr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Executor</a:t>
            </a:r>
            <a:endParaRPr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Intent</a:t>
            </a:r>
            <a:endParaRPr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All of the above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is AI fitting in? </a:t>
            </a:r>
            <a:endParaRPr/>
          </a:p>
        </p:txBody>
      </p:sp>
      <p:sp>
        <p:nvSpPr>
          <p:cNvPr id="139" name="Google Shape;139;p24"/>
          <p:cNvSpPr txBox="1"/>
          <p:nvPr>
            <p:ph idx="1" type="body"/>
          </p:nvPr>
        </p:nvSpPr>
        <p:spPr>
          <a:xfrm>
            <a:off x="311700" y="11322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Observability</a:t>
            </a:r>
            <a:endParaRPr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Orchestration</a:t>
            </a:r>
            <a:endParaRPr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Collector</a:t>
            </a:r>
            <a:endParaRPr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Executor</a:t>
            </a:r>
            <a:endParaRPr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Intent</a:t>
            </a:r>
            <a:endParaRPr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All of the above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apply network validation with the framework?</a:t>
            </a:r>
            <a:endParaRPr/>
          </a:p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3">
            <a:alphaModFix/>
          </a:blip>
          <a:srcRect b="0" l="3807" r="4458" t="10482"/>
          <a:stretch/>
        </p:blipFill>
        <p:spPr>
          <a:xfrm>
            <a:off x="229400" y="1877350"/>
            <a:ext cx="3982331" cy="259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3807" r="4458" t="10482"/>
          <a:stretch/>
        </p:blipFill>
        <p:spPr>
          <a:xfrm>
            <a:off x="4449650" y="1870674"/>
            <a:ext cx="3982331" cy="259012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/>
          <p:nvPr/>
        </p:nvSpPr>
        <p:spPr>
          <a:xfrm>
            <a:off x="4555050" y="2458200"/>
            <a:ext cx="1196100" cy="697500"/>
          </a:xfrm>
          <a:prstGeom prst="roundRect">
            <a:avLst>
              <a:gd fmla="val 16667" name="adj"/>
            </a:avLst>
          </a:prstGeom>
          <a:solidFill>
            <a:srgbClr val="FF99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Intent</a:t>
            </a:r>
            <a:endParaRPr sz="9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" name="Google Shape;148;p25"/>
          <p:cNvSpPr/>
          <p:nvPr/>
        </p:nvSpPr>
        <p:spPr>
          <a:xfrm>
            <a:off x="7120150" y="2458200"/>
            <a:ext cx="1249200" cy="697500"/>
          </a:xfrm>
          <a:prstGeom prst="roundRect">
            <a:avLst>
              <a:gd fmla="val 16667" name="adj"/>
            </a:avLst>
          </a:prstGeom>
          <a:solidFill>
            <a:srgbClr val="6AA84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Observability</a:t>
            </a:r>
            <a:endParaRPr sz="9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" name="Google Shape;149;p25"/>
          <p:cNvSpPr/>
          <p:nvPr/>
        </p:nvSpPr>
        <p:spPr>
          <a:xfrm>
            <a:off x="4773900" y="3315425"/>
            <a:ext cx="1475700" cy="465300"/>
          </a:xfrm>
          <a:prstGeom prst="roundRect">
            <a:avLst>
              <a:gd fmla="val 16667" name="adj"/>
            </a:avLst>
          </a:prstGeom>
          <a:solidFill>
            <a:srgbClr val="8E7CC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Executor</a:t>
            </a:r>
            <a:endParaRPr sz="9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25"/>
          <p:cNvSpPr/>
          <p:nvPr/>
        </p:nvSpPr>
        <p:spPr>
          <a:xfrm>
            <a:off x="6647450" y="3315425"/>
            <a:ext cx="1475700" cy="465300"/>
          </a:xfrm>
          <a:prstGeom prst="roundRect">
            <a:avLst>
              <a:gd fmla="val 16667" name="adj"/>
            </a:avLst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Collector</a:t>
            </a:r>
            <a:endParaRPr sz="9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NAF AC0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