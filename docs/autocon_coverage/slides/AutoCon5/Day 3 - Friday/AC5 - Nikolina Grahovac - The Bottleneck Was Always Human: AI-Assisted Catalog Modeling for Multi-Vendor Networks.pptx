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Space Mono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50009c9d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e50009c9d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Nikolina, Engineering Lead at Codaxy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50009c9d9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50009c9d9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0009c9d9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3e50009c9d9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Network abstraction is the first step in all of our solutions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Network engineers and domain experts come in to design a catalog of TMF resource and service specifications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development team takes it from there and implements use cases on top of CxO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0009c9d9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e50009c9d9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first step was rarely fast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Similar issues surfaced across different implementations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started looking into it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50009c9d9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50009c9d9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0009c9d9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0009c9d9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50009c9d9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50009c9d9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50009c9d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50009c9d9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50009c9d9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50009c9d9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50009c9d9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50009c9d9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50009c9d9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50009c9d9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50009c9d9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50009c9d9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50009c9d9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e50009c9d9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50009c9d9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e50009c9d9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50009c9d9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e50009c9d9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50009c9d9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e50009c9d9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50009c9d9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e50009c9d9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50009c9d9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e50009c9d9_1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57762c2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g3e57762c2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57762c29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3e57762c29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57762c29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e57762c29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57762c29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3e57762c29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50009c9d9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g3e50009c9d9_1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50009c9d9_1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3e50009c9d9_1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50009c9d9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e50009c9d9_1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57762c29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e57762c29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57762c29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3e57762c29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50009c9d9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50009c9d9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50009c9d9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50009c9d9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50009c9d9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3e50009c9d9_1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50009c9d9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e50009c9d9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89300"/>
            <a:ext cx="85206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44115"/>
            <a:ext cx="8520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AC5 dark-bg tagline.png"/>
          <p:cNvPicPr preferRelativeResize="0"/>
          <p:nvPr/>
        </p:nvPicPr>
        <p:blipFill rotWithShape="1">
          <a:blip r:embed="rId3">
            <a:alphaModFix/>
          </a:blip>
          <a:srcRect l="5583" t="31029" r="6350" b="34541"/>
          <a:stretch/>
        </p:blipFill>
        <p:spPr>
          <a:xfrm>
            <a:off x="124100" y="3665900"/>
            <a:ext cx="8897050" cy="139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12939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29906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11700" y="39240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  <a:defRPr sz="48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375" y="4828424"/>
            <a:ext cx="1374125" cy="2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572000" y="-3285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solidFill>
                  <a:schemeClr val="dk1"/>
                </a:solidFill>
              </a:defRPr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>
                <a:solidFill>
                  <a:schemeClr val="dk1"/>
                </a:solidFill>
              </a:defRPr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solidFill>
                  <a:schemeClr val="dk1"/>
                </a:solidFill>
              </a:defRPr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Mono"/>
              <a:buChar char="●"/>
              <a:defRPr sz="28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Char char="○"/>
              <a:defRPr sz="24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Mono"/>
              <a:buChar char="■"/>
              <a:defRPr sz="22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●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○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■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●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○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■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ctrTitle"/>
          </p:nvPr>
        </p:nvSpPr>
        <p:spPr>
          <a:xfrm>
            <a:off x="311708" y="889300"/>
            <a:ext cx="85206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The Bottleneck Was Always Human </a:t>
            </a:r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>
            <a:off x="311700" y="2844115"/>
            <a:ext cx="8520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80"/>
              <a:buFont typeface="Arial"/>
              <a:buNone/>
            </a:pPr>
            <a:r>
              <a:rPr lang="en" sz="1980">
                <a:solidFill>
                  <a:srgbClr val="FFFF00"/>
                </a:solidFill>
              </a:rPr>
              <a:t>AI-Assisted Catalog Modeling in Multi-Vendor Networks</a:t>
            </a:r>
            <a:endParaRPr sz="1030"/>
          </a:p>
        </p:txBody>
      </p:sp>
      <p:pic>
        <p:nvPicPr>
          <p:cNvPr id="72" name="Google Shape;72;p16" title="CxOrchestrator by Codax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4919" y="228600"/>
            <a:ext cx="2007383" cy="5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8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0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90"/>
              <a:buChar char="-"/>
            </a:pPr>
            <a:r>
              <a:rPr lang="en" sz="2590"/>
              <a:t>15+ years building telecom software solutions</a:t>
            </a:r>
            <a:endParaRPr sz="2590"/>
          </a:p>
          <a:p>
            <a:pPr marL="457200" lvl="0" indent="-3930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90"/>
              <a:buChar char="-"/>
            </a:pPr>
            <a:r>
              <a:rPr lang="en" sz="2590"/>
              <a:t>Creator of </a:t>
            </a:r>
            <a:r>
              <a:rPr lang="en" sz="2590" b="1">
                <a:solidFill>
                  <a:schemeClr val="accent6"/>
                </a:solidFill>
              </a:rPr>
              <a:t>CxOrchestrator</a:t>
            </a:r>
            <a:r>
              <a:rPr lang="en" sz="2590"/>
              <a:t>, TM Forum Gold Certified platform</a:t>
            </a:r>
            <a:endParaRPr sz="2590"/>
          </a:p>
          <a:p>
            <a:pPr marL="457200" lvl="0" indent="-3930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90"/>
              <a:buChar char="-"/>
            </a:pPr>
            <a:r>
              <a:rPr lang="en" sz="2590"/>
              <a:t>Supporting Tier 1 &amp; Tier 2 operators globally</a:t>
            </a:r>
            <a:endParaRPr sz="259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2890"/>
          </a:p>
        </p:txBody>
      </p:sp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Codaxy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1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" sz="2780"/>
              <a:t>Everything starts with the catalog.</a:t>
            </a:r>
            <a:endParaRPr sz="27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" sz="2780"/>
              <a:t> </a:t>
            </a:r>
            <a:endParaRPr sz="27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1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" sz="2780" dirty="0"/>
              <a:t>Everything starts with the catalog.</a:t>
            </a:r>
            <a:endParaRPr sz="278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" sz="2780" b="1" dirty="0"/>
              <a:t>But the catalog is not the network.</a:t>
            </a:r>
            <a:br>
              <a:rPr lang="en" sz="2780" b="1" dirty="0"/>
            </a:br>
            <a:endParaRPr sz="278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abstraction</a:t>
            </a: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311700" y="2863250"/>
            <a:ext cx="85206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The network engineer new to TMF, learning the framework as they model</a:t>
            </a:r>
            <a:endParaRPr sz="2290"/>
          </a:p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No guiding principles yet, the catalog takes shape however makes sense to them</a:t>
            </a:r>
            <a:endParaRPr sz="2290"/>
          </a:p>
        </p:txBody>
      </p:sp>
      <p:cxnSp>
        <p:nvCxnSpPr>
          <p:cNvPr id="95" name="Google Shape;95;p20"/>
          <p:cNvCxnSpPr/>
          <p:nvPr/>
        </p:nvCxnSpPr>
        <p:spPr>
          <a:xfrm>
            <a:off x="306625" y="1673017"/>
            <a:ext cx="85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20"/>
          <p:cNvSpPr txBox="1"/>
          <p:nvPr/>
        </p:nvSpPr>
        <p:spPr>
          <a:xfrm>
            <a:off x="34757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project start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716912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delivery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413475" y="1871600"/>
            <a:ext cx="25260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network abstraction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abstraction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2863250"/>
            <a:ext cx="85206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The catalog made sense to the expert, but the specifications were shaped by what looks good</a:t>
            </a:r>
            <a:endParaRPr sz="2290"/>
          </a:p>
        </p:txBody>
      </p:sp>
      <p:sp>
        <p:nvSpPr>
          <p:cNvPr id="105" name="Google Shape;105;p21"/>
          <p:cNvSpPr/>
          <p:nvPr/>
        </p:nvSpPr>
        <p:spPr>
          <a:xfrm>
            <a:off x="413475" y="1871600"/>
            <a:ext cx="25260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network abstraction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06" name="Google Shape;106;p21"/>
          <p:cNvCxnSpPr/>
          <p:nvPr/>
        </p:nvCxnSpPr>
        <p:spPr>
          <a:xfrm>
            <a:off x="306625" y="1673017"/>
            <a:ext cx="85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21"/>
          <p:cNvSpPr txBox="1"/>
          <p:nvPr/>
        </p:nvSpPr>
        <p:spPr>
          <a:xfrm>
            <a:off x="34757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project start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716912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delivery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2965463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development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4513375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abstraction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11700" y="2863250"/>
            <a:ext cx="85206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The catalog doesn’t work well with workflows</a:t>
            </a:r>
            <a:endParaRPr sz="2290"/>
          </a:p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Resource graphs too difficult to reason about at scale</a:t>
            </a:r>
            <a:endParaRPr sz="2290"/>
          </a:p>
        </p:txBody>
      </p:sp>
      <p:sp>
        <p:nvSpPr>
          <p:cNvPr id="117" name="Google Shape;117;p22"/>
          <p:cNvSpPr/>
          <p:nvPr/>
        </p:nvSpPr>
        <p:spPr>
          <a:xfrm>
            <a:off x="413475" y="1871600"/>
            <a:ext cx="25260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network abstraction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18" name="Google Shape;118;p22"/>
          <p:cNvCxnSpPr/>
          <p:nvPr/>
        </p:nvCxnSpPr>
        <p:spPr>
          <a:xfrm>
            <a:off x="306625" y="1673017"/>
            <a:ext cx="85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2"/>
          <p:cNvSpPr txBox="1"/>
          <p:nvPr/>
        </p:nvSpPr>
        <p:spPr>
          <a:xfrm>
            <a:off x="34757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project start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716912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delivery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2965463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development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4513375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6061267" y="1871600"/>
            <a:ext cx="5427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6629975" y="1871600"/>
            <a:ext cx="9264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abstraction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2863250"/>
            <a:ext cx="85206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New use case</a:t>
            </a:r>
            <a:endParaRPr sz="2290"/>
          </a:p>
        </p:txBody>
      </p:sp>
      <p:sp>
        <p:nvSpPr>
          <p:cNvPr id="131" name="Google Shape;131;p23"/>
          <p:cNvSpPr/>
          <p:nvPr/>
        </p:nvSpPr>
        <p:spPr>
          <a:xfrm>
            <a:off x="413475" y="1871600"/>
            <a:ext cx="25260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network abstraction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32" name="Google Shape;132;p23"/>
          <p:cNvCxnSpPr/>
          <p:nvPr/>
        </p:nvCxnSpPr>
        <p:spPr>
          <a:xfrm>
            <a:off x="306625" y="1673017"/>
            <a:ext cx="85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23"/>
          <p:cNvSpPr txBox="1"/>
          <p:nvPr/>
        </p:nvSpPr>
        <p:spPr>
          <a:xfrm>
            <a:off x="34757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project start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716912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delivery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2965463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development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4513375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061267" y="1871600"/>
            <a:ext cx="5427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6629975" y="1871600"/>
            <a:ext cx="9264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7582709" y="1871600"/>
            <a:ext cx="5427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8151725" y="1871600"/>
            <a:ext cx="3441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abstraction</a:t>
            </a:r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311700" y="2863250"/>
            <a:ext cx="85206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90"/>
              <a:buChar char="-"/>
            </a:pPr>
            <a:r>
              <a:rPr lang="en" sz="2290"/>
              <a:t>The catalog </a:t>
            </a:r>
            <a:r>
              <a:rPr lang="en" sz="2290" i="1"/>
              <a:t>still</a:t>
            </a:r>
            <a:r>
              <a:rPr lang="en" sz="2290"/>
              <a:t> doesn’t work well with workflows</a:t>
            </a:r>
            <a:endParaRPr sz="2290"/>
          </a:p>
        </p:txBody>
      </p:sp>
      <p:sp>
        <p:nvSpPr>
          <p:cNvPr id="147" name="Google Shape;147;p24"/>
          <p:cNvSpPr/>
          <p:nvPr/>
        </p:nvSpPr>
        <p:spPr>
          <a:xfrm>
            <a:off x="413475" y="1871600"/>
            <a:ext cx="25260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network abstraction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48" name="Google Shape;148;p24"/>
          <p:cNvCxnSpPr/>
          <p:nvPr/>
        </p:nvCxnSpPr>
        <p:spPr>
          <a:xfrm>
            <a:off x="306625" y="1673017"/>
            <a:ext cx="85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24"/>
          <p:cNvSpPr txBox="1"/>
          <p:nvPr/>
        </p:nvSpPr>
        <p:spPr>
          <a:xfrm>
            <a:off x="34757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project start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7169125" y="1306175"/>
            <a:ext cx="1665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delivery</a:t>
            </a:r>
            <a:endParaRPr sz="2800"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2965463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Mono"/>
                <a:ea typeface="Space Mono"/>
                <a:cs typeface="Space Mono"/>
                <a:sym typeface="Space Mono"/>
              </a:rPr>
              <a:t>development</a:t>
            </a: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4513375" y="1871600"/>
            <a:ext cx="15219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061267" y="1871600"/>
            <a:ext cx="5427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629975" y="1871600"/>
            <a:ext cx="9264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7582709" y="1871600"/>
            <a:ext cx="5427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8151725" y="1871600"/>
            <a:ext cx="3441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8522148" y="1871600"/>
            <a:ext cx="105900" cy="700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8654375" y="1871600"/>
            <a:ext cx="105900" cy="700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built a tool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Why not just automate it?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4200"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/>
              <a:t>Rules about what makes a catalog good are </a:t>
            </a:r>
            <a:r>
              <a:rPr lang="en" b="1"/>
              <a:t>deeply context-specific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We would also need to encode the domain knowledge, expertise and the wider business context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Because no agent has spent years in the field.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we actually did</a:t>
            </a: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/>
              <a:t>Went back through previous projects to understand: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the business context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the design decisions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the revisions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how the catalog held up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we actually did</a:t>
            </a:r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/>
              <a:t>Observed our network engineers at work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Captured the implicit knowledge behind every modeling decision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we actually did</a:t>
            </a:r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/>
              <a:t>Identified the design elements that stood the test of time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Specifications grounded in schemas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Relationships governed by protocol connectivity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The </a:t>
            </a:r>
            <a:r>
              <a:rPr lang="en" b="1">
                <a:solidFill>
                  <a:schemeClr val="accent6"/>
                </a:solidFill>
              </a:rPr>
              <a:t>lego concept </a:t>
            </a:r>
            <a:r>
              <a:rPr lang="en"/>
              <a:t>of service composition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Lego concept</a:t>
            </a:r>
            <a:endParaRPr/>
          </a:p>
        </p:txBody>
      </p:sp>
      <p:grpSp>
        <p:nvGrpSpPr>
          <p:cNvPr id="198" name="Google Shape;198;p31"/>
          <p:cNvGrpSpPr/>
          <p:nvPr/>
        </p:nvGrpSpPr>
        <p:grpSpPr>
          <a:xfrm>
            <a:off x="1316350" y="1186025"/>
            <a:ext cx="6429300" cy="3656400"/>
            <a:chOff x="1316350" y="1186025"/>
            <a:chExt cx="6429300" cy="3656400"/>
          </a:xfrm>
        </p:grpSpPr>
        <p:sp>
          <p:nvSpPr>
            <p:cNvPr id="199" name="Google Shape;199;p31"/>
            <p:cNvSpPr/>
            <p:nvPr/>
          </p:nvSpPr>
          <p:spPr>
            <a:xfrm>
              <a:off x="1316350" y="1186025"/>
              <a:ext cx="6429300" cy="3656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3366696" y="3135442"/>
              <a:ext cx="1516800" cy="12543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2"/>
                <a:buFont typeface="Arial"/>
                <a:buNone/>
              </a:pPr>
              <a:endParaRPr sz="732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1"/>
            <p:cNvSpPr/>
            <p:nvPr/>
          </p:nvSpPr>
          <p:spPr>
            <a:xfrm>
              <a:off x="2092868" y="1499852"/>
              <a:ext cx="4181700" cy="5949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2"/>
                <a:buFont typeface="Arial"/>
                <a:buNone/>
              </a:pPr>
              <a:endParaRPr sz="732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2094718" y="2351134"/>
              <a:ext cx="4179900" cy="6225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9"/>
                <a:buFont typeface="Arial"/>
                <a:buNone/>
              </a:pPr>
              <a:endParaRPr sz="54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1"/>
            <p:cNvSpPr txBox="1"/>
            <p:nvPr/>
          </p:nvSpPr>
          <p:spPr>
            <a:xfrm>
              <a:off x="6864995" y="1626746"/>
              <a:ext cx="6024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75" tIns="13925" rIns="27875" bIns="13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6"/>
                <a:buFont typeface="Arial"/>
                <a:buNone/>
              </a:pPr>
              <a:r>
                <a:rPr lang="en" sz="976" b="1" i="0" u="none" strike="noStrike" cap="none">
                  <a:solidFill>
                    <a:srgbClr val="47E7CA"/>
                  </a:solidFill>
                  <a:latin typeface="Arial"/>
                  <a:ea typeface="Arial"/>
                  <a:cs typeface="Arial"/>
                  <a:sym typeface="Arial"/>
                </a:rPr>
                <a:t>SOM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6"/>
                <a:buFont typeface="Arial"/>
                <a:buNone/>
              </a:pPr>
              <a:r>
                <a:rPr lang="en" sz="976" b="0" i="0" u="none" strike="noStrike" cap="none">
                  <a:solidFill>
                    <a:srgbClr val="47E7CA"/>
                  </a:solidFill>
                  <a:latin typeface="Arial"/>
                  <a:ea typeface="Arial"/>
                  <a:cs typeface="Arial"/>
                  <a:sym typeface="Arial"/>
                </a:rPr>
                <a:t>catalog</a:t>
              </a:r>
              <a:endParaRPr sz="976" b="0" i="0" u="none" strike="noStrike" cap="none">
                <a:solidFill>
                  <a:srgbClr val="47E7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31"/>
            <p:cNvCxnSpPr>
              <a:stCxn id="205" idx="2"/>
              <a:endCxn id="206" idx="0"/>
            </p:cNvCxnSpPr>
            <p:nvPr/>
          </p:nvCxnSpPr>
          <p:spPr>
            <a:xfrm flipH="1">
              <a:off x="2514926" y="1997862"/>
              <a:ext cx="1658400" cy="527400"/>
            </a:xfrm>
            <a:prstGeom prst="straightConnector1">
              <a:avLst/>
            </a:prstGeom>
            <a:noFill/>
            <a:ln w="3875" cap="flat" cmpd="sng">
              <a:solidFill>
                <a:srgbClr val="0076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" name="Google Shape;207;p31"/>
            <p:cNvCxnSpPr>
              <a:stCxn id="205" idx="2"/>
              <a:endCxn id="208" idx="0"/>
            </p:cNvCxnSpPr>
            <p:nvPr/>
          </p:nvCxnSpPr>
          <p:spPr>
            <a:xfrm flipH="1">
              <a:off x="3202526" y="1997862"/>
              <a:ext cx="970800" cy="527400"/>
            </a:xfrm>
            <a:prstGeom prst="straightConnector1">
              <a:avLst/>
            </a:prstGeom>
            <a:noFill/>
            <a:ln w="3875" cap="flat" cmpd="sng">
              <a:solidFill>
                <a:srgbClr val="002F8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9" name="Google Shape;209;p31"/>
            <p:cNvCxnSpPr>
              <a:stCxn id="205" idx="2"/>
              <a:endCxn id="210" idx="0"/>
            </p:cNvCxnSpPr>
            <p:nvPr/>
          </p:nvCxnSpPr>
          <p:spPr>
            <a:xfrm>
              <a:off x="4173326" y="1997862"/>
              <a:ext cx="956400" cy="527400"/>
            </a:xfrm>
            <a:prstGeom prst="straightConnector1">
              <a:avLst/>
            </a:prstGeom>
            <a:noFill/>
            <a:ln w="3875" cap="flat" cmpd="sng">
              <a:solidFill>
                <a:srgbClr val="B992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" name="Google Shape;211;p31"/>
            <p:cNvCxnSpPr>
              <a:stCxn id="205" idx="2"/>
              <a:endCxn id="212" idx="0"/>
            </p:cNvCxnSpPr>
            <p:nvPr/>
          </p:nvCxnSpPr>
          <p:spPr>
            <a:xfrm>
              <a:off x="4173326" y="1997862"/>
              <a:ext cx="1599000" cy="527400"/>
            </a:xfrm>
            <a:prstGeom prst="straightConnector1">
              <a:avLst/>
            </a:prstGeom>
            <a:noFill/>
            <a:ln w="3875" cap="flat" cmpd="sng">
              <a:solidFill>
                <a:srgbClr val="8A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06" name="Google Shape;206;p31"/>
            <p:cNvSpPr/>
            <p:nvPr/>
          </p:nvSpPr>
          <p:spPr>
            <a:xfrm>
              <a:off x="2246003" y="2525147"/>
              <a:ext cx="537600" cy="302700"/>
            </a:xfrm>
            <a:prstGeom prst="roundRect">
              <a:avLst>
                <a:gd name="adj" fmla="val 16667"/>
              </a:avLst>
            </a:prstGeom>
            <a:solidFill>
              <a:srgbClr val="97BEFF"/>
            </a:solidFill>
            <a:ln w="3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1" i="0" u="none" strike="noStrike" cap="none">
                  <a:solidFill>
                    <a:srgbClr val="007600"/>
                  </a:solidFill>
                  <a:latin typeface="Arial"/>
                  <a:ea typeface="Arial"/>
                  <a:cs typeface="Arial"/>
                  <a:sym typeface="Arial"/>
                </a:rPr>
                <a:t>MPLS</a:t>
              </a:r>
              <a:endParaRPr sz="472" b="0" i="0" u="none" strike="noStrike" cap="non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Resource spec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2979016" y="2525147"/>
              <a:ext cx="447000" cy="302700"/>
            </a:xfrm>
            <a:prstGeom prst="roundRect">
              <a:avLst>
                <a:gd name="adj" fmla="val 16667"/>
              </a:avLst>
            </a:prstGeom>
            <a:solidFill>
              <a:srgbClr val="97BEFF"/>
            </a:solidFill>
            <a:ln w="3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1" i="0" u="none" strike="noStrike" cap="none">
                  <a:solidFill>
                    <a:srgbClr val="002F8A"/>
                  </a:solidFill>
                  <a:latin typeface="Arial"/>
                  <a:ea typeface="Arial"/>
                  <a:cs typeface="Arial"/>
                  <a:sym typeface="Arial"/>
                </a:rPr>
                <a:t>SUBINT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Resource spec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3621465" y="2525147"/>
              <a:ext cx="447000" cy="302700"/>
            </a:xfrm>
            <a:prstGeom prst="roundRect">
              <a:avLst>
                <a:gd name="adj" fmla="val 16667"/>
              </a:avLst>
            </a:prstGeom>
            <a:solidFill>
              <a:srgbClr val="97BEFF"/>
            </a:solidFill>
            <a:ln w="3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1" i="0" u="none" strike="noStrike" cap="none">
                  <a:solidFill>
                    <a:srgbClr val="B94B00"/>
                  </a:solidFill>
                  <a:latin typeface="Arial"/>
                  <a:ea typeface="Arial"/>
                  <a:cs typeface="Arial"/>
                  <a:sym typeface="Arial"/>
                </a:rPr>
                <a:t>VRF</a:t>
              </a:r>
              <a:r>
                <a:rPr lang="en" sz="472" b="1" i="0" u="none" strike="noStrike" cap="none">
                  <a:solidFill>
                    <a:srgbClr val="003DA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472" b="0" i="0" u="none" strike="noStrike" cap="none">
                <a:solidFill>
                  <a:srgbClr val="003D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Resource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spec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4263913" y="2525147"/>
              <a:ext cx="447000" cy="302700"/>
            </a:xfrm>
            <a:prstGeom prst="roundRect">
              <a:avLst>
                <a:gd name="adj" fmla="val 16667"/>
              </a:avLst>
            </a:prstGeom>
            <a:solidFill>
              <a:srgbClr val="97BEFF"/>
            </a:solidFill>
            <a:ln w="3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1" i="0" u="none" strike="noStrike" cap="none">
                  <a:solidFill>
                    <a:srgbClr val="007600"/>
                  </a:solidFill>
                  <a:latin typeface="Arial"/>
                  <a:ea typeface="Arial"/>
                  <a:cs typeface="Arial"/>
                  <a:sym typeface="Arial"/>
                </a:rPr>
                <a:t>BGP</a:t>
              </a:r>
              <a:r>
                <a:rPr lang="en" sz="472" b="1" i="0" u="none" strike="noStrike" cap="none">
                  <a:solidFill>
                    <a:srgbClr val="003DA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472" b="0" i="0" u="none" strike="noStrike" cap="none">
                <a:solidFill>
                  <a:srgbClr val="003D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Resource spec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4906361" y="2525147"/>
              <a:ext cx="447000" cy="302700"/>
            </a:xfrm>
            <a:prstGeom prst="roundRect">
              <a:avLst>
                <a:gd name="adj" fmla="val 16667"/>
              </a:avLst>
            </a:prstGeom>
            <a:solidFill>
              <a:srgbClr val="97BEFF"/>
            </a:solidFill>
            <a:ln w="3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1" i="0" u="none" strike="noStrike" cap="none">
                  <a:solidFill>
                    <a:srgbClr val="B99200"/>
                  </a:solidFill>
                  <a:latin typeface="Arial"/>
                  <a:ea typeface="Arial"/>
                  <a:cs typeface="Arial"/>
                  <a:sym typeface="Arial"/>
                </a:rPr>
                <a:t>QoS</a:t>
              </a:r>
              <a:r>
                <a:rPr lang="en" sz="472" b="1" i="0" u="none" strike="noStrike" cap="none">
                  <a:solidFill>
                    <a:srgbClr val="003DA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472" b="0" i="0" u="none" strike="noStrike" cap="none">
                <a:solidFill>
                  <a:srgbClr val="003DA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Resource spec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5548810" y="2525147"/>
              <a:ext cx="447000" cy="302700"/>
            </a:xfrm>
            <a:prstGeom prst="roundRect">
              <a:avLst>
                <a:gd name="adj" fmla="val 16667"/>
              </a:avLst>
            </a:prstGeom>
            <a:solidFill>
              <a:srgbClr val="97BEFF"/>
            </a:solidFill>
            <a:ln w="3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1" i="0" u="none" strike="noStrike" cap="none">
                  <a:solidFill>
                    <a:srgbClr val="8A0000"/>
                  </a:solidFill>
                  <a:latin typeface="Arial"/>
                  <a:ea typeface="Arial"/>
                  <a:cs typeface="Arial"/>
                  <a:sym typeface="Arial"/>
                </a:rPr>
                <a:t>ACL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2"/>
                <a:buFont typeface="Arial"/>
                <a:buNone/>
              </a:pPr>
              <a:r>
                <a:rPr lang="en" sz="472" b="0" i="0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Resource spec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2597099" y="1587462"/>
              <a:ext cx="722700" cy="410400"/>
            </a:xfrm>
            <a:prstGeom prst="roundRect">
              <a:avLst>
                <a:gd name="adj" fmla="val 16667"/>
              </a:avLst>
            </a:prstGeom>
            <a:solidFill>
              <a:srgbClr val="47E7CA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lang="en" sz="6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IP interface configuration</a:t>
              </a:r>
              <a:endParaRPr sz="6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1"/>
            <p:cNvSpPr/>
            <p:nvPr/>
          </p:nvSpPr>
          <p:spPr>
            <a:xfrm>
              <a:off x="3811976" y="1587462"/>
              <a:ext cx="722700" cy="410400"/>
            </a:xfrm>
            <a:prstGeom prst="roundRect">
              <a:avLst>
                <a:gd name="adj" fmla="val 16667"/>
              </a:avLst>
            </a:prstGeom>
            <a:solidFill>
              <a:srgbClr val="47E7CA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lang="en" sz="6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100G Uplink activation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1"/>
            <p:cNvSpPr/>
            <p:nvPr/>
          </p:nvSpPr>
          <p:spPr>
            <a:xfrm>
              <a:off x="5026854" y="1587462"/>
              <a:ext cx="722700" cy="410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7E7CA"/>
                </a:gs>
                <a:gs pos="100000">
                  <a:srgbClr val="47E7C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lang="en" sz="6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L3VPN</a:t>
              </a:r>
              <a:endParaRPr sz="6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1"/>
            <p:cNvSpPr/>
            <p:nvPr/>
          </p:nvSpPr>
          <p:spPr>
            <a:xfrm>
              <a:off x="6417036" y="1499850"/>
              <a:ext cx="1076700" cy="1473600"/>
            </a:xfrm>
            <a:prstGeom prst="roundRect">
              <a:avLst>
                <a:gd name="adj" fmla="val 16667"/>
              </a:avLst>
            </a:prstGeom>
            <a:noFill/>
            <a:ln w="23250" cap="flat" cmpd="sng">
              <a:solidFill>
                <a:srgbClr val="47E7C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4"/>
                <a:buFont typeface="Arial"/>
                <a:buNone/>
              </a:pPr>
              <a:endParaRPr sz="85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1"/>
            <p:cNvSpPr txBox="1"/>
            <p:nvPr/>
          </p:nvSpPr>
          <p:spPr>
            <a:xfrm>
              <a:off x="6864995" y="2442863"/>
              <a:ext cx="6024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75" tIns="13925" rIns="27875" bIns="13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6"/>
                <a:buFont typeface="Arial"/>
                <a:buNone/>
              </a:pPr>
              <a:r>
                <a:rPr lang="en" sz="976" b="1" i="0" u="none" strike="noStrike" cap="none">
                  <a:solidFill>
                    <a:srgbClr val="97BEFF"/>
                  </a:solidFill>
                  <a:latin typeface="Arial"/>
                  <a:ea typeface="Arial"/>
                  <a:cs typeface="Arial"/>
                  <a:sym typeface="Arial"/>
                </a:rPr>
                <a:t>ROM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6"/>
                <a:buFont typeface="Arial"/>
                <a:buNone/>
              </a:pPr>
              <a:r>
                <a:rPr lang="en" sz="976" b="0" i="0" u="none" strike="noStrike" cap="none">
                  <a:solidFill>
                    <a:srgbClr val="97BEFF"/>
                  </a:solidFill>
                  <a:latin typeface="Arial"/>
                  <a:ea typeface="Arial"/>
                  <a:cs typeface="Arial"/>
                  <a:sym typeface="Arial"/>
                </a:rPr>
                <a:t>catalog</a:t>
              </a:r>
              <a:endParaRPr sz="976" b="0" i="0" u="none" strike="noStrike" cap="none">
                <a:solidFill>
                  <a:srgbClr val="97BE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" name="Google Shape;219;p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21825" y="1724900"/>
              <a:ext cx="385177" cy="173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36798" y="2550521"/>
              <a:ext cx="385177" cy="1730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31"/>
            <p:cNvSpPr txBox="1"/>
            <p:nvPr/>
          </p:nvSpPr>
          <p:spPr>
            <a:xfrm rot="16200000">
              <a:off x="1306288" y="3732085"/>
              <a:ext cx="976500" cy="32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4325" tIns="37150" rIns="74325" bIns="371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rPr lang="en" sz="813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Configuration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rPr lang="en" sz="813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Templates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1"/>
            <p:cNvSpPr/>
            <p:nvPr/>
          </p:nvSpPr>
          <p:spPr>
            <a:xfrm rot="-5400000">
              <a:off x="1410019" y="1771515"/>
              <a:ext cx="714000" cy="194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rPr lang="en" sz="813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 case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rPr lang="en" sz="813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</a:t>
              </a:r>
              <a:endParaRPr sz="81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1"/>
            <p:cNvSpPr/>
            <p:nvPr/>
          </p:nvSpPr>
          <p:spPr>
            <a:xfrm rot="-5400000">
              <a:off x="1410019" y="2633018"/>
              <a:ext cx="714000" cy="194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rPr lang="en" sz="813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Resources</a:t>
              </a:r>
              <a:endParaRPr sz="81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" name="Google Shape;224;p31"/>
            <p:cNvGrpSpPr/>
            <p:nvPr/>
          </p:nvGrpSpPr>
          <p:grpSpPr>
            <a:xfrm>
              <a:off x="3429679" y="3226722"/>
              <a:ext cx="1519192" cy="1468297"/>
              <a:chOff x="4233861" y="4102654"/>
              <a:chExt cx="2814361" cy="2443496"/>
            </a:xfrm>
          </p:grpSpPr>
          <p:pic>
            <p:nvPicPr>
              <p:cNvPr id="225" name="Google Shape;225;p31" descr="A stack of colorful building blocks&#10;&#10;Description automatically generated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787929" y="4102654"/>
                <a:ext cx="1260000" cy="17288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31"/>
              <p:cNvSpPr txBox="1"/>
              <p:nvPr/>
            </p:nvSpPr>
            <p:spPr>
              <a:xfrm>
                <a:off x="5788222" y="4714478"/>
                <a:ext cx="1260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875" tIns="13925" rIns="27875" bIns="13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2"/>
                  <a:buFont typeface="Arial"/>
                  <a:buNone/>
                </a:pPr>
                <a:r>
                  <a:rPr lang="en" sz="73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subInterface</a:t>
                </a:r>
                <a:endParaRPr sz="732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1"/>
              <p:cNvSpPr txBox="1"/>
              <p:nvPr/>
            </p:nvSpPr>
            <p:spPr>
              <a:xfrm>
                <a:off x="4233861" y="5665990"/>
                <a:ext cx="1033072" cy="234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875" tIns="13925" rIns="27875" bIns="13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2"/>
                  <a:buFont typeface="Arial"/>
                  <a:buNone/>
                </a:pPr>
                <a:r>
                  <a:rPr lang="en" sz="732" b="1" i="0" u="none" strike="noStrike" cap="none">
                    <a:solidFill>
                      <a:srgbClr val="B99200"/>
                    </a:solidFill>
                    <a:latin typeface="Arial"/>
                    <a:ea typeface="Arial"/>
                    <a:cs typeface="Arial"/>
                    <a:sym typeface="Arial"/>
                  </a:rPr>
                  <a:t>qosPolicy</a:t>
                </a:r>
                <a:endParaRPr sz="732" b="1" i="0" u="none" strike="noStrike" cap="none" dirty="0">
                  <a:solidFill>
                    <a:srgbClr val="B992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1"/>
              <p:cNvSpPr txBox="1"/>
              <p:nvPr/>
            </p:nvSpPr>
            <p:spPr>
              <a:xfrm>
                <a:off x="5633337" y="5431690"/>
                <a:ext cx="1137001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875" tIns="13925" rIns="27875" bIns="139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2"/>
                  <a:buFont typeface="Arial"/>
                  <a:buNone/>
                </a:pPr>
                <a:r>
                  <a:rPr lang="en" sz="732" b="1" i="0" u="none" strike="noStrike" cap="none">
                    <a:solidFill>
                      <a:srgbClr val="8A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accessList</a:t>
                </a:r>
                <a:endParaRPr sz="732" b="1" i="0" u="none" strike="noStrike" cap="none">
                  <a:solidFill>
                    <a:srgbClr val="8A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1"/>
              <p:cNvSpPr txBox="1"/>
              <p:nvPr/>
            </p:nvSpPr>
            <p:spPr>
              <a:xfrm>
                <a:off x="4616832" y="4158207"/>
                <a:ext cx="650100" cy="421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875" tIns="13925" rIns="27875" bIns="13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2"/>
                  <a:buFont typeface="Arial"/>
                  <a:buNone/>
                </a:pPr>
                <a:r>
                  <a:rPr lang="en" sz="732" b="1" i="0" u="none" strike="noStrike" cap="none">
                    <a:solidFill>
                      <a:srgbClr val="007600"/>
                    </a:solidFill>
                    <a:latin typeface="Arial"/>
                    <a:ea typeface="Arial"/>
                    <a:cs typeface="Arial"/>
                    <a:sym typeface="Arial"/>
                  </a:rPr>
                  <a:t>mpls ldp</a:t>
                </a:r>
                <a:endParaRPr sz="732" b="1" i="0" u="none" strike="noStrike" cap="none">
                  <a:solidFill>
                    <a:srgbClr val="0076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1"/>
              <p:cNvSpPr txBox="1"/>
              <p:nvPr/>
            </p:nvSpPr>
            <p:spPr>
              <a:xfrm>
                <a:off x="5107825" y="6124651"/>
                <a:ext cx="1272301" cy="421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7875" tIns="13925" rIns="27875" bIns="139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32"/>
                  <a:buFont typeface="Arial"/>
                  <a:buNone/>
                </a:pPr>
                <a:r>
                  <a:rPr lang="en" sz="73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100G Uplink activation</a:t>
                </a:r>
                <a:endParaRPr sz="113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" name="Google Shape;231;p31"/>
            <p:cNvSpPr/>
            <p:nvPr/>
          </p:nvSpPr>
          <p:spPr>
            <a:xfrm>
              <a:off x="6435355" y="3128506"/>
              <a:ext cx="1076700" cy="1254300"/>
            </a:xfrm>
            <a:prstGeom prst="roundRect">
              <a:avLst>
                <a:gd name="adj" fmla="val 16667"/>
              </a:avLst>
            </a:prstGeom>
            <a:noFill/>
            <a:ln w="23250" cap="flat" cmpd="sng">
              <a:solidFill>
                <a:srgbClr val="06A9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4325" tIns="37150" rIns="74325" bIns="3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7"/>
                <a:buFont typeface="Arial"/>
                <a:buNone/>
              </a:pPr>
              <a:endParaRPr sz="42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2" name="Google Shape;232;p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16572" y="3567590"/>
              <a:ext cx="380861" cy="160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31"/>
            <p:cNvSpPr txBox="1"/>
            <p:nvPr/>
          </p:nvSpPr>
          <p:spPr>
            <a:xfrm>
              <a:off x="6668130" y="3785944"/>
              <a:ext cx="5109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325" tIns="37150" rIns="74325" bIns="371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4"/>
                <a:buFont typeface="Arial"/>
                <a:buNone/>
              </a:pPr>
              <a:r>
                <a:rPr lang="en" sz="854" b="1" i="0" u="none" strike="noStrike" cap="none">
                  <a:solidFill>
                    <a:srgbClr val="97BEFF"/>
                  </a:solidFill>
                  <a:latin typeface="Arial"/>
                  <a:ea typeface="Arial"/>
                  <a:cs typeface="Arial"/>
                  <a:sym typeface="Arial"/>
                </a:rPr>
                <a:t>Config</a:t>
              </a:r>
              <a:endParaRPr sz="113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Lego concept</a:t>
            </a:r>
            <a:endParaRPr/>
          </a:p>
        </p:txBody>
      </p:sp>
      <p:grpSp>
        <p:nvGrpSpPr>
          <p:cNvPr id="239" name="Google Shape;239;p32"/>
          <p:cNvGrpSpPr/>
          <p:nvPr/>
        </p:nvGrpSpPr>
        <p:grpSpPr>
          <a:xfrm>
            <a:off x="1308485" y="1186025"/>
            <a:ext cx="6429300" cy="3656400"/>
            <a:chOff x="1308485" y="1186025"/>
            <a:chExt cx="6429300" cy="3656400"/>
          </a:xfrm>
        </p:grpSpPr>
        <p:sp>
          <p:nvSpPr>
            <p:cNvPr id="240" name="Google Shape;240;p32"/>
            <p:cNvSpPr/>
            <p:nvPr/>
          </p:nvSpPr>
          <p:spPr>
            <a:xfrm>
              <a:off x="1308485" y="1186025"/>
              <a:ext cx="6429300" cy="3656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grpSp>
          <p:nvGrpSpPr>
            <p:cNvPr id="241" name="Google Shape;241;p32"/>
            <p:cNvGrpSpPr/>
            <p:nvPr/>
          </p:nvGrpSpPr>
          <p:grpSpPr>
            <a:xfrm>
              <a:off x="1665569" y="1301463"/>
              <a:ext cx="5815634" cy="3368411"/>
              <a:chOff x="1692723" y="1561993"/>
              <a:chExt cx="6633551" cy="3842148"/>
            </a:xfrm>
          </p:grpSpPr>
          <p:sp>
            <p:nvSpPr>
              <p:cNvPr id="242" name="Google Shape;242;p32"/>
              <p:cNvSpPr/>
              <p:nvPr/>
            </p:nvSpPr>
            <p:spPr>
              <a:xfrm>
                <a:off x="5399111" y="3681409"/>
                <a:ext cx="1532100" cy="1484400"/>
              </a:xfrm>
              <a:prstGeom prst="roundRect">
                <a:avLst>
                  <a:gd name="adj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2"/>
                  <a:buFont typeface="Arial"/>
                  <a:buNone/>
                </a:pPr>
                <a:endParaRPr sz="4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32"/>
              <p:cNvSpPr/>
              <p:nvPr/>
            </p:nvSpPr>
            <p:spPr>
              <a:xfrm>
                <a:off x="2216695" y="1745884"/>
                <a:ext cx="4714500" cy="704400"/>
              </a:xfrm>
              <a:prstGeom prst="roundRect">
                <a:avLst>
                  <a:gd name="adj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40"/>
                  <a:buFont typeface="Arial"/>
                  <a:buNone/>
                </a:pPr>
                <a:endParaRPr sz="74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32"/>
              <p:cNvSpPr/>
              <p:nvPr/>
            </p:nvSpPr>
            <p:spPr>
              <a:xfrm>
                <a:off x="2218780" y="2753277"/>
                <a:ext cx="4712400" cy="736500"/>
              </a:xfrm>
              <a:prstGeom prst="roundRect">
                <a:avLst>
                  <a:gd name="adj" fmla="val 16667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endParaRPr sz="47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2"/>
              <p:cNvSpPr txBox="1"/>
              <p:nvPr/>
            </p:nvSpPr>
            <p:spPr>
              <a:xfrm>
                <a:off x="7596857" y="1896046"/>
                <a:ext cx="679200" cy="37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8175" tIns="14075" rIns="28175" bIns="140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87"/>
                  <a:buFont typeface="Arial"/>
                  <a:buNone/>
                </a:pPr>
                <a:r>
                  <a:rPr lang="en" sz="987" b="1" i="0" u="none" strike="noStrike" cap="none">
                    <a:solidFill>
                      <a:srgbClr val="47E7CA"/>
                    </a:solidFill>
                    <a:latin typeface="Arial"/>
                    <a:ea typeface="Arial"/>
                    <a:cs typeface="Arial"/>
                    <a:sym typeface="Arial"/>
                  </a:rPr>
                  <a:t>SOM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87"/>
                  <a:buFont typeface="Arial"/>
                  <a:buNone/>
                </a:pPr>
                <a:r>
                  <a:rPr lang="en" sz="987" b="0" i="0" u="none" strike="noStrike" cap="none">
                    <a:solidFill>
                      <a:srgbClr val="47E7CA"/>
                    </a:solidFill>
                    <a:latin typeface="Arial"/>
                    <a:ea typeface="Arial"/>
                    <a:cs typeface="Arial"/>
                    <a:sym typeface="Arial"/>
                  </a:rPr>
                  <a:t>catalog</a:t>
                </a:r>
                <a:endParaRPr sz="987" b="0" i="0" u="none" strike="noStrike" cap="none">
                  <a:solidFill>
                    <a:srgbClr val="47E7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6" name="Google Shape;246;p32"/>
              <p:cNvCxnSpPr>
                <a:stCxn id="247" idx="2"/>
                <a:endCxn id="248" idx="0"/>
              </p:cNvCxnSpPr>
              <p:nvPr/>
            </p:nvCxnSpPr>
            <p:spPr>
              <a:xfrm flipH="1">
                <a:off x="3467460" y="2335256"/>
                <a:ext cx="2448000" cy="624000"/>
              </a:xfrm>
              <a:prstGeom prst="straightConnector1">
                <a:avLst/>
              </a:prstGeom>
              <a:noFill/>
              <a:ln w="3900" cap="flat" cmpd="sng">
                <a:solidFill>
                  <a:srgbClr val="002F8A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49" name="Google Shape;249;p32"/>
              <p:cNvCxnSpPr>
                <a:stCxn id="247" idx="2"/>
                <a:endCxn id="250" idx="0"/>
              </p:cNvCxnSpPr>
              <p:nvPr/>
            </p:nvCxnSpPr>
            <p:spPr>
              <a:xfrm flipH="1">
                <a:off x="4191960" y="2335256"/>
                <a:ext cx="1723500" cy="624000"/>
              </a:xfrm>
              <a:prstGeom prst="straightConnector1">
                <a:avLst/>
              </a:prstGeom>
              <a:noFill/>
              <a:ln w="3900" cap="flat" cmpd="sng">
                <a:solidFill>
                  <a:srgbClr val="B94B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51" name="Google Shape;251;p32"/>
              <p:cNvCxnSpPr>
                <a:stCxn id="247" idx="2"/>
                <a:endCxn id="252" idx="0"/>
              </p:cNvCxnSpPr>
              <p:nvPr/>
            </p:nvCxnSpPr>
            <p:spPr>
              <a:xfrm flipH="1">
                <a:off x="4916160" y="2335256"/>
                <a:ext cx="999300" cy="624000"/>
              </a:xfrm>
              <a:prstGeom prst="straightConnector1">
                <a:avLst/>
              </a:prstGeom>
              <a:noFill/>
              <a:ln w="3900" cap="flat" cmpd="sng">
                <a:solidFill>
                  <a:srgbClr val="0076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53" name="Google Shape;253;p32"/>
              <p:cNvCxnSpPr>
                <a:stCxn id="247" idx="2"/>
                <a:endCxn id="254" idx="0"/>
              </p:cNvCxnSpPr>
              <p:nvPr/>
            </p:nvCxnSpPr>
            <p:spPr>
              <a:xfrm flipH="1">
                <a:off x="5640660" y="2335256"/>
                <a:ext cx="274800" cy="624000"/>
              </a:xfrm>
              <a:prstGeom prst="straightConnector1">
                <a:avLst/>
              </a:prstGeom>
              <a:noFill/>
              <a:ln w="3900" cap="flat" cmpd="sng">
                <a:solidFill>
                  <a:srgbClr val="B992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55" name="Google Shape;255;p32"/>
              <p:cNvCxnSpPr>
                <a:stCxn id="247" idx="2"/>
                <a:endCxn id="256" idx="0"/>
              </p:cNvCxnSpPr>
              <p:nvPr/>
            </p:nvCxnSpPr>
            <p:spPr>
              <a:xfrm>
                <a:off x="5915460" y="2335256"/>
                <a:ext cx="449400" cy="624000"/>
              </a:xfrm>
              <a:prstGeom prst="straightConnector1">
                <a:avLst/>
              </a:prstGeom>
              <a:noFill/>
              <a:ln w="3900" cap="flat" cmpd="sng">
                <a:solidFill>
                  <a:srgbClr val="8A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257" name="Google Shape;257;p32"/>
              <p:cNvSpPr/>
              <p:nvPr/>
            </p:nvSpPr>
            <p:spPr>
              <a:xfrm>
                <a:off x="2491450" y="2959198"/>
                <a:ext cx="503700" cy="358500"/>
              </a:xfrm>
              <a:prstGeom prst="roundRect">
                <a:avLst>
                  <a:gd name="adj" fmla="val 16667"/>
                </a:avLst>
              </a:prstGeom>
              <a:solidFill>
                <a:srgbClr val="97BEFF"/>
              </a:soli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1" i="0" u="none" strike="noStrike" cap="none">
                    <a:solidFill>
                      <a:srgbClr val="007600"/>
                    </a:solidFill>
                    <a:latin typeface="Arial"/>
                    <a:ea typeface="Arial"/>
                    <a:cs typeface="Arial"/>
                    <a:sym typeface="Arial"/>
                  </a:rPr>
                  <a:t>MPLS</a:t>
                </a:r>
                <a:r>
                  <a:rPr lang="en" sz="477" b="0" i="0" u="none" strike="noStrike" cap="none">
                    <a:solidFill>
                      <a:srgbClr val="EEEEEE"/>
                    </a:solidFill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 spec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2"/>
              <p:cNvSpPr/>
              <p:nvPr/>
            </p:nvSpPr>
            <p:spPr>
              <a:xfrm>
                <a:off x="3215755" y="2959198"/>
                <a:ext cx="503700" cy="358500"/>
              </a:xfrm>
              <a:prstGeom prst="roundRect">
                <a:avLst>
                  <a:gd name="adj" fmla="val 16667"/>
                </a:avLst>
              </a:prstGeom>
              <a:solidFill>
                <a:srgbClr val="97BEFF"/>
              </a:solidFill>
              <a:ln w="39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1" i="0" u="none" strike="noStrike" cap="none">
                    <a:solidFill>
                      <a:srgbClr val="002F8A"/>
                    </a:solidFill>
                    <a:latin typeface="Arial"/>
                    <a:ea typeface="Arial"/>
                    <a:cs typeface="Arial"/>
                    <a:sym typeface="Arial"/>
                  </a:rPr>
                  <a:t>SUBINT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 spec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2"/>
              <p:cNvSpPr/>
              <p:nvPr/>
            </p:nvSpPr>
            <p:spPr>
              <a:xfrm>
                <a:off x="3940059" y="2959198"/>
                <a:ext cx="503700" cy="358500"/>
              </a:xfrm>
              <a:prstGeom prst="roundRect">
                <a:avLst>
                  <a:gd name="adj" fmla="val 16667"/>
                </a:avLst>
              </a:prstGeom>
              <a:solidFill>
                <a:srgbClr val="97BEFF"/>
              </a:solidFill>
              <a:ln w="39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1" i="0" u="none" strike="noStrike" cap="none">
                    <a:solidFill>
                      <a:srgbClr val="B94B00"/>
                    </a:solidFill>
                    <a:latin typeface="Arial"/>
                    <a:ea typeface="Arial"/>
                    <a:cs typeface="Arial"/>
                    <a:sym typeface="Arial"/>
                  </a:rPr>
                  <a:t>VRF</a:t>
                </a:r>
                <a:r>
                  <a:rPr lang="en" sz="477" b="1" i="0" u="none" strike="noStrike" cap="none">
                    <a:solidFill>
                      <a:srgbClr val="003DA5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477" b="0" i="0" u="none" strike="noStrike" cap="none">
                  <a:solidFill>
                    <a:srgbClr val="003DA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spec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2"/>
              <p:cNvSpPr/>
              <p:nvPr/>
            </p:nvSpPr>
            <p:spPr>
              <a:xfrm>
                <a:off x="4664364" y="2959198"/>
                <a:ext cx="503700" cy="358500"/>
              </a:xfrm>
              <a:prstGeom prst="roundRect">
                <a:avLst>
                  <a:gd name="adj" fmla="val 16667"/>
                </a:avLst>
              </a:prstGeom>
              <a:solidFill>
                <a:srgbClr val="97BEFF"/>
              </a:solidFill>
              <a:ln w="39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1" i="0" u="none" strike="noStrike" cap="none">
                    <a:solidFill>
                      <a:srgbClr val="007600"/>
                    </a:solidFill>
                    <a:latin typeface="Arial"/>
                    <a:ea typeface="Arial"/>
                    <a:cs typeface="Arial"/>
                    <a:sym typeface="Arial"/>
                  </a:rPr>
                  <a:t>BGP</a:t>
                </a:r>
                <a:r>
                  <a:rPr lang="en" sz="477" b="1" i="0" u="none" strike="noStrike" cap="none">
                    <a:solidFill>
                      <a:srgbClr val="003DA5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477" b="0" i="0" u="none" strike="noStrike" cap="none">
                  <a:solidFill>
                    <a:srgbClr val="003DA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 spec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2"/>
              <p:cNvSpPr/>
              <p:nvPr/>
            </p:nvSpPr>
            <p:spPr>
              <a:xfrm>
                <a:off x="5388668" y="2959198"/>
                <a:ext cx="503700" cy="358500"/>
              </a:xfrm>
              <a:prstGeom prst="roundRect">
                <a:avLst>
                  <a:gd name="adj" fmla="val 16667"/>
                </a:avLst>
              </a:prstGeom>
              <a:solidFill>
                <a:srgbClr val="97BEFF"/>
              </a:solidFill>
              <a:ln w="39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1" i="0" u="none" strike="noStrike" cap="none">
                    <a:solidFill>
                      <a:srgbClr val="B99200"/>
                    </a:solidFill>
                    <a:latin typeface="Arial"/>
                    <a:ea typeface="Arial"/>
                    <a:cs typeface="Arial"/>
                    <a:sym typeface="Arial"/>
                  </a:rPr>
                  <a:t>QoS</a:t>
                </a:r>
                <a:r>
                  <a:rPr lang="en" sz="477" b="1" i="0" u="none" strike="noStrike" cap="none">
                    <a:solidFill>
                      <a:srgbClr val="003DA5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477" b="0" i="0" u="none" strike="noStrike" cap="none">
                  <a:solidFill>
                    <a:srgbClr val="003DA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 spec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2"/>
              <p:cNvSpPr/>
              <p:nvPr/>
            </p:nvSpPr>
            <p:spPr>
              <a:xfrm>
                <a:off x="6112974" y="2959198"/>
                <a:ext cx="503700" cy="358500"/>
              </a:xfrm>
              <a:prstGeom prst="roundRect">
                <a:avLst>
                  <a:gd name="adj" fmla="val 16667"/>
                </a:avLst>
              </a:prstGeom>
              <a:solidFill>
                <a:srgbClr val="97BEFF"/>
              </a:solidFill>
              <a:ln w="39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1" i="0" u="none" strike="noStrike" cap="none">
                    <a:solidFill>
                      <a:srgbClr val="8A0000"/>
                    </a:solidFill>
                    <a:latin typeface="Arial"/>
                    <a:ea typeface="Arial"/>
                    <a:cs typeface="Arial"/>
                    <a:sym typeface="Arial"/>
                  </a:rPr>
                  <a:t>ACL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77"/>
                  <a:buFont typeface="Arial"/>
                  <a:buNone/>
                </a:pPr>
                <a:r>
                  <a:rPr lang="en" sz="477" b="0" i="0" u="none" strike="noStrike" cap="none">
                    <a:solidFill>
                      <a:srgbClr val="222222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 spec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2"/>
              <p:cNvSpPr/>
              <p:nvPr/>
            </p:nvSpPr>
            <p:spPr>
              <a:xfrm>
                <a:off x="2751922" y="1849556"/>
                <a:ext cx="848400" cy="485700"/>
              </a:xfrm>
              <a:prstGeom prst="roundRect">
                <a:avLst>
                  <a:gd name="adj" fmla="val 16667"/>
                </a:avLst>
              </a:prstGeom>
              <a:solidFill>
                <a:srgbClr val="47E7CA"/>
              </a:soli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8"/>
                  <a:buFont typeface="Arial"/>
                  <a:buNone/>
                </a:pPr>
                <a:r>
                  <a:rPr lang="en" sz="658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IP interface configuration</a:t>
                </a:r>
                <a:endParaRPr sz="658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2"/>
              <p:cNvSpPr/>
              <p:nvPr/>
            </p:nvSpPr>
            <p:spPr>
              <a:xfrm>
                <a:off x="4121590" y="1849556"/>
                <a:ext cx="848400" cy="485700"/>
              </a:xfrm>
              <a:prstGeom prst="roundRect">
                <a:avLst>
                  <a:gd name="adj" fmla="val 16667"/>
                </a:avLst>
              </a:prstGeom>
              <a:solidFill>
                <a:srgbClr val="47E7CA"/>
              </a:soli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8"/>
                  <a:buFont typeface="Arial"/>
                  <a:buNone/>
                </a:pPr>
                <a:r>
                  <a:rPr lang="en" sz="658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100G Uplink activation</a:t>
                </a:r>
                <a:endParaRPr sz="658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2"/>
              <p:cNvSpPr/>
              <p:nvPr/>
            </p:nvSpPr>
            <p:spPr>
              <a:xfrm>
                <a:off x="5491260" y="1849556"/>
                <a:ext cx="848400" cy="4857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47E7CA"/>
                  </a:gs>
                  <a:gs pos="100000">
                    <a:srgbClr val="47E7CA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8"/>
                  <a:buFont typeface="Arial"/>
                  <a:buNone/>
                </a:pPr>
                <a:r>
                  <a:rPr lang="en" sz="658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L3VPN</a:t>
                </a:r>
                <a:endParaRPr sz="658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2"/>
              <p:cNvSpPr/>
              <p:nvPr/>
            </p:nvSpPr>
            <p:spPr>
              <a:xfrm>
                <a:off x="7091821" y="1745881"/>
                <a:ext cx="1213800" cy="1744200"/>
              </a:xfrm>
              <a:prstGeom prst="roundRect">
                <a:avLst>
                  <a:gd name="adj" fmla="val 16667"/>
                </a:avLst>
              </a:prstGeom>
              <a:noFill/>
              <a:ln w="23500" cap="flat" cmpd="sng">
                <a:solidFill>
                  <a:srgbClr val="47E7C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2"/>
                  <a:buFont typeface="Arial"/>
                  <a:buNone/>
                </a:pPr>
                <a:endParaRPr sz="4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2"/>
              <p:cNvSpPr txBox="1"/>
              <p:nvPr/>
            </p:nvSpPr>
            <p:spPr>
              <a:xfrm>
                <a:off x="7596857" y="2861826"/>
                <a:ext cx="679200" cy="37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8175" tIns="14075" rIns="28175" bIns="140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87"/>
                  <a:buFont typeface="Arial"/>
                  <a:buNone/>
                </a:pPr>
                <a:r>
                  <a:rPr lang="en" sz="987" b="1" i="0" u="none" strike="noStrike" cap="none">
                    <a:solidFill>
                      <a:srgbClr val="97BEFF"/>
                    </a:solidFill>
                    <a:latin typeface="Arial"/>
                    <a:ea typeface="Arial"/>
                    <a:cs typeface="Arial"/>
                    <a:sym typeface="Arial"/>
                  </a:rPr>
                  <a:t>ROM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87"/>
                  <a:buFont typeface="Arial"/>
                  <a:buNone/>
                </a:pPr>
                <a:r>
                  <a:rPr lang="en" sz="987" b="0" i="0" u="none" strike="noStrike" cap="none">
                    <a:solidFill>
                      <a:srgbClr val="97BEFF"/>
                    </a:solidFill>
                    <a:latin typeface="Arial"/>
                    <a:ea typeface="Arial"/>
                    <a:cs typeface="Arial"/>
                    <a:sym typeface="Arial"/>
                  </a:rPr>
                  <a:t>catalog</a:t>
                </a:r>
                <a:endParaRPr sz="987" b="0" i="0" u="none" strike="noStrike" cap="none">
                  <a:solidFill>
                    <a:srgbClr val="97BE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2" name="Google Shape;262;p3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209960" y="2012198"/>
                <a:ext cx="434254" cy="2047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3" name="Google Shape;263;p3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226840" y="2989225"/>
                <a:ext cx="434254" cy="2047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4" name="Google Shape;264;p32"/>
              <p:cNvSpPr txBox="1"/>
              <p:nvPr/>
            </p:nvSpPr>
            <p:spPr>
              <a:xfrm rot="-5400000">
                <a:off x="1372173" y="4322869"/>
                <a:ext cx="1016400" cy="37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00" tIns="37575" rIns="75200" bIns="375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2"/>
                  <a:buFont typeface="Arial"/>
                  <a:buNone/>
                </a:pPr>
                <a:r>
                  <a:rPr lang="en" sz="82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Configuration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2"/>
                  <a:buFont typeface="Arial"/>
                  <a:buNone/>
                </a:pPr>
                <a:r>
                  <a:rPr lang="en" sz="82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Templates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2"/>
              <p:cNvSpPr/>
              <p:nvPr/>
            </p:nvSpPr>
            <p:spPr>
              <a:xfrm rot="-5400000">
                <a:off x="1341363" y="1960543"/>
                <a:ext cx="1016400" cy="2193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2"/>
                  <a:buFont typeface="Arial"/>
                  <a:buNone/>
                </a:pPr>
                <a:r>
                  <a:rPr lang="en" sz="82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Use case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2"/>
              <p:cNvSpPr/>
              <p:nvPr/>
            </p:nvSpPr>
            <p:spPr>
              <a:xfrm rot="-5400000">
                <a:off x="1341363" y="3023331"/>
                <a:ext cx="1016400" cy="2193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2"/>
                  <a:buFont typeface="Arial"/>
                  <a:buNone/>
                </a:pPr>
                <a:r>
                  <a:rPr lang="en" sz="822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Resources</a:t>
                </a:r>
                <a:endParaRPr sz="822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67" name="Google Shape;267;p32"/>
              <p:cNvGrpSpPr/>
              <p:nvPr/>
            </p:nvGrpSpPr>
            <p:grpSpPr>
              <a:xfrm>
                <a:off x="5515068" y="3804835"/>
                <a:ext cx="1633310" cy="1599307"/>
                <a:chOff x="7516531" y="4124291"/>
                <a:chExt cx="2683717" cy="2249060"/>
              </a:xfrm>
            </p:grpSpPr>
            <p:pic>
              <p:nvPicPr>
                <p:cNvPr id="268" name="Google Shape;268;p32" descr="A stack of colorful building blocks&#10;&#10;Description automatically generated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682808" y="4124291"/>
                  <a:ext cx="1224000" cy="17071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9" name="Google Shape;269;p32"/>
                <p:cNvSpPr txBox="1"/>
                <p:nvPr/>
              </p:nvSpPr>
              <p:spPr>
                <a:xfrm>
                  <a:off x="8189096" y="6124651"/>
                  <a:ext cx="1426200" cy="24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8175" tIns="14075" rIns="28175" bIns="140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2"/>
                    <a:buFont typeface="Arial"/>
                    <a:buNone/>
                  </a:pPr>
                  <a:r>
                    <a:rPr lang="en" sz="822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L3VPN Leg</a:t>
                  </a:r>
                  <a:endParaRPr sz="1151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32"/>
                <p:cNvSpPr txBox="1"/>
                <p:nvPr/>
              </p:nvSpPr>
              <p:spPr>
                <a:xfrm>
                  <a:off x="8706548" y="4772031"/>
                  <a:ext cx="1493700" cy="22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8175" tIns="14075" rIns="28175" bIns="1407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40"/>
                    <a:buFont typeface="Arial"/>
                    <a:buNone/>
                  </a:pPr>
                  <a:r>
                    <a:rPr lang="en" sz="74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subInterface</a:t>
                  </a:r>
                  <a:endParaRPr sz="74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32"/>
                <p:cNvSpPr txBox="1"/>
                <p:nvPr/>
              </p:nvSpPr>
              <p:spPr>
                <a:xfrm>
                  <a:off x="8290784" y="5653823"/>
                  <a:ext cx="1137000" cy="22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8175" tIns="14075" rIns="28175" bIns="1407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40"/>
                    <a:buFont typeface="Arial"/>
                    <a:buNone/>
                  </a:pPr>
                  <a:r>
                    <a:rPr lang="en" sz="740" b="1" i="0" u="none" strike="noStrike" cap="none">
                      <a:solidFill>
                        <a:srgbClr val="B992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qosPolicy</a:t>
                  </a:r>
                  <a:endParaRPr sz="740" b="1" i="0" u="none" strike="noStrike" cap="none">
                    <a:solidFill>
                      <a:srgbClr val="B992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32"/>
                <p:cNvSpPr txBox="1"/>
                <p:nvPr/>
              </p:nvSpPr>
              <p:spPr>
                <a:xfrm>
                  <a:off x="8743823" y="5369352"/>
                  <a:ext cx="1266000" cy="22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8175" tIns="14075" rIns="28175" bIns="1407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40"/>
                    <a:buFont typeface="Arial"/>
                    <a:buNone/>
                  </a:pPr>
                  <a:r>
                    <a:rPr lang="en" sz="740" b="1" i="0" u="none" strike="noStrike" cap="none">
                      <a:solidFill>
                        <a:srgbClr val="8A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accessList</a:t>
                  </a:r>
                  <a:endParaRPr sz="740" b="1" i="0" u="none" strike="noStrike" cap="none">
                    <a:solidFill>
                      <a:srgbClr val="8A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32"/>
                <p:cNvSpPr txBox="1"/>
                <p:nvPr/>
              </p:nvSpPr>
              <p:spPr>
                <a:xfrm>
                  <a:off x="9050804" y="4173835"/>
                  <a:ext cx="448500" cy="22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8175" tIns="14075" rIns="28175" bIns="140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40"/>
                    <a:buFont typeface="Arial"/>
                    <a:buNone/>
                  </a:pPr>
                  <a:r>
                    <a:rPr lang="en" sz="740" b="1" i="0" u="none" strike="noStrike" cap="none">
                      <a:solidFill>
                        <a:srgbClr val="B94B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vrf</a:t>
                  </a:r>
                  <a:endParaRPr sz="740" b="1" i="0" u="none" strike="noStrike" cap="none">
                    <a:solidFill>
                      <a:srgbClr val="B94B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32"/>
                <p:cNvSpPr txBox="1"/>
                <p:nvPr/>
              </p:nvSpPr>
              <p:spPr>
                <a:xfrm>
                  <a:off x="7516531" y="4158207"/>
                  <a:ext cx="465300" cy="22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8175" tIns="14075" rIns="28175" bIns="1407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40"/>
                    <a:buFont typeface="Arial"/>
                    <a:buNone/>
                  </a:pPr>
                  <a:r>
                    <a:rPr lang="en" sz="740" b="1" i="0" u="none" strike="noStrike" cap="none">
                      <a:solidFill>
                        <a:srgbClr val="0076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bgp</a:t>
                  </a:r>
                  <a:endParaRPr sz="740" b="1" i="0" u="none" strike="noStrike" cap="none">
                    <a:solidFill>
                      <a:srgbClr val="0076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5" name="Google Shape;275;p32"/>
              <p:cNvSpPr/>
              <p:nvPr/>
            </p:nvSpPr>
            <p:spPr>
              <a:xfrm>
                <a:off x="7112475" y="3673201"/>
                <a:ext cx="1213800" cy="1484400"/>
              </a:xfrm>
              <a:prstGeom prst="roundRect">
                <a:avLst>
                  <a:gd name="adj" fmla="val 16667"/>
                </a:avLst>
              </a:prstGeom>
              <a:noFill/>
              <a:ln w="23500" cap="flat" cmpd="sng">
                <a:solidFill>
                  <a:srgbClr val="06A9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200" tIns="37575" rIns="75200" bIns="37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2"/>
                  <a:buFont typeface="Arial"/>
                  <a:buNone/>
                </a:pPr>
                <a:endParaRPr sz="432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6" name="Google Shape;276;p3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486680" y="4178426"/>
                <a:ext cx="439492" cy="184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32"/>
              <p:cNvSpPr txBox="1"/>
              <p:nvPr/>
            </p:nvSpPr>
            <p:spPr>
              <a:xfrm>
                <a:off x="7430781" y="4430394"/>
                <a:ext cx="589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00" tIns="37575" rIns="75200" bIns="375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63"/>
                  <a:buFont typeface="Arial"/>
                  <a:buNone/>
                </a:pPr>
                <a:r>
                  <a:rPr lang="en" sz="863" b="1" i="0" u="none" strike="noStrike" cap="none">
                    <a:solidFill>
                      <a:srgbClr val="97BEFF"/>
                    </a:solidFill>
                    <a:latin typeface="Arial"/>
                    <a:ea typeface="Arial"/>
                    <a:cs typeface="Arial"/>
                    <a:sym typeface="Arial"/>
                  </a:rPr>
                  <a:t>Config</a:t>
                </a:r>
                <a:endParaRPr sz="115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1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" sz="2780"/>
              <a:t>AI-assisted, expertise-driven</a:t>
            </a:r>
            <a:br>
              <a:rPr lang="en" sz="2780"/>
            </a:br>
            <a:r>
              <a:rPr lang="en" sz="2780"/>
              <a:t>catalog modeling</a:t>
            </a:r>
            <a:endParaRPr sz="278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Conversational modeling</a:t>
            </a:r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The network engineer describes the desired catalog in natural language</a:t>
            </a:r>
            <a:endParaRPr sz="1990"/>
          </a:p>
        </p:txBody>
      </p:sp>
      <p:pic>
        <p:nvPicPr>
          <p:cNvPr id="289" name="Google Shape;2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152470"/>
            <a:ext cx="3999901" cy="496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Conversational modeling</a:t>
            </a:r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The tool explores the schema elements and surfaces those the catalog should be built around</a:t>
            </a:r>
            <a:endParaRPr sz="1950"/>
          </a:p>
        </p:txBody>
      </p:sp>
      <p:pic>
        <p:nvPicPr>
          <p:cNvPr id="296" name="Google Shape;2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5" y="1152463"/>
            <a:ext cx="3999900" cy="122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Conversational modeling</a:t>
            </a:r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The network engineer refines the catalog through conversation</a:t>
            </a:r>
            <a:endParaRPr sz="1990"/>
          </a:p>
        </p:txBody>
      </p:sp>
      <p:pic>
        <p:nvPicPr>
          <p:cNvPr id="303" name="Google Shape;30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5" y="1152470"/>
            <a:ext cx="3999900" cy="363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3">
            <a:alphaModFix/>
          </a:blip>
          <a:srcRect b="26036"/>
          <a:stretch/>
        </p:blipFill>
        <p:spPr>
          <a:xfrm>
            <a:off x="4832400" y="1152475"/>
            <a:ext cx="3999899" cy="331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Conversational modeling</a:t>
            </a:r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The end catalog supports</a:t>
            </a:r>
            <a:endParaRPr sz="1990"/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network discovery</a:t>
            </a:r>
            <a:endParaRPr sz="1990"/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provisioning</a:t>
            </a:r>
            <a:endParaRPr sz="1990"/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config management workflows</a:t>
            </a:r>
            <a:endParaRPr sz="199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4800"/>
              <a:t>The bottleneck was always human.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Faster SME onboarding</a:t>
            </a:r>
            <a:endParaRPr/>
          </a:p>
        </p:txBody>
      </p:sp>
      <p:sp>
        <p:nvSpPr>
          <p:cNvPr id="321" name="Google Shape;321;p39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05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50"/>
              <a:buChar char="-"/>
            </a:pPr>
            <a:r>
              <a:rPr lang="en" sz="2550"/>
              <a:t>TMF concepts and best practices embedded in the process</a:t>
            </a:r>
            <a:endParaRPr sz="2550"/>
          </a:p>
          <a:p>
            <a:pPr marL="457200" lvl="0" indent="-3905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50"/>
              <a:buChar char="-"/>
            </a:pPr>
            <a:r>
              <a:rPr lang="en" sz="2550"/>
              <a:t>Experts contribute meaningfully from day one</a:t>
            </a:r>
            <a:endParaRPr sz="25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Reduced catalog refinements</a:t>
            </a:r>
            <a:endParaRPr/>
          </a:p>
        </p:txBody>
      </p:sp>
      <p:sp>
        <p:nvSpPr>
          <p:cNvPr id="327" name="Google Shape;327;p40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0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90"/>
              <a:buChar char="-"/>
            </a:pPr>
            <a:r>
              <a:rPr lang="en" sz="2590"/>
              <a:t>Less back and forth between the network engineer and the development team</a:t>
            </a:r>
            <a:endParaRPr sz="2590"/>
          </a:p>
          <a:p>
            <a:pPr marL="457200" lvl="0" indent="-3930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90"/>
              <a:buChar char="-"/>
            </a:pPr>
            <a:r>
              <a:rPr lang="en" sz="2590"/>
              <a:t>The catalog holds up under implementation pressure </a:t>
            </a:r>
            <a:endParaRPr sz="259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9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59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152464"/>
            <a:ext cx="3999900" cy="218283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Modeling beyond the primary vendor</a:t>
            </a:r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The LLM translates concepts and suggests relevant modeling elements across vendors </a:t>
            </a:r>
            <a:endParaRPr sz="199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Automated network discovery</a:t>
            </a:r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Discovery workflow emerges naturally from the catalog</a:t>
            </a:r>
            <a:endParaRPr sz="1990"/>
          </a:p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0"/>
              <a:buChar char="-"/>
            </a:pPr>
            <a:r>
              <a:rPr lang="en" sz="1990"/>
              <a:t>Config extraction via NETCONF, CLI scraping, or config dumps becomes trivial</a:t>
            </a:r>
            <a:endParaRPr sz="1990"/>
          </a:p>
        </p:txBody>
      </p:sp>
      <p:pic>
        <p:nvPicPr>
          <p:cNvPr id="341" name="Google Shape;3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9" y="1152478"/>
            <a:ext cx="3999898" cy="171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Instead of automating </a:t>
            </a:r>
            <a:br>
              <a:rPr lang="en" sz="2800"/>
            </a:br>
            <a:r>
              <a:rPr lang="en" sz="2800"/>
              <a:t>an entire business process end to end…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…automate the scaffolding around your domain experts.</a:t>
            </a:r>
            <a:endParaRPr sz="2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4800" dirty="0"/>
              <a:t>The bottleneck was always human.</a:t>
            </a:r>
            <a:br>
              <a:rPr lang="en" sz="4800" dirty="0"/>
            </a:br>
            <a:r>
              <a:rPr lang="en" sz="4800" b="1" dirty="0"/>
              <a:t>So is the solution.</a:t>
            </a:r>
            <a:r>
              <a:rPr lang="en" sz="4800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>
            <a:spLocks noGrp="1"/>
          </p:cNvSpPr>
          <p:nvPr>
            <p:ph type="title"/>
          </p:nvPr>
        </p:nvSpPr>
        <p:spPr>
          <a:xfrm>
            <a:off x="311700" y="39240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F AC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On-screen Show (16:9)</PresentationFormat>
  <Paragraphs>159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Space Mono</vt:lpstr>
      <vt:lpstr>Arial</vt:lpstr>
      <vt:lpstr>NAF AC0</vt:lpstr>
      <vt:lpstr>The Bottleneck Was Always Human </vt:lpstr>
      <vt:lpstr>Codaxy</vt:lpstr>
      <vt:lpstr>Everything starts with the catalog.  </vt:lpstr>
      <vt:lpstr>Everything starts with the catalog. But the catalog is not the network. </vt:lpstr>
      <vt:lpstr>Network abstraction</vt:lpstr>
      <vt:lpstr>Network abstraction</vt:lpstr>
      <vt:lpstr>Network abstraction</vt:lpstr>
      <vt:lpstr>Network abstraction</vt:lpstr>
      <vt:lpstr>Network abstraction</vt:lpstr>
      <vt:lpstr>PowerPoint Presentation</vt:lpstr>
      <vt:lpstr>Why not just automate it? </vt:lpstr>
      <vt:lpstr>Because no agent has spent years in the field.</vt:lpstr>
      <vt:lpstr>What we actually did</vt:lpstr>
      <vt:lpstr>What we actually did</vt:lpstr>
      <vt:lpstr>What we actually did</vt:lpstr>
      <vt:lpstr>Lego concept</vt:lpstr>
      <vt:lpstr>Lego concept</vt:lpstr>
      <vt:lpstr>AI-assisted, expertise-driven catalog modeling</vt:lpstr>
      <vt:lpstr>Conversational modeling</vt:lpstr>
      <vt:lpstr>Conversational modeling</vt:lpstr>
      <vt:lpstr>Conversational modeling</vt:lpstr>
      <vt:lpstr>Conversational modeling</vt:lpstr>
      <vt:lpstr>The bottleneck was always human.</vt:lpstr>
      <vt:lpstr>Faster SME onboarding</vt:lpstr>
      <vt:lpstr>Reduced catalog refinements</vt:lpstr>
      <vt:lpstr>Modeling beyond the primary vendor</vt:lpstr>
      <vt:lpstr>Automated network discovery</vt:lpstr>
      <vt:lpstr>Instead of automating  an entire business process end to end…</vt:lpstr>
      <vt:lpstr>…automate the scaffolding around your domain experts.</vt:lpstr>
      <vt:lpstr>The bottleneck was always human. So is the solution.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Irena Dragičević</cp:lastModifiedBy>
  <cp:revision>1</cp:revision>
  <dcterms:modified xsi:type="dcterms:W3CDTF">2026-05-29T13:06:03Z</dcterms:modified>
</cp:coreProperties>
</file>